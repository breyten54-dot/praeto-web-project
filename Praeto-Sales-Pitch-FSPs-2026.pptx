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silence. Let R487,000 sit on screen for five seconds. Then say: 'That number belongs to one of your colleagues. Don't let it be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FSCA's own published enforcement statistics. Every one of these failure categories is directly addressed by a Praeto Compliance Club membership. Do not rush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on the AI Advisor feature — this resonates with tech-curious advisors. Stress that it is pre-trained on South African regulatory law, not a generic chatbot.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Foundation — make the R2,500 number land against the R487,000 fine. Then walk up the tiers. The 30-seat cap on Elite is real — enforce it. Scarcity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EMEPF (eThekwini Municipal Employees Pension Fund) is a warm lead — Berkeley has already engaged with the board on container investment due diligence. Use this as the reference fund when pitching other municipal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legal risk. The LTIA criminal offence point is not an exaggeration. Then position Praeto as the lowest-friction path to compliance — you bring the FSP registration know-how AND the underwriter relationships they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approximately 800 assistance-only FSPs in South Africa. Most are using generic compliance programmes designed for Category I life risk FSPs. The specific assistance business gap is the differentiator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slide breathe. The zero-sanctions stat is the most powerful number on this slide. Follow with: 'My licence is on the line every day. I built this club so yours doesn't have to be.'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close. Do not add words. The mathematics speak. Pause after showing this slide, then ask: 'Which column would you like to be in?'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them a business card with the QR code to www.praeto.co.za. The Elite KI seats fill on urgency — mention how many are left at the time of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R487,000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the average FSCA fine in 2026.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monthly Praeto Compliance Club membership costs R2,500.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82296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PRAETO COMPLIANCE CLUB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Africa's only FSP compliance membership operated by an active Key Individual.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 Eldred Pretorius  ·  RE1 · RE5 · Reg. Assessor · Reg. Moderator · SDF · NCRDC  ·  FSP 1457  ·  38 Years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www.praeto.co.za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FSCA Sanctioned 47 FSPs in the First Half of 2026 Alone.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898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9F8F5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FSPs sanctioned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Jan–Jun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2888" y="13898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624328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 Act AML/CFT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13898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9F8F5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37176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R22.9M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837176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58584" y="1389888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50024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R487K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050024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FSP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88036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FSPs FAIL — 2026 FSCA ENFORCEMENT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18211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 Act AML/CFT Programme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3246120"/>
            <a:ext cx="3341218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8778" y="3218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538728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 / FNA Documentation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602736"/>
            <a:ext cx="1113739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451299" y="35753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8953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CPD Shortfalls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959352"/>
            <a:ext cx="477317" cy="20116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3814877" y="39319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25196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PPR Replacement Disclosure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4315968"/>
            <a:ext cx="265176" cy="20116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3602736" y="42885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" y="460857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FAIS Breaches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4672584"/>
            <a:ext cx="106070" cy="20116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2" name="Text 30"/>
          <p:cNvSpPr/>
          <p:nvPr/>
        </p:nvSpPr>
        <p:spPr>
          <a:xfrm>
            <a:off x="3443630" y="464515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Compliance Gap — Closed. Monthly. Automatically.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4813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02336" y="186537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FSCA Alert Service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2128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FSCA gazette, board notice, and enforcement action delivered within 24 hours. Elite members get WhatsApp alerts for high-severity matters.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38988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4813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74136" y="186537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Done-For-You Templates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22128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PPR-compliant ROA, FNA, AML/CFT programme, compliance manual, KI supervision log — updated after every regulatory change. Not generic. FSP-specific.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36208" y="138988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48132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45936" y="186537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CPD Training Library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27648" y="221284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FSCA-recognised modules covering RE1, RE5, FIC Act, PPR, microinsurance, and practice management. Your 30-hour annual CPD obligation — automated.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2608" y="317296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" y="32644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2336" y="364845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Compliance Advisor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3995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 compliance question, 24/7. Trained on South African FSP law — FAIS, FIC Act, PPR, microinsurance. Like having a KI in your pocket.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4408" y="317296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32644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74136" y="364845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 Captive Access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55848" y="3995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Guardrisk and Centriq cell captive funeral scheme participation through Praeto's existing insurer relationships. No cold negotiations.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36208" y="3172968"/>
            <a:ext cx="278892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36208" y="32644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◉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45936" y="364845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KI Circle (30 seats)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27648" y="399592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personal compliance audit by Berkeley. 1:1 KI mentoring. FSCA representation support. Limited to 30 members — by application only.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OPTIONS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Tiers. One Platform. Cancel Any Month.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298448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EFF4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" y="169164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R2,500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" y="246888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· billed monthly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715768"/>
            <a:ext cx="2468880" cy="0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7889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CPD training library (20+ modules)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319125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FSCA regulatory alerts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59359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ROA, FNA &amp; PPR disclosure templates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" y="399592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KI Supervision log templates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3192" y="439826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Compliance Advisor access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" y="4800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Monthly Praeto Compliance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93192" y="520293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CPD tracking &amp; automatic certificates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298448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F0FDF4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37160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169164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Practitioner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10128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R5,000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10128" y="246888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· billed monthly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715768"/>
            <a:ext cx="2468880" cy="0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7889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Foundation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319125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Done-for-you ROA/FNA review (2/month)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359359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FIC Act AML/CFT programme template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64992" y="399592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compliance manual template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439826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Cell captive funeral scheme access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64992" y="4800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Monthly live compliance webinar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64992" y="520293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Group assistance scheme documentation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1298448"/>
            <a:ext cx="2834640" cy="3657600"/>
          </a:xfrm>
          <a:prstGeom prst="roundRect">
            <a:avLst>
              <a:gd name="adj" fmla="val 2581"/>
            </a:avLst>
          </a:prstGeom>
          <a:solidFill>
            <a:srgbClr val="FFFBEB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1371600"/>
            <a:ext cx="2560320" cy="274320"/>
          </a:xfrm>
          <a:prstGeom prst="roundRect">
            <a:avLst>
              <a:gd name="adj" fmla="val 13333"/>
            </a:avLst>
          </a:prstGeom>
          <a:solidFill>
            <a:srgbClr val="92400E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SEATS ONLY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81928" y="169164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Elite KI Circle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81928" y="20116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R15,000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281928" y="246888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· billed monthly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55080" y="2715768"/>
            <a:ext cx="2468880" cy="0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278892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Practitioner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36792" y="319125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Quarterly personal compliance audit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36792" y="3593592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1:1 KI mentoring with Berkeley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36792" y="3995928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FSCA representation support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36792" y="4398264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Elite KI Mastermind Circle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36792" y="480060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Complimentary Compliance Summit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36792" y="5202936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WhatsApp sanction alerts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281928" y="482803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seats remaining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PENSION FUND TRUSTEES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Trustee Training Is Mandatory. Most Boards Are Under-Equipped.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4206240" cy="3493008"/>
          </a:xfrm>
          <a:prstGeom prst="roundRect">
            <a:avLst>
              <a:gd name="adj" fmla="val 2094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PRAETO TRUSTEE ACADEMY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Instruments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Equities, bonds, alternatives, money market, listed property — Regulation 28 compliant allocation frameworks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Fiduciary Duty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679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 Act s.7A, King IV, FSCA Conduct Standard 1/2022 — what trustees are legally required to know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Assets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273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investments, private equity, infrastructure — due diligence frameworks for unlisted assets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&amp; Responsible Investment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8679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PRI, CRISA principles, climate risk integration — reporting and disclosure obligations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Trustee Competency Review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44622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assessment and CPD certificate — documents your board's compliance with training mandates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389888"/>
            <a:ext cx="413308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5087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— PER FUND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1810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Trustee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0116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R8,500/year · Full online CPD access + certificate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1945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Board (up to 8)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3957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R45,000/year · All modules, assessment, annual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786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Pension Fund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27797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R65,000/year · On-site session + digital access pack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3090672"/>
            <a:ext cx="4133088" cy="1792224"/>
          </a:xfrm>
          <a:prstGeom prst="roundRect">
            <a:avLst>
              <a:gd name="adj" fmla="val 4082"/>
            </a:avLst>
          </a:prstGeom>
          <a:solidFill>
            <a:srgbClr val="FFFBEB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1821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ACT NOW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45643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FSCA is actively reviewing trustee training compliance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8039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Non-compliant boards face section 26 PF Act directives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41513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Section 7A — every trustee must be trained within 12 months of appointment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449884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EMEPF relationship: Praeto already engaged with eThekwini board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FUNERAL PARLOURS &amp; BURIAL SOCIETIES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Funeral Scheme Compliance is Now Law. Are You Registered?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4813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The Microinsurance Act requires formal FSCA registration for all funeral policy providers.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Operating an unregistered funeral scheme in 2026 is a criminal offence under LTIA s.9.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FSCA inspection teams are active in KZN, Gauteng, and Eastern Cape in Q3 2026.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45152" y="1389888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4813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PRAETO FUNERAL COMPLIANCE PACKAGE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8032" y="1737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FSP registration pathway guidance and application support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28032" y="2057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Funeral scheme product schedule design (Guardrisk/Centriq)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28032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NQF 4 Funeral Parlour Operations — staff qualifications (TETA 06-157)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28032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FSCA-compliant client disclosure and policy documentation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2944368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A6B5A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" y="3035808"/>
            <a:ext cx="2569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" y="3328416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R1,500/mo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2468880" cy="0"/>
          </a:xfrm>
          <a:prstGeom prst="line">
            <a:avLst/>
          </a:prstGeom>
          <a:noFill/>
          <a:ln w="889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74904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FSCA alerts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413308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templates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" y="451713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4 enrolment support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901184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document library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36976" y="2944368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46704" y="3035808"/>
            <a:ext cx="2569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Practitioner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46704" y="3328416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R3,500/mo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3401568" y="3657600"/>
            <a:ext cx="2468880" cy="0"/>
          </a:xfrm>
          <a:prstGeom prst="line">
            <a:avLst/>
          </a:prstGeom>
          <a:noFill/>
          <a:ln w="889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374904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+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46704" y="413308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 product design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46704" y="451713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Guardrisk/Centriq access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46704" y="4901184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FSP appointment docs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2944368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4A3C7A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91072" y="3035808"/>
            <a:ext cx="2569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Compliance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91072" y="3328416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R7,500/mo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345936" y="3657600"/>
            <a:ext cx="2468880" cy="0"/>
          </a:xfrm>
          <a:prstGeom prst="line">
            <a:avLst/>
          </a:prstGeom>
          <a:noFill/>
          <a:ln w="889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3749040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+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91072" y="4133088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compliance audit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91072" y="4517136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FSCA representation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91072" y="4901184"/>
            <a:ext cx="2569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Tiespro NQF 4 materials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ASSISTANCE BUSINESS FSPS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Assistance Policies Are Not Conventional Life Products. Your Compliance Shouldn't Be Generic.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9844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business FSPs</a:t>
            </a:r>
            <a:pPr algn="just"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render financial services in respect of assistance policies under the Long-term Insurance Act — a distinct product class with specific commission caps, benefit limits, waiting period rules, and ROA obligations that generic compliance programmes do not address.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2608" y="19202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Assistance Policy ROA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23113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FAIS-compliant ROA templates specific to assistance products — cooling-off rights, benefit limits, exclusion clauses, and waiting period disclosure. Not adapted from life risk templates.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27448" y="192024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Compliance (10% Cap)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223113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LTIA s.44 caps assistance business commission at 10% of premium. Praeto's ROA templates automatically flag commission disclosure obligations and cap compliance.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2889504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9768" y="2944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FSCA Sub-class Authorisation Review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20040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assistance FSPs hold incorrect FAIS sub-class authorisations. Berkeley's KI review identifies and corrects classification gaps before they become enforcement matters.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27448" y="2889504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29443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Assistance Scheme Structuring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320040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Employer-sponsored group assistance scheme documentation — member schedules, premium collection frameworks, and employer participation agreements.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85876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Captive Access (Guardrisk/Centriq)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" y="416966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FSPs can access cell captive participation through Praeto's existing insurer relationships. No direct underwriter negotiation required.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27448" y="3858768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FFBEB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39136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Assistance Business Pricing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416966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R2,000/mo  ·  Practitioner R4,000/mo  ·  Elite KI R10,000/mo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tiers include assistance-specific ROA templates and LTIA compliance library.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TRUST PRAETO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Compliance Partner Has the Same Licence You Do — And 38 Years Using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2926080" cy="3493008"/>
          </a:xfrm>
          <a:prstGeom prst="roundRect">
            <a:avLst>
              <a:gd name="adj" fmla="val 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389888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2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92608" y="34290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Berkeley Eldred Pretorius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" y="376732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 · Praeto Group Holdings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40416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4041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RE1 (Key Individual)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42702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4270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11480" y="44988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4498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Assessor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74520" y="40416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40416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Moderator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74520" y="42702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1874520" y="42702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SDF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874520" y="4498848"/>
            <a:ext cx="1417320" cy="201168"/>
          </a:xfrm>
          <a:prstGeom prst="roundRect">
            <a:avLst>
              <a:gd name="adj" fmla="val 13636"/>
            </a:avLst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44988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NCRDC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29000" y="1389888"/>
            <a:ext cx="5422392" cy="786384"/>
          </a:xfrm>
          <a:prstGeom prst="roundRect">
            <a:avLst>
              <a:gd name="adj" fmla="val 9302"/>
            </a:avLst>
          </a:prstGeom>
          <a:solidFill>
            <a:srgbClr val="F9F8F5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47872" y="1426464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17720" y="1481328"/>
            <a:ext cx="0" cy="603504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44475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active FSP practice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1664208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trainer who reads regulations. A KI who has operated under every FSCA iteration since inception.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29000" y="2286000"/>
            <a:ext cx="54223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47872" y="2322576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1457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617720" y="2377440"/>
            <a:ext cx="0" cy="603504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340864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FSCA Category I licence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2560320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Berkeley's own FSP depends on the same compliance standards he teaches. If it works for FSP 1457, it works for you.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29000" y="3182112"/>
            <a:ext cx="5422392" cy="786384"/>
          </a:xfrm>
          <a:prstGeom prst="roundRect">
            <a:avLst>
              <a:gd name="adj" fmla="val 9302"/>
            </a:avLst>
          </a:prstGeom>
          <a:solidFill>
            <a:srgbClr val="F9F8F5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47872" y="3218688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06-157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617720" y="3273552"/>
            <a:ext cx="0" cy="603504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323697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Accredited training institution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3456432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Tiespro Training Institute issues FSCA-recognised CPD certificates. Your CPD hours are officially documented.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29000" y="4078224"/>
            <a:ext cx="542239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6350">
            <a:solidFill>
              <a:srgbClr val="E5E0D5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547872" y="4114800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617720" y="4169664"/>
            <a:ext cx="0" cy="603504"/>
          </a:xfrm>
          <a:prstGeom prst="line">
            <a:avLst/>
          </a:prstGeom>
          <a:noFill/>
          <a:ln w="10160">
            <a:solidFill>
              <a:srgbClr val="D5D0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413308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FSCA sanctions ever received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36592" y="4352544"/>
            <a:ext cx="4005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years of active practice. Zero enforcement actions. That is the track record behind your membership.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Simplest Risk Calculation in Financial Services.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1389888"/>
            <a:ext cx="4114800" cy="3493008"/>
          </a:xfrm>
          <a:prstGeom prst="roundRect">
            <a:avLst>
              <a:gd name="adj" fmla="val 2618"/>
            </a:avLst>
          </a:prstGeom>
          <a:solidFill>
            <a:srgbClr val="991B1B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PRAETO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R487,000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FSCA fine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3566160" cy="0"/>
          </a:xfrm>
          <a:prstGeom prst="line">
            <a:avLst/>
          </a:prstGeom>
          <a:noFill/>
          <a:ln w="10160">
            <a:solidFill>
              <a:srgbClr val="FF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10896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Minimum 3-month FSCA investigation process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3493008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Public enforcement notice on FSCA website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3877056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Reputational damage with insurers and clients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4261104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Possible suspension of FSP licence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46451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Personal liability as Key Individual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60520" y="2377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36592" y="1389888"/>
            <a:ext cx="4114800" cy="3493008"/>
          </a:xfrm>
          <a:prstGeom prst="roundRect">
            <a:avLst>
              <a:gd name="adj" fmla="val 2618"/>
            </a:avLst>
          </a:prstGeom>
          <a:solidFill>
            <a:srgbClr val="166534"/>
          </a:solidFill>
          <a:ln/>
          <a:effectLst>
            <a:outerShdw sx="100000" sy="100000" kx="0" ky="0" algn="bl" rotWithShape="0" blurRad="889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01184" y="1508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PRAETO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01184" y="18745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R2,500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901184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999232"/>
            <a:ext cx="3566160" cy="0"/>
          </a:xfrm>
          <a:prstGeom prst="line">
            <a:avLst/>
          </a:prstGeom>
          <a:noFill/>
          <a:ln w="10160">
            <a:solidFill>
              <a:srgbClr val="AAFF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089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Updated templates after every FSCA change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19472" y="34930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regulatory alerts within 24 hours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19472" y="38770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30-hour CPD obligation handled automatically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42611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Compliance Advisor available 24/7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46451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F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Active KI with 38 years backing your practice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FSCA fine = 16 years of a Foundation membership.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JOIN?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Easy Steps.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827532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0" cy="914400"/>
          </a:xfrm>
          <a:prstGeom prst="roundRect">
            <a:avLst>
              <a:gd name="adj" fmla="val 7500"/>
            </a:avLst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5727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84708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(R2,500) · Practitioner (R5,000) · Elite KI (R15,000)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tiers include 30-day notice cancellation — no lock-in.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827532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87752"/>
            <a:ext cx="731520" cy="914400"/>
          </a:xfrm>
          <a:prstGeom prst="roundRect">
            <a:avLst>
              <a:gd name="adj" fmla="val 7500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877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26517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at www.praeto.co.za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926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2-minute application form. FSP number required.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within 2 business hours. Onboarding same day.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8275320" cy="914400"/>
          </a:xfrm>
          <a:prstGeom prst="roundRect">
            <a:avLst>
              <a:gd name="adj" fmla="val 6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666744"/>
            <a:ext cx="731520" cy="914400"/>
          </a:xfrm>
          <a:prstGeom prst="roundRect">
            <a:avLst>
              <a:gd name="adj" fmla="val 7500"/>
            </a:avLst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66744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Everything Immediately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00507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to your member portal. Download templates. Start your first CPD module.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FSCA alert arrives within 24 hours.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8275320" cy="320040"/>
          </a:xfrm>
          <a:prstGeom prst="roundRect">
            <a:avLst>
              <a:gd name="adj" fmla="val 11429"/>
            </a:avLst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8275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www.praeto.co.za  ·  FSP 1457  ·  Berkeley Pretorius  ·  +27 (0) Durban KZN  ·  Berkeley@praeto.co.za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Praeto Compliance Club — Sales Pitch for FSPs</dc:title>
  <dc:subject>PptxGenJS Presentation</dc:subject>
  <dc:creator>Berkeley Pretorius — Praeto Group Holdings</dc:creator>
  <cp:lastModifiedBy>Berkeley Pretorius — Praeto Group Holdings</cp:lastModifiedBy>
  <cp:revision>1</cp:revision>
  <dcterms:created xsi:type="dcterms:W3CDTF">2026-06-20T10:05:41Z</dcterms:created>
  <dcterms:modified xsi:type="dcterms:W3CDTF">2026-06-20T10:05:41Z</dcterms:modified>
</cp:coreProperties>
</file>