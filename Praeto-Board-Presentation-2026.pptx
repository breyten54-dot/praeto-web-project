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charts/chart1.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stacked"/>
        <c:varyColors val="0"/>
        <c:ser>
          <c:idx val="0"/>
          <c:order val="0"/>
          <c:tx>
            <c:strRef>
              <c:f>Sheet1!$B$1</c:f>
              <c:strCache>
                <c:ptCount val="1"/>
                <c:pt idx="0">
                  <c:v>Category I FSPs</c:v>
                </c:pt>
              </c:strCache>
            </c:strRef>
          </c:tx>
          <c:spPr>
            <a:solidFill>
              <a:srgbClr val="1F3864"/>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Sheet1!$A$2:$A$9</c:f>
              <c:multiLvlStrCache>
                <c:ptCount val="8"/>
                <c:lvl>
                  <c:pt idx="0">
                    <c:v>M3</c:v>
                  </c:pt>
                  <c:pt idx="1">
                    <c:v>M6</c:v>
                  </c:pt>
                  <c:pt idx="2">
                    <c:v>M9</c:v>
                  </c:pt>
                  <c:pt idx="3">
                    <c:v>M12</c:v>
                  </c:pt>
                  <c:pt idx="4">
                    <c:v>M18</c:v>
                  </c:pt>
                  <c:pt idx="5">
                    <c:v>M24</c:v>
                  </c:pt>
                  <c:pt idx="6">
                    <c:v>M30</c:v>
                  </c:pt>
                  <c:pt idx="7">
                    <c:v>M36</c:v>
                  </c:pt>
                </c:lvl>
              </c:multiLvlStrCache>
            </c:multiLvlStrRef>
          </c:cat>
          <c:val>
            <c:numRef>
              <c:f>Sheet1!$B$2:$B$9</c:f>
              <c:numCache>
                <c:formatCode>General</c:formatCode>
                <c:ptCount val="8"/>
                <c:pt idx="0">
                  <c:v>217</c:v>
                </c:pt>
                <c:pt idx="1">
                  <c:v>500</c:v>
                </c:pt>
                <c:pt idx="2">
                  <c:v>900</c:v>
                </c:pt>
                <c:pt idx="3">
                  <c:v>1325</c:v>
                </c:pt>
                <c:pt idx="4">
                  <c:v>1600</c:v>
                </c:pt>
                <c:pt idx="5">
                  <c:v>1850</c:v>
                </c:pt>
                <c:pt idx="6">
                  <c:v>2100</c:v>
                </c:pt>
                <c:pt idx="7">
                  <c:v>2400</c:v>
                </c:pt>
              </c:numCache>
            </c:numRef>
          </c:val>
        </c:ser>
        <c:ser>
          <c:idx val="1"/>
          <c:order val="1"/>
          <c:tx>
            <c:strRef>
              <c:f>Sheet1!$C$1</c:f>
              <c:strCache>
                <c:ptCount val="1"/>
                <c:pt idx="0">
                  <c:v>Pension Fund Trustees</c:v>
                </c:pt>
              </c:strCache>
            </c:strRef>
          </c:tx>
          <c:spPr>
            <a:solidFill>
              <a:srgbClr val="1E4D8C"/>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Sheet1!$A$2:$A$9</c:f>
              <c:multiLvlStrCache>
                <c:ptCount val="8"/>
                <c:lvl>
                  <c:pt idx="0">
                    <c:v>M3</c:v>
                  </c:pt>
                  <c:pt idx="1">
                    <c:v>M6</c:v>
                  </c:pt>
                  <c:pt idx="2">
                    <c:v>M9</c:v>
                  </c:pt>
                  <c:pt idx="3">
                    <c:v>M12</c:v>
                  </c:pt>
                  <c:pt idx="4">
                    <c:v>M18</c:v>
                  </c:pt>
                  <c:pt idx="5">
                    <c:v>M24</c:v>
                  </c:pt>
                  <c:pt idx="6">
                    <c:v>M30</c:v>
                  </c:pt>
                  <c:pt idx="7">
                    <c:v>M36</c:v>
                  </c:pt>
                </c:lvl>
              </c:multiLvlStrCache>
            </c:multiLvlStrRef>
          </c:cat>
          <c:val>
            <c:numRef>
              <c:f>Sheet1!$C$2:$C$9</c:f>
              <c:numCache>
                <c:formatCode>General</c:formatCode>
                <c:ptCount val="8"/>
                <c:pt idx="0">
                  <c:v>0</c:v>
                </c:pt>
                <c:pt idx="1">
                  <c:v>37</c:v>
                </c:pt>
                <c:pt idx="2">
                  <c:v>75</c:v>
                </c:pt>
                <c:pt idx="3">
                  <c:v>150</c:v>
                </c:pt>
                <c:pt idx="4">
                  <c:v>225</c:v>
                </c:pt>
                <c:pt idx="5">
                  <c:v>300</c:v>
                </c:pt>
                <c:pt idx="6">
                  <c:v>375</c:v>
                </c:pt>
                <c:pt idx="7">
                  <c:v>450</c:v>
                </c:pt>
              </c:numCache>
            </c:numRef>
          </c:val>
        </c:ser>
        <c:ser>
          <c:idx val="2"/>
          <c:order val="2"/>
          <c:tx>
            <c:strRef>
              <c:f>Sheet1!$D$1</c:f>
              <c:strCache>
                <c:ptCount val="1"/>
                <c:pt idx="0">
                  <c:v>Funeral Parlours</c:v>
                </c:pt>
              </c:strCache>
            </c:strRef>
          </c:tx>
          <c:spPr>
            <a:solidFill>
              <a:srgbClr val="2E7D52"/>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Sheet1!$A$2:$A$9</c:f>
              <c:multiLvlStrCache>
                <c:ptCount val="8"/>
                <c:lvl>
                  <c:pt idx="0">
                    <c:v>M3</c:v>
                  </c:pt>
                  <c:pt idx="1">
                    <c:v>M6</c:v>
                  </c:pt>
                  <c:pt idx="2">
                    <c:v>M9</c:v>
                  </c:pt>
                  <c:pt idx="3">
                    <c:v>M12</c:v>
                  </c:pt>
                  <c:pt idx="4">
                    <c:v>M18</c:v>
                  </c:pt>
                  <c:pt idx="5">
                    <c:v>M24</c:v>
                  </c:pt>
                  <c:pt idx="6">
                    <c:v>M30</c:v>
                  </c:pt>
                  <c:pt idx="7">
                    <c:v>M36</c:v>
                  </c:pt>
                </c:lvl>
              </c:multiLvlStrCache>
            </c:multiLvlStrRef>
          </c:cat>
          <c:val>
            <c:numRef>
              <c:f>Sheet1!$D$2:$D$9</c:f>
              <c:numCache>
                <c:formatCode>General</c:formatCode>
                <c:ptCount val="8"/>
                <c:pt idx="0">
                  <c:v>0</c:v>
                </c:pt>
                <c:pt idx="1">
                  <c:v>45</c:v>
                </c:pt>
                <c:pt idx="2">
                  <c:v>120</c:v>
                </c:pt>
                <c:pt idx="3">
                  <c:v>225</c:v>
                </c:pt>
                <c:pt idx="4">
                  <c:v>300</c:v>
                </c:pt>
                <c:pt idx="5">
                  <c:v>375</c:v>
                </c:pt>
                <c:pt idx="6">
                  <c:v>400</c:v>
                </c:pt>
                <c:pt idx="7">
                  <c:v>420</c:v>
                </c:pt>
              </c:numCache>
            </c:numRef>
          </c:val>
        </c:ser>
        <c:ser>
          <c:idx val="3"/>
          <c:order val="3"/>
          <c:tx>
            <c:strRef>
              <c:f>Sheet1!$E$1</c:f>
              <c:strCache>
                <c:ptCount val="1"/>
                <c:pt idx="0">
                  <c:v>Assistance FSPs</c:v>
                </c:pt>
              </c:strCache>
            </c:strRef>
          </c:tx>
          <c:spPr>
            <a:solidFill>
              <a:srgbClr val="B45309"/>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Sheet1!$A$2:$A$9</c:f>
              <c:multiLvlStrCache>
                <c:ptCount val="8"/>
                <c:lvl>
                  <c:pt idx="0">
                    <c:v>M3</c:v>
                  </c:pt>
                  <c:pt idx="1">
                    <c:v>M6</c:v>
                  </c:pt>
                  <c:pt idx="2">
                    <c:v>M9</c:v>
                  </c:pt>
                  <c:pt idx="3">
                    <c:v>M12</c:v>
                  </c:pt>
                  <c:pt idx="4">
                    <c:v>M18</c:v>
                  </c:pt>
                  <c:pt idx="5">
                    <c:v>M24</c:v>
                  </c:pt>
                  <c:pt idx="6">
                    <c:v>M30</c:v>
                  </c:pt>
                  <c:pt idx="7">
                    <c:v>M36</c:v>
                  </c:pt>
                </c:lvl>
              </c:multiLvlStrCache>
            </c:multiLvlStrRef>
          </c:cat>
          <c:val>
            <c:numRef>
              <c:f>Sheet1!$E$2:$E$9</c:f>
              <c:numCache>
                <c:formatCode>General</c:formatCode>
                <c:ptCount val="8"/>
                <c:pt idx="0">
                  <c:v>0</c:v>
                </c:pt>
                <c:pt idx="1">
                  <c:v>20</c:v>
                </c:pt>
                <c:pt idx="2">
                  <c:v>60</c:v>
                </c:pt>
                <c:pt idx="3">
                  <c:v>120</c:v>
                </c:pt>
                <c:pt idx="4">
                  <c:v>160</c:v>
                </c:pt>
                <c:pt idx="5">
                  <c:v>200</c:v>
                </c:pt>
                <c:pt idx="6">
                  <c:v>230</c:v>
                </c:pt>
                <c:pt idx="7">
                  <c:v>250</c:v>
                </c:pt>
              </c:numCache>
            </c:numRef>
          </c:val>
        </c:ser>
        <c:ser>
          <c:idx val="4"/>
          <c:order val="4"/>
          <c:tx>
            <c:strRef>
              <c:f>Sheet1!$F$1</c:f>
              <c:strCache>
                <c:ptCount val="1"/>
                <c:pt idx="0">
                  <c:v>Summits</c:v>
                </c:pt>
              </c:strCache>
            </c:strRef>
          </c:tx>
          <c:spPr>
            <a:solidFill>
              <a:srgbClr val="6D28D9"/>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Sheet1!$A$2:$A$9</c:f>
              <c:multiLvlStrCache>
                <c:ptCount val="8"/>
                <c:lvl>
                  <c:pt idx="0">
                    <c:v>M3</c:v>
                  </c:pt>
                  <c:pt idx="1">
                    <c:v>M6</c:v>
                  </c:pt>
                  <c:pt idx="2">
                    <c:v>M9</c:v>
                  </c:pt>
                  <c:pt idx="3">
                    <c:v>M12</c:v>
                  </c:pt>
                  <c:pt idx="4">
                    <c:v>M18</c:v>
                  </c:pt>
                  <c:pt idx="5">
                    <c:v>M24</c:v>
                  </c:pt>
                  <c:pt idx="6">
                    <c:v>M30</c:v>
                  </c:pt>
                  <c:pt idx="7">
                    <c:v>M36</c:v>
                  </c:pt>
                </c:lvl>
              </c:multiLvlStrCache>
            </c:multiLvlStrRef>
          </c:cat>
          <c:val>
            <c:numRef>
              <c:f>Sheet1!$F$2:$F$9</c:f>
              <c:numCache>
                <c:formatCode>General</c:formatCode>
                <c:ptCount val="8"/>
                <c:pt idx="0">
                  <c:v>0</c:v>
                </c:pt>
                <c:pt idx="1">
                  <c:v>0</c:v>
                </c:pt>
                <c:pt idx="2">
                  <c:v>83</c:v>
                </c:pt>
                <c:pt idx="3">
                  <c:v>167</c:v>
                </c:pt>
                <c:pt idx="4">
                  <c:v>167</c:v>
                </c:pt>
                <c:pt idx="5">
                  <c:v>208</c:v>
                </c:pt>
                <c:pt idx="6">
                  <c:v>250</c:v>
                </c:pt>
                <c:pt idx="7">
                  <c:v>250</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50"/>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6B7280"/>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2E8F0"/>
              </a:solidFill>
              <a:prstDash val="solid"/>
              <a:round/>
            </a:ln>
          </c:spPr>
        </c:majorGridlines>
        <c:title>
          <c:tx>
            <c:rich>
              <a:bodyPr/>
              <a:lstStyle/>
              <a:p>
                <a:pPr>
                  <a:defRPr b="0" i="0" u="none" strike="noStrike">
                    <a:solidFill>
                      <a:srgbClr val="000000"/>
                    </a:solidFill>
                    <a:latin typeface="Arial"/>
                  </a:defRPr>
                </a:pPr>
                <a:r>
                  <a:rPr b="0" i="0" u="none" strike="noStrike">
                    <a:solidFill>
                      <a:srgbClr val="000000"/>
                    </a:solidFill>
                    <a:latin typeface="Arial"/>
                  </a:rPr>
                  <a:t>MRR (R'000)</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6B7280"/>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900">      </a:defRPr>
          </a:pPr>
          <a:endParaRPr lang="en-US"/>
        </a:p>
      </c:txPr>
    </c:legend>
    <c:plotVisOnly val="1"/>
    <c:dispBlanksAs val="span"/>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the board. This presentation covers the full expanded Praeto Compliance Club model including five target market segments, the financial structure for each, and the consolidated path to R18.5M+ annual revenue.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resolution is on page 2 of the board pack. Four KPIs set the context. The board is asked to approve three things: platform launch, member acquisition, and reinvestment authority.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segment has its own pricing tier, regulatory driver, and compliance need. The platform serves all five from a single technology base — reducing marginal cost for each new segment added.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EMEPF relationship already exists via Berkeley's container investment due diligence work. This is the warm lead. Expand from EMEPF to all KZN municipal funds using the FSCA sanction narrative as the opener.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Tiespro already holds the NQF 4 Funeral Parlour Operations qualification. This segment is a direct revenue extension of existing accreditation — no new qualification design needed.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Approximately 800 FSPs hold assistance-only FAIS authorisations. Most use generic compliance programmes that do not address their specific Long-term Insurance Act obligations. This is a gap Praeto can fill with minimal additional content development.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expanded five-segment model delivers R25.4M at full deployment — well above the USD $1M target. Year 1 focus is Category I FSPs (existing market knowledge) plus Pension Funds (EMEPF warm lead).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stacked bar shows how each new segment layer adds MRR without cannibalising existing members. The key inflection point is Month 12 where the consolidated model crosses the USD $1M equivalent threshold.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60/20/15/5 split is a management allocation — not a formal intercompany loan structure. Revenue is received in Trading CC and allocated to group entities via management fees and service agreements. Augustine Mulenga to confirm optimal tax treatment.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Berkeley commits 3 hours per day to income-producing activities — content creation, direct outreach, and member service — above and beyond normal Praeto Group operations. This is non-negotiable and the board should hold the CEO accountable to the daily rhythm.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risk register should be reviewed quarterly by the board. The pension fund procurement risk is the most operationally complex — legal advice from Nagesh Maharaj recommended before signing any fund training agreement.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 each resolution individually. Allow discussion after each. The pension fund trustee resolution (4) is time-sensitive given the EMEPF relationship already established.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F3864"/>
        </a:solidFill>
      </p:bgPr>
    </p:bg>
    <p:spTree>
      <p:nvGrpSpPr>
        <p:cNvPr id="1" name=""/>
        <p:cNvGrpSpPr/>
        <p:nvPr/>
      </p:nvGrpSpPr>
      <p:grpSpPr>
        <a:xfrm>
          <a:off x="0" y="0"/>
          <a:ext cx="0" cy="0"/>
          <a:chOff x="0" y="0"/>
          <a:chExt cx="0" cy="0"/>
        </a:xfrm>
      </p:grpSpPr>
      <p:sp>
        <p:nvSpPr>
          <p:cNvPr id="2" name="Shape 0"/>
          <p:cNvSpPr/>
          <p:nvPr/>
        </p:nvSpPr>
        <p:spPr>
          <a:xfrm>
            <a:off x="411480" y="411480"/>
            <a:ext cx="731520" cy="731520"/>
          </a:xfrm>
          <a:prstGeom prst="rect">
            <a:avLst/>
          </a:prstGeom>
          <a:solidFill>
            <a:srgbClr val="C9A84C"/>
          </a:solidFill>
          <a:ln/>
        </p:spPr>
      </p:sp>
      <p:sp>
        <p:nvSpPr>
          <p:cNvPr id="3" name="Text 1"/>
          <p:cNvSpPr/>
          <p:nvPr/>
        </p:nvSpPr>
        <p:spPr>
          <a:xfrm>
            <a:off x="411480" y="411480"/>
            <a:ext cx="731520" cy="731520"/>
          </a:xfrm>
          <a:prstGeom prst="rect">
            <a:avLst/>
          </a:prstGeom>
          <a:noFill/>
          <a:ln/>
        </p:spPr>
        <p:txBody>
          <a:bodyPr wrap="square" rtlCol="0" anchor="ctr"/>
          <a:lstStyle/>
          <a:p>
            <a:pPr algn="ctr" indent="0" marL="0">
              <a:buNone/>
            </a:pPr>
            <a:r>
              <a:rPr lang="en-US" sz="3200" b="1" dirty="0">
                <a:solidFill>
                  <a:srgbClr val="1F3864"/>
                </a:solidFill>
                <a:latin typeface="Cambria" pitchFamily="34" charset="0"/>
                <a:ea typeface="Cambria" pitchFamily="34" charset="-122"/>
                <a:cs typeface="Cambria" pitchFamily="34" charset="-120"/>
              </a:rPr>
              <a:t>P</a:t>
            </a:r>
            <a:endParaRPr lang="en-US" sz="3200" dirty="0"/>
          </a:p>
        </p:txBody>
      </p:sp>
      <p:sp>
        <p:nvSpPr>
          <p:cNvPr id="4" name="Text 2"/>
          <p:cNvSpPr/>
          <p:nvPr/>
        </p:nvSpPr>
        <p:spPr>
          <a:xfrm>
            <a:off x="1325880" y="475488"/>
            <a:ext cx="7315200" cy="256032"/>
          </a:xfrm>
          <a:prstGeom prst="rect">
            <a:avLst/>
          </a:prstGeom>
          <a:noFill/>
          <a:ln/>
        </p:spPr>
        <p:txBody>
          <a:bodyPr wrap="square" rtlCol="0" anchor="ctr"/>
          <a:lstStyle/>
          <a:p>
            <a:pPr indent="0" marL="0">
              <a:buNone/>
            </a:pPr>
            <a:r>
              <a:rPr lang="en-US" sz="1000" b="1" spc="500" kern="0" dirty="0">
                <a:solidFill>
                  <a:srgbClr val="C9A84C"/>
                </a:solidFill>
                <a:latin typeface="Arial" pitchFamily="34" charset="0"/>
                <a:ea typeface="Arial" pitchFamily="34" charset="-122"/>
                <a:cs typeface="Arial" pitchFamily="34" charset="-120"/>
              </a:rPr>
              <a:t>BOARD PRESENTATION</a:t>
            </a:r>
            <a:endParaRPr lang="en-US" sz="1000" dirty="0"/>
          </a:p>
        </p:txBody>
      </p:sp>
      <p:sp>
        <p:nvSpPr>
          <p:cNvPr id="5" name="Text 3"/>
          <p:cNvSpPr/>
          <p:nvPr/>
        </p:nvSpPr>
        <p:spPr>
          <a:xfrm>
            <a:off x="411480" y="1417320"/>
            <a:ext cx="8321040" cy="1005840"/>
          </a:xfrm>
          <a:prstGeom prst="rect">
            <a:avLst/>
          </a:prstGeom>
          <a:noFill/>
          <a:ln/>
        </p:spPr>
        <p:txBody>
          <a:bodyPr wrap="square" rtlCol="0" anchor="ctr"/>
          <a:lstStyle/>
          <a:p>
            <a:pPr indent="0" marL="0">
              <a:buNone/>
            </a:pPr>
            <a:r>
              <a:rPr lang="en-US" sz="5200" b="1" dirty="0">
                <a:solidFill>
                  <a:srgbClr val="FFFFFF"/>
                </a:solidFill>
                <a:latin typeface="Cambria" pitchFamily="34" charset="0"/>
                <a:ea typeface="Cambria" pitchFamily="34" charset="-122"/>
                <a:cs typeface="Cambria" pitchFamily="34" charset="-120"/>
              </a:rPr>
              <a:t>Praeto Compliance Club</a:t>
            </a:r>
            <a:endParaRPr lang="en-US" sz="5200" dirty="0"/>
          </a:p>
        </p:txBody>
      </p:sp>
      <p:sp>
        <p:nvSpPr>
          <p:cNvPr id="6" name="Text 4"/>
          <p:cNvSpPr/>
          <p:nvPr/>
        </p:nvSpPr>
        <p:spPr>
          <a:xfrm>
            <a:off x="411480" y="2514600"/>
            <a:ext cx="8321040" cy="457200"/>
          </a:xfrm>
          <a:prstGeom prst="rect">
            <a:avLst/>
          </a:prstGeom>
          <a:noFill/>
          <a:ln/>
        </p:spPr>
        <p:txBody>
          <a:bodyPr wrap="square" rtlCol="0" anchor="ctr"/>
          <a:lstStyle/>
          <a:p>
            <a:pPr indent="0" marL="0">
              <a:buNone/>
            </a:pPr>
            <a:r>
              <a:rPr lang="en-US" sz="2000" i="1" dirty="0">
                <a:solidFill>
                  <a:srgbClr val="C9A84C"/>
                </a:solidFill>
                <a:latin typeface="Arial" pitchFamily="34" charset="0"/>
                <a:ea typeface="Arial" pitchFamily="34" charset="-122"/>
                <a:cs typeface="Arial" pitchFamily="34" charset="-120"/>
              </a:rPr>
              <a:t>Expanded Business Model — Five Market Segments</a:t>
            </a:r>
            <a:endParaRPr lang="en-US" sz="2000" dirty="0"/>
          </a:p>
        </p:txBody>
      </p:sp>
      <p:sp>
        <p:nvSpPr>
          <p:cNvPr id="7" name="Shape 5"/>
          <p:cNvSpPr/>
          <p:nvPr/>
        </p:nvSpPr>
        <p:spPr>
          <a:xfrm>
            <a:off x="411480" y="3063240"/>
            <a:ext cx="8321040" cy="0"/>
          </a:xfrm>
          <a:prstGeom prst="line">
            <a:avLst/>
          </a:prstGeom>
          <a:noFill/>
          <a:ln w="25400">
            <a:solidFill>
              <a:srgbClr val="C9A84C"/>
            </a:solidFill>
            <a:prstDash val="solid"/>
          </a:ln>
        </p:spPr>
      </p:sp>
      <p:sp>
        <p:nvSpPr>
          <p:cNvPr id="8" name="Text 6"/>
          <p:cNvSpPr/>
          <p:nvPr/>
        </p:nvSpPr>
        <p:spPr>
          <a:xfrm>
            <a:off x="411480" y="3246120"/>
            <a:ext cx="1828800" cy="310896"/>
          </a:xfrm>
          <a:prstGeom prst="rect">
            <a:avLst/>
          </a:prstGeom>
          <a:noFill/>
          <a:ln/>
        </p:spPr>
        <p:txBody>
          <a:bodyPr wrap="square" rtlCol="0" anchor="ctr"/>
          <a:lstStyle/>
          <a:p>
            <a:pPr indent="0" marL="0">
              <a:buNone/>
            </a:pPr>
            <a:r>
              <a:rPr lang="en-US" sz="900" b="1" dirty="0">
                <a:solidFill>
                  <a:srgbClr val="C9A84C"/>
                </a:solidFill>
                <a:latin typeface="Arial" pitchFamily="34" charset="0"/>
                <a:ea typeface="Arial" pitchFamily="34" charset="-122"/>
                <a:cs typeface="Arial" pitchFamily="34" charset="-120"/>
              </a:rPr>
              <a:t>Presented by</a:t>
            </a:r>
            <a:endParaRPr lang="en-US" sz="900" dirty="0"/>
          </a:p>
        </p:txBody>
      </p:sp>
      <p:sp>
        <p:nvSpPr>
          <p:cNvPr id="9" name="Text 7"/>
          <p:cNvSpPr/>
          <p:nvPr/>
        </p:nvSpPr>
        <p:spPr>
          <a:xfrm>
            <a:off x="2331720" y="3246120"/>
            <a:ext cx="6400800" cy="310896"/>
          </a:xfrm>
          <a:prstGeom prst="rect">
            <a:avLst/>
          </a:prstGeom>
          <a:noFill/>
          <a:ln/>
        </p:spPr>
        <p:txBody>
          <a:bodyPr wrap="square" rtlCol="0" anchor="ctr"/>
          <a:lstStyle/>
          <a:p>
            <a:pPr indent="0" marL="0">
              <a:buNone/>
            </a:pPr>
            <a:r>
              <a:rPr lang="en-US" sz="1100" dirty="0">
                <a:solidFill>
                  <a:srgbClr val="BBBBBB"/>
                </a:solidFill>
                <a:latin typeface="Arial" pitchFamily="34" charset="0"/>
                <a:ea typeface="Arial" pitchFamily="34" charset="-122"/>
                <a:cs typeface="Arial" pitchFamily="34" charset="-120"/>
              </a:rPr>
              <a:t>Berkeley Eldred Pretorius  ·  Founder &amp; CEO</a:t>
            </a:r>
            <a:endParaRPr lang="en-US" sz="1100" dirty="0"/>
          </a:p>
        </p:txBody>
      </p:sp>
      <p:sp>
        <p:nvSpPr>
          <p:cNvPr id="10" name="Text 8"/>
          <p:cNvSpPr/>
          <p:nvPr/>
        </p:nvSpPr>
        <p:spPr>
          <a:xfrm>
            <a:off x="411480" y="3630168"/>
            <a:ext cx="1828800" cy="310896"/>
          </a:xfrm>
          <a:prstGeom prst="rect">
            <a:avLst/>
          </a:prstGeom>
          <a:noFill/>
          <a:ln/>
        </p:spPr>
        <p:txBody>
          <a:bodyPr wrap="square" rtlCol="0" anchor="ctr"/>
          <a:lstStyle/>
          <a:p>
            <a:pPr indent="0" marL="0">
              <a:buNone/>
            </a:pPr>
            <a:r>
              <a:rPr lang="en-US" sz="900" b="1" dirty="0">
                <a:solidFill>
                  <a:srgbClr val="C9A84C"/>
                </a:solidFill>
                <a:latin typeface="Arial" pitchFamily="34" charset="0"/>
                <a:ea typeface="Arial" pitchFamily="34" charset="-122"/>
                <a:cs typeface="Arial" pitchFamily="34" charset="-120"/>
              </a:rPr>
              <a:t>Credentials</a:t>
            </a:r>
            <a:endParaRPr lang="en-US" sz="900" dirty="0"/>
          </a:p>
        </p:txBody>
      </p:sp>
      <p:sp>
        <p:nvSpPr>
          <p:cNvPr id="11" name="Text 9"/>
          <p:cNvSpPr/>
          <p:nvPr/>
        </p:nvSpPr>
        <p:spPr>
          <a:xfrm>
            <a:off x="2331720" y="3630168"/>
            <a:ext cx="6400800" cy="310896"/>
          </a:xfrm>
          <a:prstGeom prst="rect">
            <a:avLst/>
          </a:prstGeom>
          <a:noFill/>
          <a:ln/>
        </p:spPr>
        <p:txBody>
          <a:bodyPr wrap="square" rtlCol="0" anchor="ctr"/>
          <a:lstStyle/>
          <a:p>
            <a:pPr indent="0" marL="0">
              <a:buNone/>
            </a:pPr>
            <a:r>
              <a:rPr lang="en-US" sz="1100" dirty="0">
                <a:solidFill>
                  <a:srgbClr val="BBBBBB"/>
                </a:solidFill>
                <a:latin typeface="Arial" pitchFamily="34" charset="0"/>
                <a:ea typeface="Arial" pitchFamily="34" charset="-122"/>
                <a:cs typeface="Arial" pitchFamily="34" charset="-120"/>
              </a:rPr>
              <a:t>RE1 (KI)  ·  RE5  ·  Reg. Assessor  ·  Reg. Moderator  ·  SDF  ·  NCRDC</a:t>
            </a:r>
            <a:endParaRPr lang="en-US" sz="1100" dirty="0"/>
          </a:p>
        </p:txBody>
      </p:sp>
      <p:sp>
        <p:nvSpPr>
          <p:cNvPr id="12" name="Text 10"/>
          <p:cNvSpPr/>
          <p:nvPr/>
        </p:nvSpPr>
        <p:spPr>
          <a:xfrm>
            <a:off x="411480" y="4014216"/>
            <a:ext cx="1828800" cy="310896"/>
          </a:xfrm>
          <a:prstGeom prst="rect">
            <a:avLst/>
          </a:prstGeom>
          <a:noFill/>
          <a:ln/>
        </p:spPr>
        <p:txBody>
          <a:bodyPr wrap="square" rtlCol="0" anchor="ctr"/>
          <a:lstStyle/>
          <a:p>
            <a:pPr indent="0" marL="0">
              <a:buNone/>
            </a:pPr>
            <a:r>
              <a:rPr lang="en-US" sz="900" b="1" dirty="0">
                <a:solidFill>
                  <a:srgbClr val="C9A84C"/>
                </a:solidFill>
                <a:latin typeface="Arial" pitchFamily="34" charset="0"/>
                <a:ea typeface="Arial" pitchFamily="34" charset="-122"/>
                <a:cs typeface="Arial" pitchFamily="34" charset="-120"/>
              </a:rPr>
              <a:t>FSP Licence</a:t>
            </a:r>
            <a:endParaRPr lang="en-US" sz="900" dirty="0"/>
          </a:p>
        </p:txBody>
      </p:sp>
      <p:sp>
        <p:nvSpPr>
          <p:cNvPr id="13" name="Text 11"/>
          <p:cNvSpPr/>
          <p:nvPr/>
        </p:nvSpPr>
        <p:spPr>
          <a:xfrm>
            <a:off x="2331720" y="4014216"/>
            <a:ext cx="6400800" cy="310896"/>
          </a:xfrm>
          <a:prstGeom prst="rect">
            <a:avLst/>
          </a:prstGeom>
          <a:noFill/>
          <a:ln/>
        </p:spPr>
        <p:txBody>
          <a:bodyPr wrap="square" rtlCol="0" anchor="ctr"/>
          <a:lstStyle/>
          <a:p>
            <a:pPr indent="0" marL="0">
              <a:buNone/>
            </a:pPr>
            <a:r>
              <a:rPr lang="en-US" sz="1100" dirty="0">
                <a:solidFill>
                  <a:srgbClr val="BBBBBB"/>
                </a:solidFill>
                <a:latin typeface="Arial" pitchFamily="34" charset="0"/>
                <a:ea typeface="Arial" pitchFamily="34" charset="-122"/>
                <a:cs typeface="Arial" pitchFamily="34" charset="-120"/>
              </a:rPr>
              <a:t>FSCA Category I  ·  FSP 1457</a:t>
            </a:r>
            <a:endParaRPr lang="en-US" sz="1100" dirty="0"/>
          </a:p>
        </p:txBody>
      </p:sp>
      <p:sp>
        <p:nvSpPr>
          <p:cNvPr id="14" name="Text 12"/>
          <p:cNvSpPr/>
          <p:nvPr/>
        </p:nvSpPr>
        <p:spPr>
          <a:xfrm>
            <a:off x="411480" y="4398264"/>
            <a:ext cx="1828800" cy="310896"/>
          </a:xfrm>
          <a:prstGeom prst="rect">
            <a:avLst/>
          </a:prstGeom>
          <a:noFill/>
          <a:ln/>
        </p:spPr>
        <p:txBody>
          <a:bodyPr wrap="square" rtlCol="0" anchor="ctr"/>
          <a:lstStyle/>
          <a:p>
            <a:pPr indent="0" marL="0">
              <a:buNone/>
            </a:pPr>
            <a:r>
              <a:rPr lang="en-US" sz="900" b="1" dirty="0">
                <a:solidFill>
                  <a:srgbClr val="C9A84C"/>
                </a:solidFill>
                <a:latin typeface="Arial" pitchFamily="34" charset="0"/>
                <a:ea typeface="Arial" pitchFamily="34" charset="-122"/>
                <a:cs typeface="Arial" pitchFamily="34" charset="-120"/>
              </a:rPr>
              <a:t>Date</a:t>
            </a:r>
            <a:endParaRPr lang="en-US" sz="900" dirty="0"/>
          </a:p>
        </p:txBody>
      </p:sp>
      <p:sp>
        <p:nvSpPr>
          <p:cNvPr id="15" name="Text 13"/>
          <p:cNvSpPr/>
          <p:nvPr/>
        </p:nvSpPr>
        <p:spPr>
          <a:xfrm>
            <a:off x="2331720" y="4398264"/>
            <a:ext cx="6400800" cy="310896"/>
          </a:xfrm>
          <a:prstGeom prst="rect">
            <a:avLst/>
          </a:prstGeom>
          <a:noFill/>
          <a:ln/>
        </p:spPr>
        <p:txBody>
          <a:bodyPr wrap="square" rtlCol="0" anchor="ctr"/>
          <a:lstStyle/>
          <a:p>
            <a:pPr indent="0" marL="0">
              <a:buNone/>
            </a:pPr>
            <a:r>
              <a:rPr lang="en-US" sz="1100" dirty="0">
                <a:solidFill>
                  <a:srgbClr val="BBBBBB"/>
                </a:solidFill>
                <a:latin typeface="Arial" pitchFamily="34" charset="0"/>
                <a:ea typeface="Arial" pitchFamily="34" charset="-122"/>
                <a:cs typeface="Arial" pitchFamily="34" charset="-120"/>
              </a:rPr>
              <a:t>June 2026  ·  www.praeto.co.za</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9F8F5"/>
        </a:solidFill>
      </p:bgPr>
    </p:bg>
    <p:spTree>
      <p:nvGrpSpPr>
        <p:cNvPr id="1" name=""/>
        <p:cNvGrpSpPr/>
        <p:nvPr/>
      </p:nvGrpSpPr>
      <p:grpSpPr>
        <a:xfrm>
          <a:off x="0" y="0"/>
          <a:ext cx="0" cy="0"/>
          <a:chOff x="0" y="0"/>
          <a:chExt cx="0" cy="0"/>
        </a:xfrm>
      </p:grpSpPr>
      <p:sp>
        <p:nvSpPr>
          <p:cNvPr id="2" name="Text 0"/>
          <p:cNvSpPr/>
          <p:nvPr/>
        </p:nvSpPr>
        <p:spPr>
          <a:xfrm>
            <a:off x="411480" y="201168"/>
            <a:ext cx="8229600" cy="201168"/>
          </a:xfrm>
          <a:prstGeom prst="rect">
            <a:avLst/>
          </a:prstGeom>
          <a:noFill/>
          <a:ln/>
        </p:spPr>
        <p:txBody>
          <a:bodyPr wrap="square" rtlCol="0" anchor="ctr"/>
          <a:lstStyle/>
          <a:p>
            <a:pPr indent="0" marL="0">
              <a:buNone/>
            </a:pPr>
            <a:r>
              <a:rPr lang="en-US" sz="900" b="1" spc="400" kern="0" dirty="0">
                <a:solidFill>
                  <a:srgbClr val="C9A84C"/>
                </a:solidFill>
                <a:latin typeface="Arial" pitchFamily="34" charset="0"/>
                <a:ea typeface="Arial" pitchFamily="34" charset="-122"/>
                <a:cs typeface="Arial" pitchFamily="34" charset="-120"/>
              </a:rPr>
              <a:t>EXECUTIVE SUMMARY</a:t>
            </a:r>
            <a:endParaRPr lang="en-US" sz="900" dirty="0"/>
          </a:p>
        </p:txBody>
      </p:sp>
      <p:sp>
        <p:nvSpPr>
          <p:cNvPr id="3" name="Text 1"/>
          <p:cNvSpPr/>
          <p:nvPr/>
        </p:nvSpPr>
        <p:spPr>
          <a:xfrm>
            <a:off x="411480" y="475488"/>
            <a:ext cx="7772400" cy="640080"/>
          </a:xfrm>
          <a:prstGeom prst="rect">
            <a:avLst/>
          </a:prstGeom>
          <a:noFill/>
          <a:ln/>
        </p:spPr>
        <p:txBody>
          <a:bodyPr wrap="square" rtlCol="0" anchor="ctr"/>
          <a:lstStyle/>
          <a:p>
            <a:pPr indent="0" marL="0">
              <a:buNone/>
            </a:pPr>
            <a:r>
              <a:rPr lang="en-US" sz="2800" b="1" dirty="0">
                <a:solidFill>
                  <a:srgbClr val="1F3864"/>
                </a:solidFill>
                <a:latin typeface="Cambria" pitchFamily="34" charset="0"/>
                <a:ea typeface="Cambria" pitchFamily="34" charset="-122"/>
                <a:cs typeface="Cambria" pitchFamily="34" charset="-120"/>
              </a:rPr>
              <a:t>The Opportunity in a Single Page</a:t>
            </a:r>
            <a:endParaRPr lang="en-US" sz="2800" dirty="0"/>
          </a:p>
        </p:txBody>
      </p:sp>
      <p:sp>
        <p:nvSpPr>
          <p:cNvPr id="4" name="Shape 2"/>
          <p:cNvSpPr/>
          <p:nvPr/>
        </p:nvSpPr>
        <p:spPr>
          <a:xfrm>
            <a:off x="411480" y="1207008"/>
            <a:ext cx="8321040" cy="0"/>
          </a:xfrm>
          <a:prstGeom prst="line">
            <a:avLst/>
          </a:prstGeom>
          <a:noFill/>
          <a:ln w="19050">
            <a:solidFill>
              <a:srgbClr val="C9A84C"/>
            </a:solidFill>
            <a:prstDash val="solid"/>
          </a:ln>
        </p:spPr>
      </p:sp>
      <p:sp>
        <p:nvSpPr>
          <p:cNvPr id="5" name="Shape 3"/>
          <p:cNvSpPr/>
          <p:nvPr/>
        </p:nvSpPr>
        <p:spPr>
          <a:xfrm>
            <a:off x="411480" y="1298448"/>
            <a:ext cx="1993392" cy="1234440"/>
          </a:xfrm>
          <a:prstGeom prst="roundRect">
            <a:avLst>
              <a:gd name="adj" fmla="val 5926"/>
            </a:avLst>
          </a:prstGeom>
          <a:solidFill>
            <a:srgbClr val="FFFFFF"/>
          </a:solidFill>
          <a:ln w="6350">
            <a:solidFill>
              <a:srgbClr val="E5E0D5"/>
            </a:solidFill>
            <a:prstDash val="solid"/>
          </a:ln>
          <a:effectLst>
            <a:outerShdw sx="100000" sy="100000" kx="0" ky="0" algn="bl" rotWithShape="0" blurRad="101600" dist="38100" dir="2700000">
              <a:srgbClr val="000000">
                <a:alpha val="13000"/>
              </a:srgbClr>
            </a:outerShdw>
          </a:effectLst>
        </p:spPr>
      </p:sp>
      <p:sp>
        <p:nvSpPr>
          <p:cNvPr id="6" name="Text 4"/>
          <p:cNvSpPr/>
          <p:nvPr/>
        </p:nvSpPr>
        <p:spPr>
          <a:xfrm>
            <a:off x="576072" y="1408176"/>
            <a:ext cx="1664208" cy="640080"/>
          </a:xfrm>
          <a:prstGeom prst="rect">
            <a:avLst/>
          </a:prstGeom>
          <a:noFill/>
          <a:ln/>
        </p:spPr>
        <p:txBody>
          <a:bodyPr wrap="square" rtlCol="0" anchor="ctr"/>
          <a:lstStyle/>
          <a:p>
            <a:pPr algn="ctr" indent="0" marL="0">
              <a:buNone/>
            </a:pPr>
            <a:r>
              <a:rPr lang="en-US" sz="2400" b="1" dirty="0">
                <a:solidFill>
                  <a:srgbClr val="991B1B"/>
                </a:solidFill>
                <a:latin typeface="Cambria" pitchFamily="34" charset="0"/>
                <a:ea typeface="Cambria" pitchFamily="34" charset="-122"/>
                <a:cs typeface="Cambria" pitchFamily="34" charset="-120"/>
              </a:rPr>
              <a:t>R487,000</a:t>
            </a:r>
            <a:endParaRPr lang="en-US" sz="2400" dirty="0"/>
          </a:p>
        </p:txBody>
      </p:sp>
      <p:sp>
        <p:nvSpPr>
          <p:cNvPr id="7" name="Text 5"/>
          <p:cNvSpPr/>
          <p:nvPr/>
        </p:nvSpPr>
        <p:spPr>
          <a:xfrm>
            <a:off x="502920" y="2139696"/>
            <a:ext cx="1810512" cy="256032"/>
          </a:xfrm>
          <a:prstGeom prst="rect">
            <a:avLst/>
          </a:prstGeom>
          <a:noFill/>
          <a:ln/>
        </p:spPr>
        <p:txBody>
          <a:bodyPr wrap="square" rtlCol="0" anchor="ctr"/>
          <a:lstStyle/>
          <a:p>
            <a:pPr algn="ctr" indent="0" marL="0">
              <a:buNone/>
            </a:pPr>
            <a:r>
              <a:rPr lang="en-US" sz="1000" b="1" dirty="0">
                <a:solidFill>
                  <a:srgbClr val="111827"/>
                </a:solidFill>
                <a:latin typeface="Arial" pitchFamily="34" charset="0"/>
                <a:ea typeface="Arial" pitchFamily="34" charset="-122"/>
                <a:cs typeface="Arial" pitchFamily="34" charset="-120"/>
              </a:rPr>
              <a:t>Average FSCA</a:t>
            </a:r>
            <a:endParaRPr lang="en-US" sz="1000" dirty="0"/>
          </a:p>
          <a:p>
            <a:pPr algn="ctr" indent="0" marL="0">
              <a:buNone/>
            </a:pPr>
            <a:r>
              <a:rPr lang="en-US" sz="1000" b="1" dirty="0">
                <a:solidFill>
                  <a:srgbClr val="111827"/>
                </a:solidFill>
                <a:latin typeface="Arial" pitchFamily="34" charset="0"/>
                <a:ea typeface="Arial" pitchFamily="34" charset="-122"/>
                <a:cs typeface="Arial" pitchFamily="34" charset="-120"/>
              </a:rPr>
              <a:t>fine per sanction</a:t>
            </a:r>
            <a:endParaRPr lang="en-US" sz="1000" dirty="0"/>
          </a:p>
        </p:txBody>
      </p:sp>
      <p:sp>
        <p:nvSpPr>
          <p:cNvPr id="8" name="Text 6"/>
          <p:cNvSpPr/>
          <p:nvPr/>
        </p:nvSpPr>
        <p:spPr>
          <a:xfrm>
            <a:off x="502920" y="2414016"/>
            <a:ext cx="1810512" cy="201168"/>
          </a:xfrm>
          <a:prstGeom prst="rect">
            <a:avLst/>
          </a:prstGeom>
          <a:noFill/>
          <a:ln/>
        </p:spPr>
        <p:txBody>
          <a:bodyPr wrap="square" rtlCol="0" anchor="ctr"/>
          <a:lstStyle/>
          <a:p>
            <a:pPr algn="ctr" indent="0" marL="0">
              <a:buNone/>
            </a:pPr>
            <a:r>
              <a:rPr lang="en-US" sz="800" dirty="0">
                <a:solidFill>
                  <a:srgbClr val="6B7280"/>
                </a:solidFill>
                <a:latin typeface="Arial" pitchFamily="34" charset="0"/>
                <a:ea typeface="Arial" pitchFamily="34" charset="-122"/>
                <a:cs typeface="Arial" pitchFamily="34" charset="-120"/>
              </a:rPr>
              <a:t>2026 average</a:t>
            </a:r>
            <a:endParaRPr lang="en-US" sz="800" dirty="0"/>
          </a:p>
        </p:txBody>
      </p:sp>
      <p:sp>
        <p:nvSpPr>
          <p:cNvPr id="9" name="Shape 7"/>
          <p:cNvSpPr/>
          <p:nvPr/>
        </p:nvSpPr>
        <p:spPr>
          <a:xfrm>
            <a:off x="2606040" y="1298448"/>
            <a:ext cx="1993392" cy="1234440"/>
          </a:xfrm>
          <a:prstGeom prst="roundRect">
            <a:avLst>
              <a:gd name="adj" fmla="val 5926"/>
            </a:avLst>
          </a:prstGeom>
          <a:solidFill>
            <a:srgbClr val="FFFFFF"/>
          </a:solidFill>
          <a:ln w="6350">
            <a:solidFill>
              <a:srgbClr val="E5E0D5"/>
            </a:solidFill>
            <a:prstDash val="solid"/>
          </a:ln>
          <a:effectLst>
            <a:outerShdw sx="100000" sy="100000" kx="0" ky="0" algn="bl" rotWithShape="0" blurRad="101600" dist="38100" dir="2700000">
              <a:srgbClr val="000000">
                <a:alpha val="13000"/>
              </a:srgbClr>
            </a:outerShdw>
          </a:effectLst>
        </p:spPr>
      </p:sp>
      <p:sp>
        <p:nvSpPr>
          <p:cNvPr id="10" name="Text 8"/>
          <p:cNvSpPr/>
          <p:nvPr/>
        </p:nvSpPr>
        <p:spPr>
          <a:xfrm>
            <a:off x="2770632" y="1408176"/>
            <a:ext cx="1664208" cy="640080"/>
          </a:xfrm>
          <a:prstGeom prst="rect">
            <a:avLst/>
          </a:prstGeom>
          <a:noFill/>
          <a:ln/>
        </p:spPr>
        <p:txBody>
          <a:bodyPr wrap="square" rtlCol="0" anchor="ctr"/>
          <a:lstStyle/>
          <a:p>
            <a:pPr algn="ctr" indent="0" marL="0">
              <a:buNone/>
            </a:pPr>
            <a:r>
              <a:rPr lang="en-US" sz="2400" b="1" dirty="0">
                <a:solidFill>
                  <a:srgbClr val="1F3864"/>
                </a:solidFill>
                <a:latin typeface="Cambria" pitchFamily="34" charset="0"/>
                <a:ea typeface="Cambria" pitchFamily="34" charset="-122"/>
                <a:cs typeface="Cambria" pitchFamily="34" charset="-120"/>
              </a:rPr>
              <a:t>8,400+</a:t>
            </a:r>
            <a:endParaRPr lang="en-US" sz="2400" dirty="0"/>
          </a:p>
        </p:txBody>
      </p:sp>
      <p:sp>
        <p:nvSpPr>
          <p:cNvPr id="11" name="Text 9"/>
          <p:cNvSpPr/>
          <p:nvPr/>
        </p:nvSpPr>
        <p:spPr>
          <a:xfrm>
            <a:off x="2697480" y="2139696"/>
            <a:ext cx="1810512" cy="256032"/>
          </a:xfrm>
          <a:prstGeom prst="rect">
            <a:avLst/>
          </a:prstGeom>
          <a:noFill/>
          <a:ln/>
        </p:spPr>
        <p:txBody>
          <a:bodyPr wrap="square" rtlCol="0" anchor="ctr"/>
          <a:lstStyle/>
          <a:p>
            <a:pPr algn="ctr" indent="0" marL="0">
              <a:buNone/>
            </a:pPr>
            <a:r>
              <a:rPr lang="en-US" sz="1000" b="1" dirty="0">
                <a:solidFill>
                  <a:srgbClr val="111827"/>
                </a:solidFill>
                <a:latin typeface="Arial" pitchFamily="34" charset="0"/>
                <a:ea typeface="Arial" pitchFamily="34" charset="-122"/>
                <a:cs typeface="Arial" pitchFamily="34" charset="-120"/>
              </a:rPr>
              <a:t>Active Category I</a:t>
            </a:r>
            <a:endParaRPr lang="en-US" sz="1000" dirty="0"/>
          </a:p>
          <a:p>
            <a:pPr algn="ctr" indent="0" marL="0">
              <a:buNone/>
            </a:pPr>
            <a:r>
              <a:rPr lang="en-US" sz="1000" b="1" dirty="0">
                <a:solidFill>
                  <a:srgbClr val="111827"/>
                </a:solidFill>
                <a:latin typeface="Arial" pitchFamily="34" charset="0"/>
                <a:ea typeface="Arial" pitchFamily="34" charset="-122"/>
                <a:cs typeface="Arial" pitchFamily="34" charset="-120"/>
              </a:rPr>
              <a:t>FSPs nationally</a:t>
            </a:r>
            <a:endParaRPr lang="en-US" sz="1000" dirty="0"/>
          </a:p>
        </p:txBody>
      </p:sp>
      <p:sp>
        <p:nvSpPr>
          <p:cNvPr id="12" name="Text 10"/>
          <p:cNvSpPr/>
          <p:nvPr/>
        </p:nvSpPr>
        <p:spPr>
          <a:xfrm>
            <a:off x="2697480" y="2414016"/>
            <a:ext cx="1810512" cy="201168"/>
          </a:xfrm>
          <a:prstGeom prst="rect">
            <a:avLst/>
          </a:prstGeom>
          <a:noFill/>
          <a:ln/>
        </p:spPr>
        <p:txBody>
          <a:bodyPr wrap="square" rtlCol="0" anchor="ctr"/>
          <a:lstStyle/>
          <a:p>
            <a:pPr algn="ctr" indent="0" marL="0">
              <a:buNone/>
            </a:pPr>
            <a:r>
              <a:rPr lang="en-US" sz="800" dirty="0">
                <a:solidFill>
                  <a:srgbClr val="6B7280"/>
                </a:solidFill>
                <a:latin typeface="Arial" pitchFamily="34" charset="0"/>
                <a:ea typeface="Arial" pitchFamily="34" charset="-122"/>
                <a:cs typeface="Arial" pitchFamily="34" charset="-120"/>
              </a:rPr>
              <a:t>FSCA public register</a:t>
            </a:r>
            <a:endParaRPr lang="en-US" sz="800" dirty="0"/>
          </a:p>
        </p:txBody>
      </p:sp>
      <p:sp>
        <p:nvSpPr>
          <p:cNvPr id="13" name="Shape 11"/>
          <p:cNvSpPr/>
          <p:nvPr/>
        </p:nvSpPr>
        <p:spPr>
          <a:xfrm>
            <a:off x="4800600" y="1298448"/>
            <a:ext cx="1993392" cy="1234440"/>
          </a:xfrm>
          <a:prstGeom prst="roundRect">
            <a:avLst>
              <a:gd name="adj" fmla="val 5926"/>
            </a:avLst>
          </a:prstGeom>
          <a:solidFill>
            <a:srgbClr val="FFFFFF"/>
          </a:solidFill>
          <a:ln w="6350">
            <a:solidFill>
              <a:srgbClr val="E5E0D5"/>
            </a:solidFill>
            <a:prstDash val="solid"/>
          </a:ln>
          <a:effectLst>
            <a:outerShdw sx="100000" sy="100000" kx="0" ky="0" algn="bl" rotWithShape="0" blurRad="101600" dist="38100" dir="2700000">
              <a:srgbClr val="000000">
                <a:alpha val="13000"/>
              </a:srgbClr>
            </a:outerShdw>
          </a:effectLst>
        </p:spPr>
      </p:sp>
      <p:sp>
        <p:nvSpPr>
          <p:cNvPr id="14" name="Text 12"/>
          <p:cNvSpPr/>
          <p:nvPr/>
        </p:nvSpPr>
        <p:spPr>
          <a:xfrm>
            <a:off x="4965192" y="1408176"/>
            <a:ext cx="1664208" cy="640080"/>
          </a:xfrm>
          <a:prstGeom prst="rect">
            <a:avLst/>
          </a:prstGeom>
          <a:noFill/>
          <a:ln/>
        </p:spPr>
        <p:txBody>
          <a:bodyPr wrap="square" rtlCol="0" anchor="ctr"/>
          <a:lstStyle/>
          <a:p>
            <a:pPr algn="ctr" indent="0" marL="0">
              <a:buNone/>
            </a:pPr>
            <a:r>
              <a:rPr lang="en-US" sz="2400" b="1" dirty="0">
                <a:solidFill>
                  <a:srgbClr val="1F3864"/>
                </a:solidFill>
                <a:latin typeface="Cambria" pitchFamily="34" charset="0"/>
                <a:ea typeface="Cambria" pitchFamily="34" charset="-122"/>
                <a:cs typeface="Cambria" pitchFamily="34" charset="-120"/>
              </a:rPr>
              <a:t>5 Segments</a:t>
            </a:r>
            <a:endParaRPr lang="en-US" sz="2400" dirty="0"/>
          </a:p>
        </p:txBody>
      </p:sp>
      <p:sp>
        <p:nvSpPr>
          <p:cNvPr id="15" name="Text 13"/>
          <p:cNvSpPr/>
          <p:nvPr/>
        </p:nvSpPr>
        <p:spPr>
          <a:xfrm>
            <a:off x="4892040" y="2139696"/>
            <a:ext cx="1810512" cy="256032"/>
          </a:xfrm>
          <a:prstGeom prst="rect">
            <a:avLst/>
          </a:prstGeom>
          <a:noFill/>
          <a:ln/>
        </p:spPr>
        <p:txBody>
          <a:bodyPr wrap="square" rtlCol="0" anchor="ctr"/>
          <a:lstStyle/>
          <a:p>
            <a:pPr algn="ctr" indent="0" marL="0">
              <a:buNone/>
            </a:pPr>
            <a:r>
              <a:rPr lang="en-US" sz="1000" b="1" dirty="0">
                <a:solidFill>
                  <a:srgbClr val="111827"/>
                </a:solidFill>
                <a:latin typeface="Arial" pitchFamily="34" charset="0"/>
                <a:ea typeface="Arial" pitchFamily="34" charset="-122"/>
                <a:cs typeface="Arial" pitchFamily="34" charset="-120"/>
              </a:rPr>
              <a:t>Pension · Funeral ·</a:t>
            </a:r>
            <a:endParaRPr lang="en-US" sz="1000" dirty="0"/>
          </a:p>
          <a:p>
            <a:pPr algn="ctr" indent="0" marL="0">
              <a:buNone/>
            </a:pPr>
            <a:r>
              <a:rPr lang="en-US" sz="1000" b="1" dirty="0">
                <a:solidFill>
                  <a:srgbClr val="111827"/>
                </a:solidFill>
                <a:latin typeface="Arial" pitchFamily="34" charset="0"/>
                <a:ea typeface="Arial" pitchFamily="34" charset="-122"/>
                <a:cs typeface="Arial" pitchFamily="34" charset="-120"/>
              </a:rPr>
              <a:t>FSP · Assistance · Broker</a:t>
            </a:r>
            <a:endParaRPr lang="en-US" sz="1000" dirty="0"/>
          </a:p>
        </p:txBody>
      </p:sp>
      <p:sp>
        <p:nvSpPr>
          <p:cNvPr id="16" name="Text 14"/>
          <p:cNvSpPr/>
          <p:nvPr/>
        </p:nvSpPr>
        <p:spPr>
          <a:xfrm>
            <a:off x="4892040" y="2414016"/>
            <a:ext cx="1810512" cy="201168"/>
          </a:xfrm>
          <a:prstGeom prst="rect">
            <a:avLst/>
          </a:prstGeom>
          <a:noFill/>
          <a:ln/>
        </p:spPr>
        <p:txBody>
          <a:bodyPr wrap="square" rtlCol="0" anchor="ctr"/>
          <a:lstStyle/>
          <a:p>
            <a:pPr algn="ctr" indent="0" marL="0">
              <a:buNone/>
            </a:pPr>
            <a:r>
              <a:rPr lang="en-US" sz="800" dirty="0">
                <a:solidFill>
                  <a:srgbClr val="6B7280"/>
                </a:solidFill>
                <a:latin typeface="Arial" pitchFamily="34" charset="0"/>
                <a:ea typeface="Arial" pitchFamily="34" charset="-122"/>
                <a:cs typeface="Arial" pitchFamily="34" charset="-120"/>
              </a:rPr>
              <a:t>Expanded model</a:t>
            </a:r>
            <a:endParaRPr lang="en-US" sz="800" dirty="0"/>
          </a:p>
        </p:txBody>
      </p:sp>
      <p:sp>
        <p:nvSpPr>
          <p:cNvPr id="17" name="Shape 15"/>
          <p:cNvSpPr/>
          <p:nvPr/>
        </p:nvSpPr>
        <p:spPr>
          <a:xfrm>
            <a:off x="6995160" y="1298448"/>
            <a:ext cx="1993392" cy="1234440"/>
          </a:xfrm>
          <a:prstGeom prst="roundRect">
            <a:avLst>
              <a:gd name="adj" fmla="val 5926"/>
            </a:avLst>
          </a:prstGeom>
          <a:solidFill>
            <a:srgbClr val="FFFFFF"/>
          </a:solidFill>
          <a:ln w="6350">
            <a:solidFill>
              <a:srgbClr val="E5E0D5"/>
            </a:solidFill>
            <a:prstDash val="solid"/>
          </a:ln>
          <a:effectLst>
            <a:outerShdw sx="100000" sy="100000" kx="0" ky="0" algn="bl" rotWithShape="0" blurRad="101600" dist="38100" dir="2700000">
              <a:srgbClr val="000000">
                <a:alpha val="13000"/>
              </a:srgbClr>
            </a:outerShdw>
          </a:effectLst>
        </p:spPr>
      </p:sp>
      <p:sp>
        <p:nvSpPr>
          <p:cNvPr id="18" name="Text 16"/>
          <p:cNvSpPr/>
          <p:nvPr/>
        </p:nvSpPr>
        <p:spPr>
          <a:xfrm>
            <a:off x="7159752" y="1408176"/>
            <a:ext cx="1664208" cy="640080"/>
          </a:xfrm>
          <a:prstGeom prst="rect">
            <a:avLst/>
          </a:prstGeom>
          <a:noFill/>
          <a:ln/>
        </p:spPr>
        <p:txBody>
          <a:bodyPr wrap="square" rtlCol="0" anchor="ctr"/>
          <a:lstStyle/>
          <a:p>
            <a:pPr algn="ctr" indent="0" marL="0">
              <a:buNone/>
            </a:pPr>
            <a:r>
              <a:rPr lang="en-US" sz="2400" b="1" dirty="0">
                <a:solidFill>
                  <a:srgbClr val="166534"/>
                </a:solidFill>
                <a:latin typeface="Cambria" pitchFamily="34" charset="0"/>
                <a:ea typeface="Cambria" pitchFamily="34" charset="-122"/>
                <a:cs typeface="Cambria" pitchFamily="34" charset="-120"/>
              </a:rPr>
              <a:t>R18.5M+</a:t>
            </a:r>
            <a:endParaRPr lang="en-US" sz="2400" dirty="0"/>
          </a:p>
        </p:txBody>
      </p:sp>
      <p:sp>
        <p:nvSpPr>
          <p:cNvPr id="19" name="Text 17"/>
          <p:cNvSpPr/>
          <p:nvPr/>
        </p:nvSpPr>
        <p:spPr>
          <a:xfrm>
            <a:off x="7086600" y="2139696"/>
            <a:ext cx="1810512" cy="256032"/>
          </a:xfrm>
          <a:prstGeom prst="rect">
            <a:avLst/>
          </a:prstGeom>
          <a:noFill/>
          <a:ln/>
        </p:spPr>
        <p:txBody>
          <a:bodyPr wrap="square" rtlCol="0" anchor="ctr"/>
          <a:lstStyle/>
          <a:p>
            <a:pPr algn="ctr" indent="0" marL="0">
              <a:buNone/>
            </a:pPr>
            <a:r>
              <a:rPr lang="en-US" sz="1000" b="1" dirty="0">
                <a:solidFill>
                  <a:srgbClr val="111827"/>
                </a:solidFill>
                <a:latin typeface="Arial" pitchFamily="34" charset="0"/>
                <a:ea typeface="Arial" pitchFamily="34" charset="-122"/>
                <a:cs typeface="Arial" pitchFamily="34" charset="-120"/>
              </a:rPr>
              <a:t>12-month revenue</a:t>
            </a:r>
            <a:endParaRPr lang="en-US" sz="1000" dirty="0"/>
          </a:p>
          <a:p>
            <a:pPr algn="ctr" indent="0" marL="0">
              <a:buNone/>
            </a:pPr>
            <a:r>
              <a:rPr lang="en-US" sz="1000" b="1" dirty="0">
                <a:solidFill>
                  <a:srgbClr val="111827"/>
                </a:solidFill>
                <a:latin typeface="Arial" pitchFamily="34" charset="0"/>
                <a:ea typeface="Arial" pitchFamily="34" charset="-122"/>
                <a:cs typeface="Arial" pitchFamily="34" charset="-120"/>
              </a:rPr>
              <a:t>target</a:t>
            </a:r>
            <a:endParaRPr lang="en-US" sz="1000" dirty="0"/>
          </a:p>
        </p:txBody>
      </p:sp>
      <p:sp>
        <p:nvSpPr>
          <p:cNvPr id="20" name="Text 18"/>
          <p:cNvSpPr/>
          <p:nvPr/>
        </p:nvSpPr>
        <p:spPr>
          <a:xfrm>
            <a:off x="7086600" y="2414016"/>
            <a:ext cx="1810512" cy="201168"/>
          </a:xfrm>
          <a:prstGeom prst="rect">
            <a:avLst/>
          </a:prstGeom>
          <a:noFill/>
          <a:ln/>
        </p:spPr>
        <p:txBody>
          <a:bodyPr wrap="square" rtlCol="0" anchor="ctr"/>
          <a:lstStyle/>
          <a:p>
            <a:pPr algn="ctr" indent="0" marL="0">
              <a:buNone/>
            </a:pPr>
            <a:r>
              <a:rPr lang="en-US" sz="800" dirty="0">
                <a:solidFill>
                  <a:srgbClr val="6B7280"/>
                </a:solidFill>
                <a:latin typeface="Arial" pitchFamily="34" charset="0"/>
                <a:ea typeface="Arial" pitchFamily="34" charset="-122"/>
                <a:cs typeface="Arial" pitchFamily="34" charset="-120"/>
              </a:rPr>
              <a:t>280+ subscribers</a:t>
            </a:r>
            <a:endParaRPr lang="en-US" sz="800" dirty="0"/>
          </a:p>
        </p:txBody>
      </p:sp>
      <p:sp>
        <p:nvSpPr>
          <p:cNvPr id="21" name="Text 19"/>
          <p:cNvSpPr/>
          <p:nvPr/>
        </p:nvSpPr>
        <p:spPr>
          <a:xfrm>
            <a:off x="411480" y="2834640"/>
            <a:ext cx="8321040" cy="548640"/>
          </a:xfrm>
          <a:prstGeom prst="rect">
            <a:avLst/>
          </a:prstGeom>
          <a:noFill/>
          <a:ln/>
        </p:spPr>
        <p:txBody>
          <a:bodyPr wrap="square" rtlCol="0" anchor="ctr"/>
          <a:lstStyle/>
          <a:p>
            <a:pPr algn="just" indent="0" marL="0">
              <a:buNone/>
            </a:pPr>
            <a:r>
              <a:rPr lang="en-US" sz="1300" dirty="0">
                <a:solidFill>
                  <a:srgbClr val="111827"/>
                </a:solidFill>
                <a:latin typeface="Arial" pitchFamily="34" charset="0"/>
                <a:ea typeface="Arial" pitchFamily="34" charset="-122"/>
                <a:cs typeface="Arial" pitchFamily="34" charset="-120"/>
              </a:rPr>
              <a:t>The Praeto Compliance Club monetises 38 years of active regulatory practice across five underserved South African market segments. The FSCA's 2026 enforcement surge creates </a:t>
            </a:r>
            <a:pPr algn="just" indent="0" marL="0">
              <a:buNone/>
            </a:pPr>
            <a:r>
              <a:rPr lang="en-US" sz="1300" b="1" dirty="0">
                <a:solidFill>
                  <a:srgbClr val="111827"/>
                </a:solidFill>
                <a:latin typeface="Arial" pitchFamily="34" charset="0"/>
                <a:ea typeface="Arial" pitchFamily="34" charset="-122"/>
                <a:cs typeface="Arial" pitchFamily="34" charset="-120"/>
              </a:rPr>
              <a:t>urgency without precedent.</a:t>
            </a:r>
            <a:pPr algn="just" indent="0" marL="0">
              <a:buNone/>
            </a:pPr>
            <a:r>
              <a:rPr lang="en-US" sz="1300" dirty="0">
                <a:solidFill>
                  <a:srgbClr val="111827"/>
                </a:solidFill>
                <a:latin typeface="Arial" pitchFamily="34" charset="0"/>
                <a:ea typeface="Arial" pitchFamily="34" charset="-122"/>
                <a:cs typeface="Arial" pitchFamily="34" charset="-120"/>
              </a:rPr>
              <a:t> Zero new capital. Zero new licences. Platform deployed at www.praeto.co.za.</a:t>
            </a:r>
            <a:endParaRPr lang="en-US" sz="1300" dirty="0"/>
          </a:p>
        </p:txBody>
      </p:sp>
      <p:sp>
        <p:nvSpPr>
          <p:cNvPr id="22" name="Shape 20"/>
          <p:cNvSpPr/>
          <p:nvPr/>
        </p:nvSpPr>
        <p:spPr>
          <a:xfrm>
            <a:off x="411480" y="3474720"/>
            <a:ext cx="8321040" cy="1298448"/>
          </a:xfrm>
          <a:prstGeom prst="roundRect">
            <a:avLst>
              <a:gd name="adj" fmla="val 5634"/>
            </a:avLst>
          </a:prstGeom>
          <a:solidFill>
            <a:srgbClr val="1F3864"/>
          </a:solidFill>
          <a:ln/>
        </p:spPr>
      </p:sp>
      <p:sp>
        <p:nvSpPr>
          <p:cNvPr id="23" name="Text 21"/>
          <p:cNvSpPr/>
          <p:nvPr/>
        </p:nvSpPr>
        <p:spPr>
          <a:xfrm>
            <a:off x="594360" y="3547872"/>
            <a:ext cx="8229600" cy="256032"/>
          </a:xfrm>
          <a:prstGeom prst="rect">
            <a:avLst/>
          </a:prstGeom>
          <a:noFill/>
          <a:ln/>
        </p:spPr>
        <p:txBody>
          <a:bodyPr wrap="square" rtlCol="0" anchor="ctr"/>
          <a:lstStyle/>
          <a:p>
            <a:pPr indent="0" marL="0">
              <a:buNone/>
            </a:pPr>
            <a:r>
              <a:rPr lang="en-US" sz="900" b="1" spc="400" kern="0" dirty="0">
                <a:solidFill>
                  <a:srgbClr val="C9A84C"/>
                </a:solidFill>
                <a:latin typeface="Arial" pitchFamily="34" charset="0"/>
                <a:ea typeface="Arial" pitchFamily="34" charset="-122"/>
                <a:cs typeface="Arial" pitchFamily="34" charset="-120"/>
              </a:rPr>
              <a:t>BOARD RESOLUTION SOUGHT</a:t>
            </a:r>
            <a:endParaRPr lang="en-US" sz="900" dirty="0"/>
          </a:p>
        </p:txBody>
      </p:sp>
      <p:sp>
        <p:nvSpPr>
          <p:cNvPr id="24" name="Text 22"/>
          <p:cNvSpPr/>
          <p:nvPr/>
        </p:nvSpPr>
        <p:spPr>
          <a:xfrm>
            <a:off x="594360" y="3822192"/>
            <a:ext cx="7955280" cy="841248"/>
          </a:xfrm>
          <a:prstGeom prst="rect">
            <a:avLst/>
          </a:prstGeom>
          <a:noFill/>
          <a:ln/>
        </p:spPr>
        <p:txBody>
          <a:bodyPr wrap="square" rtlCol="0" anchor="ctr"/>
          <a:lstStyle/>
          <a:p>
            <a:pPr indent="0" marL="0">
              <a:buNone/>
            </a:pPr>
            <a:r>
              <a:rPr lang="en-US" sz="1200" dirty="0">
                <a:solidFill>
                  <a:srgbClr val="FFFFFF"/>
                </a:solidFill>
                <a:latin typeface="Arial" pitchFamily="34" charset="0"/>
                <a:ea typeface="Arial" pitchFamily="34" charset="-122"/>
                <a:cs typeface="Arial" pitchFamily="34" charset="-120"/>
              </a:rPr>
              <a:t>Approval to formally launch Praeto Compliance Club as a commercial product line of Praeto Trading CC (FSP 1457), with authorisation to deploy the technology platform at www.praeto.co.za, commence member acquisition across all five market segments, and retain operating surplus within the entity for reinvestment.</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11480" y="201168"/>
            <a:ext cx="8229600" cy="201168"/>
          </a:xfrm>
          <a:prstGeom prst="rect">
            <a:avLst/>
          </a:prstGeom>
          <a:noFill/>
          <a:ln/>
        </p:spPr>
        <p:txBody>
          <a:bodyPr wrap="square" rtlCol="0" anchor="ctr"/>
          <a:lstStyle/>
          <a:p>
            <a:pPr indent="0" marL="0">
              <a:buNone/>
            </a:pPr>
            <a:r>
              <a:rPr lang="en-US" sz="900" b="1" spc="400" kern="0" dirty="0">
                <a:solidFill>
                  <a:srgbClr val="C9A84C"/>
                </a:solidFill>
                <a:latin typeface="Arial" pitchFamily="34" charset="0"/>
                <a:ea typeface="Arial" pitchFamily="34" charset="-122"/>
                <a:cs typeface="Arial" pitchFamily="34" charset="-120"/>
              </a:rPr>
              <a:t>MARKET SEGMENTS</a:t>
            </a:r>
            <a:endParaRPr lang="en-US" sz="900" dirty="0"/>
          </a:p>
        </p:txBody>
      </p:sp>
      <p:sp>
        <p:nvSpPr>
          <p:cNvPr id="3" name="Text 1"/>
          <p:cNvSpPr/>
          <p:nvPr/>
        </p:nvSpPr>
        <p:spPr>
          <a:xfrm>
            <a:off x="411480" y="475488"/>
            <a:ext cx="7772400" cy="640080"/>
          </a:xfrm>
          <a:prstGeom prst="rect">
            <a:avLst/>
          </a:prstGeom>
          <a:noFill/>
          <a:ln/>
        </p:spPr>
        <p:txBody>
          <a:bodyPr wrap="square" rtlCol="0" anchor="ctr"/>
          <a:lstStyle/>
          <a:p>
            <a:pPr indent="0" marL="0">
              <a:buNone/>
            </a:pPr>
            <a:r>
              <a:rPr lang="en-US" sz="2800" b="1" dirty="0">
                <a:solidFill>
                  <a:srgbClr val="1F3864"/>
                </a:solidFill>
                <a:latin typeface="Cambria" pitchFamily="34" charset="0"/>
                <a:ea typeface="Cambria" pitchFamily="34" charset="-122"/>
                <a:cs typeface="Cambria" pitchFamily="34" charset="-120"/>
              </a:rPr>
              <a:t>Five Segments — One Integrated Platform</a:t>
            </a:r>
            <a:endParaRPr lang="en-US" sz="2800" dirty="0"/>
          </a:p>
        </p:txBody>
      </p:sp>
      <p:sp>
        <p:nvSpPr>
          <p:cNvPr id="4" name="Shape 2"/>
          <p:cNvSpPr/>
          <p:nvPr/>
        </p:nvSpPr>
        <p:spPr>
          <a:xfrm>
            <a:off x="411480" y="1207008"/>
            <a:ext cx="8321040" cy="0"/>
          </a:xfrm>
          <a:prstGeom prst="line">
            <a:avLst/>
          </a:prstGeom>
          <a:noFill/>
          <a:ln w="19050">
            <a:solidFill>
              <a:srgbClr val="C9A84C"/>
            </a:solidFill>
            <a:prstDash val="solid"/>
          </a:ln>
        </p:spPr>
      </p:sp>
      <p:sp>
        <p:nvSpPr>
          <p:cNvPr id="5" name="Shape 3"/>
          <p:cNvSpPr/>
          <p:nvPr/>
        </p:nvSpPr>
        <p:spPr>
          <a:xfrm>
            <a:off x="274320" y="1389888"/>
            <a:ext cx="2606040" cy="1463040"/>
          </a:xfrm>
          <a:prstGeom prst="roundRect">
            <a:avLst>
              <a:gd name="adj" fmla="val 5000"/>
            </a:avLst>
          </a:prstGeom>
          <a:solidFill>
            <a:srgbClr val="1F3864"/>
          </a:solidFill>
          <a:ln/>
          <a:effectLst>
            <a:outerShdw sx="100000" sy="100000" kx="0" ky="0" algn="bl" rotWithShape="0" blurRad="101600" dist="38100" dir="2700000">
              <a:srgbClr val="000000">
                <a:alpha val="13000"/>
              </a:srgbClr>
            </a:outerShdw>
          </a:effectLst>
        </p:spPr>
      </p:sp>
      <p:sp>
        <p:nvSpPr>
          <p:cNvPr id="6" name="Text 4"/>
          <p:cNvSpPr/>
          <p:nvPr/>
        </p:nvSpPr>
        <p:spPr>
          <a:xfrm>
            <a:off x="274320" y="1481328"/>
            <a:ext cx="2606040" cy="292608"/>
          </a:xfrm>
          <a:prstGeom prst="rect">
            <a:avLst/>
          </a:prstGeom>
          <a:noFill/>
          <a:ln/>
        </p:spPr>
        <p:txBody>
          <a:bodyPr wrap="square" rtlCol="0" anchor="ctr"/>
          <a:lstStyle/>
          <a:p>
            <a:pPr algn="ctr" indent="0" marL="0">
              <a:buNone/>
            </a:pPr>
            <a:r>
              <a:rPr lang="en-US" sz="1000" b="1" spc="300" kern="0" dirty="0">
                <a:solidFill>
                  <a:srgbClr val="C9A84C"/>
                </a:solidFill>
                <a:latin typeface="Arial" pitchFamily="34" charset="0"/>
                <a:ea typeface="Arial" pitchFamily="34" charset="-122"/>
                <a:cs typeface="Arial" pitchFamily="34" charset="-120"/>
              </a:rPr>
              <a:t>01</a:t>
            </a:r>
            <a:endParaRPr lang="en-US" sz="1000" dirty="0"/>
          </a:p>
        </p:txBody>
      </p:sp>
      <p:sp>
        <p:nvSpPr>
          <p:cNvPr id="7" name="Text 5"/>
          <p:cNvSpPr/>
          <p:nvPr/>
        </p:nvSpPr>
        <p:spPr>
          <a:xfrm>
            <a:off x="384048" y="1755648"/>
            <a:ext cx="2386584" cy="384048"/>
          </a:xfrm>
          <a:prstGeom prst="rect">
            <a:avLst/>
          </a:prstGeom>
          <a:noFill/>
          <a:ln/>
        </p:spPr>
        <p:txBody>
          <a:bodyPr wrap="square"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Category I FSPs</a:t>
            </a:r>
            <a:endParaRPr lang="en-US" sz="1400" dirty="0"/>
          </a:p>
        </p:txBody>
      </p:sp>
      <p:sp>
        <p:nvSpPr>
          <p:cNvPr id="8" name="Text 6"/>
          <p:cNvSpPr/>
          <p:nvPr/>
        </p:nvSpPr>
        <p:spPr>
          <a:xfrm>
            <a:off x="365760" y="2139696"/>
            <a:ext cx="2423160" cy="475488"/>
          </a:xfrm>
          <a:prstGeom prst="rect">
            <a:avLst/>
          </a:prstGeom>
          <a:noFill/>
          <a:ln/>
        </p:spPr>
        <p:txBody>
          <a:bodyPr wrap="square" rtlCol="0" anchor="ctr"/>
          <a:lstStyle/>
          <a:p>
            <a:pPr algn="ctr" indent="0" marL="0">
              <a:buNone/>
            </a:pPr>
            <a:r>
              <a:rPr lang="en-US" sz="950" dirty="0">
                <a:solidFill>
                  <a:srgbClr val="AABBCC"/>
                </a:solidFill>
                <a:latin typeface="Arial" pitchFamily="34" charset="0"/>
                <a:ea typeface="Arial" pitchFamily="34" charset="-122"/>
                <a:cs typeface="Arial" pitchFamily="34" charset="-120"/>
              </a:rPr>
              <a:t>RE compliance, CPD, ROA/FNA</a:t>
            </a:r>
            <a:endParaRPr lang="en-US" sz="950" dirty="0"/>
          </a:p>
          <a:p>
            <a:pPr algn="ctr" indent="0" marL="0">
              <a:buNone/>
            </a:pPr>
            <a:r>
              <a:rPr lang="en-US" sz="950" dirty="0">
                <a:solidFill>
                  <a:srgbClr val="AABBCC"/>
                </a:solidFill>
                <a:latin typeface="Arial" pitchFamily="34" charset="0"/>
                <a:ea typeface="Arial" pitchFamily="34" charset="-122"/>
                <a:cs typeface="Arial" pitchFamily="34" charset="-120"/>
              </a:rPr>
              <a:t>templates, FSCA alerts</a:t>
            </a:r>
            <a:endParaRPr lang="en-US" sz="950" dirty="0"/>
          </a:p>
        </p:txBody>
      </p:sp>
      <p:sp>
        <p:nvSpPr>
          <p:cNvPr id="9" name="Text 7"/>
          <p:cNvSpPr/>
          <p:nvPr/>
        </p:nvSpPr>
        <p:spPr>
          <a:xfrm>
            <a:off x="274320" y="2615184"/>
            <a:ext cx="2606040" cy="201168"/>
          </a:xfrm>
          <a:prstGeom prst="rect">
            <a:avLst/>
          </a:prstGeom>
          <a:noFill/>
          <a:ln/>
        </p:spPr>
        <p:txBody>
          <a:bodyPr wrap="square" rtlCol="0" anchor="ctr"/>
          <a:lstStyle/>
          <a:p>
            <a:pPr algn="ctr" indent="0" marL="0">
              <a:buNone/>
            </a:pPr>
            <a:r>
              <a:rPr lang="en-US" sz="800" b="1" dirty="0">
                <a:solidFill>
                  <a:srgbClr val="C9A84C"/>
                </a:solidFill>
                <a:latin typeface="Arial" pitchFamily="34" charset="0"/>
                <a:ea typeface="Arial" pitchFamily="34" charset="-122"/>
                <a:cs typeface="Arial" pitchFamily="34" charset="-120"/>
              </a:rPr>
              <a:t>8,400+ FSPs</a:t>
            </a:r>
            <a:endParaRPr lang="en-US" sz="800" dirty="0"/>
          </a:p>
        </p:txBody>
      </p:sp>
      <p:sp>
        <p:nvSpPr>
          <p:cNvPr id="10" name="Shape 8"/>
          <p:cNvSpPr/>
          <p:nvPr/>
        </p:nvSpPr>
        <p:spPr>
          <a:xfrm>
            <a:off x="3172968" y="1389888"/>
            <a:ext cx="2606040" cy="1463040"/>
          </a:xfrm>
          <a:prstGeom prst="roundRect">
            <a:avLst>
              <a:gd name="adj" fmla="val 5000"/>
            </a:avLst>
          </a:prstGeom>
          <a:solidFill>
            <a:srgbClr val="1E4D8C"/>
          </a:solidFill>
          <a:ln/>
          <a:effectLst>
            <a:outerShdw sx="100000" sy="100000" kx="0" ky="0" algn="bl" rotWithShape="0" blurRad="101600" dist="38100" dir="2700000">
              <a:srgbClr val="000000">
                <a:alpha val="13000"/>
              </a:srgbClr>
            </a:outerShdw>
          </a:effectLst>
        </p:spPr>
      </p:sp>
      <p:sp>
        <p:nvSpPr>
          <p:cNvPr id="11" name="Text 9"/>
          <p:cNvSpPr/>
          <p:nvPr/>
        </p:nvSpPr>
        <p:spPr>
          <a:xfrm>
            <a:off x="3172968" y="1481328"/>
            <a:ext cx="2606040" cy="292608"/>
          </a:xfrm>
          <a:prstGeom prst="rect">
            <a:avLst/>
          </a:prstGeom>
          <a:noFill/>
          <a:ln/>
        </p:spPr>
        <p:txBody>
          <a:bodyPr wrap="square" rtlCol="0" anchor="ctr"/>
          <a:lstStyle/>
          <a:p>
            <a:pPr algn="ctr" indent="0" marL="0">
              <a:buNone/>
            </a:pPr>
            <a:r>
              <a:rPr lang="en-US" sz="1000" b="1" spc="300" kern="0" dirty="0">
                <a:solidFill>
                  <a:srgbClr val="C9A84C"/>
                </a:solidFill>
                <a:latin typeface="Arial" pitchFamily="34" charset="0"/>
                <a:ea typeface="Arial" pitchFamily="34" charset="-122"/>
                <a:cs typeface="Arial" pitchFamily="34" charset="-120"/>
              </a:rPr>
              <a:t>02</a:t>
            </a:r>
            <a:endParaRPr lang="en-US" sz="1000" dirty="0"/>
          </a:p>
        </p:txBody>
      </p:sp>
      <p:sp>
        <p:nvSpPr>
          <p:cNvPr id="12" name="Text 10"/>
          <p:cNvSpPr/>
          <p:nvPr/>
        </p:nvSpPr>
        <p:spPr>
          <a:xfrm>
            <a:off x="3282696" y="1755648"/>
            <a:ext cx="2386584" cy="384048"/>
          </a:xfrm>
          <a:prstGeom prst="rect">
            <a:avLst/>
          </a:prstGeom>
          <a:noFill/>
          <a:ln/>
        </p:spPr>
        <p:txBody>
          <a:bodyPr wrap="square"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Pension Fund Trustees</a:t>
            </a:r>
            <a:endParaRPr lang="en-US" sz="1400" dirty="0"/>
          </a:p>
        </p:txBody>
      </p:sp>
      <p:sp>
        <p:nvSpPr>
          <p:cNvPr id="13" name="Text 11"/>
          <p:cNvSpPr/>
          <p:nvPr/>
        </p:nvSpPr>
        <p:spPr>
          <a:xfrm>
            <a:off x="3264408" y="2139696"/>
            <a:ext cx="2423160" cy="475488"/>
          </a:xfrm>
          <a:prstGeom prst="rect">
            <a:avLst/>
          </a:prstGeom>
          <a:noFill/>
          <a:ln/>
        </p:spPr>
        <p:txBody>
          <a:bodyPr wrap="square" rtlCol="0" anchor="ctr"/>
          <a:lstStyle/>
          <a:p>
            <a:pPr algn="ctr" indent="0" marL="0">
              <a:buNone/>
            </a:pPr>
            <a:r>
              <a:rPr lang="en-US" sz="950" dirty="0">
                <a:solidFill>
                  <a:srgbClr val="AABBCC"/>
                </a:solidFill>
                <a:latin typeface="Arial" pitchFamily="34" charset="0"/>
                <a:ea typeface="Arial" pitchFamily="34" charset="-122"/>
                <a:cs typeface="Arial" pitchFamily="34" charset="-120"/>
              </a:rPr>
              <a:t>Investment instruments, trustee</a:t>
            </a:r>
            <a:endParaRPr lang="en-US" sz="950" dirty="0"/>
          </a:p>
          <a:p>
            <a:pPr algn="ctr" indent="0" marL="0">
              <a:buNone/>
            </a:pPr>
            <a:r>
              <a:rPr lang="en-US" sz="950" dirty="0">
                <a:solidFill>
                  <a:srgbClr val="AABBCC"/>
                </a:solidFill>
                <a:latin typeface="Arial" pitchFamily="34" charset="0"/>
                <a:ea typeface="Arial" pitchFamily="34" charset="-122"/>
                <a:cs typeface="Arial" pitchFamily="34" charset="-120"/>
              </a:rPr>
              <a:t>training, governance compliance</a:t>
            </a:r>
            <a:endParaRPr lang="en-US" sz="950" dirty="0"/>
          </a:p>
        </p:txBody>
      </p:sp>
      <p:sp>
        <p:nvSpPr>
          <p:cNvPr id="14" name="Text 12"/>
          <p:cNvSpPr/>
          <p:nvPr/>
        </p:nvSpPr>
        <p:spPr>
          <a:xfrm>
            <a:off x="3172968" y="2615184"/>
            <a:ext cx="2606040" cy="201168"/>
          </a:xfrm>
          <a:prstGeom prst="rect">
            <a:avLst/>
          </a:prstGeom>
          <a:noFill/>
          <a:ln/>
        </p:spPr>
        <p:txBody>
          <a:bodyPr wrap="square" rtlCol="0" anchor="ctr"/>
          <a:lstStyle/>
          <a:p>
            <a:pPr algn="ctr" indent="0" marL="0">
              <a:buNone/>
            </a:pPr>
            <a:r>
              <a:rPr lang="en-US" sz="800" b="1" dirty="0">
                <a:solidFill>
                  <a:srgbClr val="C9A84C"/>
                </a:solidFill>
                <a:latin typeface="Arial" pitchFamily="34" charset="0"/>
                <a:ea typeface="Arial" pitchFamily="34" charset="-122"/>
                <a:cs typeface="Arial" pitchFamily="34" charset="-120"/>
              </a:rPr>
              <a:t>~2,100 funds</a:t>
            </a:r>
            <a:endParaRPr lang="en-US" sz="800" dirty="0"/>
          </a:p>
        </p:txBody>
      </p:sp>
      <p:sp>
        <p:nvSpPr>
          <p:cNvPr id="15" name="Shape 13"/>
          <p:cNvSpPr/>
          <p:nvPr/>
        </p:nvSpPr>
        <p:spPr>
          <a:xfrm>
            <a:off x="6071616" y="1389888"/>
            <a:ext cx="2606040" cy="1463040"/>
          </a:xfrm>
          <a:prstGeom prst="roundRect">
            <a:avLst>
              <a:gd name="adj" fmla="val 5000"/>
            </a:avLst>
          </a:prstGeom>
          <a:solidFill>
            <a:srgbClr val="2E5C8A"/>
          </a:solidFill>
          <a:ln/>
          <a:effectLst>
            <a:outerShdw sx="100000" sy="100000" kx="0" ky="0" algn="bl" rotWithShape="0" blurRad="101600" dist="38100" dir="2700000">
              <a:srgbClr val="000000">
                <a:alpha val="13000"/>
              </a:srgbClr>
            </a:outerShdw>
          </a:effectLst>
        </p:spPr>
      </p:sp>
      <p:sp>
        <p:nvSpPr>
          <p:cNvPr id="16" name="Text 14"/>
          <p:cNvSpPr/>
          <p:nvPr/>
        </p:nvSpPr>
        <p:spPr>
          <a:xfrm>
            <a:off x="6071616" y="1481328"/>
            <a:ext cx="2606040" cy="292608"/>
          </a:xfrm>
          <a:prstGeom prst="rect">
            <a:avLst/>
          </a:prstGeom>
          <a:noFill/>
          <a:ln/>
        </p:spPr>
        <p:txBody>
          <a:bodyPr wrap="square" rtlCol="0" anchor="ctr"/>
          <a:lstStyle/>
          <a:p>
            <a:pPr algn="ctr" indent="0" marL="0">
              <a:buNone/>
            </a:pPr>
            <a:r>
              <a:rPr lang="en-US" sz="1000" b="1" spc="300" kern="0" dirty="0">
                <a:solidFill>
                  <a:srgbClr val="C9A84C"/>
                </a:solidFill>
                <a:latin typeface="Arial" pitchFamily="34" charset="0"/>
                <a:ea typeface="Arial" pitchFamily="34" charset="-122"/>
                <a:cs typeface="Arial" pitchFamily="34" charset="-120"/>
              </a:rPr>
              <a:t>03</a:t>
            </a:r>
            <a:endParaRPr lang="en-US" sz="1000" dirty="0"/>
          </a:p>
        </p:txBody>
      </p:sp>
      <p:sp>
        <p:nvSpPr>
          <p:cNvPr id="17" name="Text 15"/>
          <p:cNvSpPr/>
          <p:nvPr/>
        </p:nvSpPr>
        <p:spPr>
          <a:xfrm>
            <a:off x="6181344" y="1755648"/>
            <a:ext cx="2386584" cy="384048"/>
          </a:xfrm>
          <a:prstGeom prst="rect">
            <a:avLst/>
          </a:prstGeom>
          <a:noFill/>
          <a:ln/>
        </p:spPr>
        <p:txBody>
          <a:bodyPr wrap="square"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Funeral Parlours</a:t>
            </a:r>
            <a:endParaRPr lang="en-US" sz="1400" dirty="0"/>
          </a:p>
        </p:txBody>
      </p:sp>
      <p:sp>
        <p:nvSpPr>
          <p:cNvPr id="18" name="Text 16"/>
          <p:cNvSpPr/>
          <p:nvPr/>
        </p:nvSpPr>
        <p:spPr>
          <a:xfrm>
            <a:off x="6163056" y="2139696"/>
            <a:ext cx="2423160" cy="475488"/>
          </a:xfrm>
          <a:prstGeom prst="rect">
            <a:avLst/>
          </a:prstGeom>
          <a:noFill/>
          <a:ln/>
        </p:spPr>
        <p:txBody>
          <a:bodyPr wrap="square" rtlCol="0" anchor="ctr"/>
          <a:lstStyle/>
          <a:p>
            <a:pPr algn="ctr" indent="0" marL="0">
              <a:buNone/>
            </a:pPr>
            <a:r>
              <a:rPr lang="en-US" sz="950" dirty="0">
                <a:solidFill>
                  <a:srgbClr val="AABBCC"/>
                </a:solidFill>
                <a:latin typeface="Arial" pitchFamily="34" charset="0"/>
                <a:ea typeface="Arial" pitchFamily="34" charset="-122"/>
                <a:cs typeface="Arial" pitchFamily="34" charset="-120"/>
              </a:rPr>
              <a:t>Funeral scheme licensing, product</a:t>
            </a:r>
            <a:endParaRPr lang="en-US" sz="950" dirty="0"/>
          </a:p>
          <a:p>
            <a:pPr algn="ctr" indent="0" marL="0">
              <a:buNone/>
            </a:pPr>
            <a:r>
              <a:rPr lang="en-US" sz="950" dirty="0">
                <a:solidFill>
                  <a:srgbClr val="AABBCC"/>
                </a:solidFill>
                <a:latin typeface="Arial" pitchFamily="34" charset="0"/>
                <a:ea typeface="Arial" pitchFamily="34" charset="-122"/>
                <a:cs typeface="Arial" pitchFamily="34" charset="-120"/>
              </a:rPr>
              <a:t>design, NQF 4 qualifications</a:t>
            </a:r>
            <a:endParaRPr lang="en-US" sz="950" dirty="0"/>
          </a:p>
        </p:txBody>
      </p:sp>
      <p:sp>
        <p:nvSpPr>
          <p:cNvPr id="19" name="Text 17"/>
          <p:cNvSpPr/>
          <p:nvPr/>
        </p:nvSpPr>
        <p:spPr>
          <a:xfrm>
            <a:off x="6071616" y="2615184"/>
            <a:ext cx="2606040" cy="201168"/>
          </a:xfrm>
          <a:prstGeom prst="rect">
            <a:avLst/>
          </a:prstGeom>
          <a:noFill/>
          <a:ln/>
        </p:spPr>
        <p:txBody>
          <a:bodyPr wrap="square" rtlCol="0" anchor="ctr"/>
          <a:lstStyle/>
          <a:p>
            <a:pPr algn="ctr" indent="0" marL="0">
              <a:buNone/>
            </a:pPr>
            <a:r>
              <a:rPr lang="en-US" sz="800" b="1" dirty="0">
                <a:solidFill>
                  <a:srgbClr val="C9A84C"/>
                </a:solidFill>
                <a:latin typeface="Arial" pitchFamily="34" charset="0"/>
                <a:ea typeface="Arial" pitchFamily="34" charset="-122"/>
                <a:cs typeface="Arial" pitchFamily="34" charset="-120"/>
              </a:rPr>
              <a:t>~4,500 parlours</a:t>
            </a:r>
            <a:endParaRPr lang="en-US" sz="800" dirty="0"/>
          </a:p>
        </p:txBody>
      </p:sp>
      <p:sp>
        <p:nvSpPr>
          <p:cNvPr id="20" name="Shape 18"/>
          <p:cNvSpPr/>
          <p:nvPr/>
        </p:nvSpPr>
        <p:spPr>
          <a:xfrm>
            <a:off x="1572768" y="3127248"/>
            <a:ext cx="2606040" cy="1463040"/>
          </a:xfrm>
          <a:prstGeom prst="roundRect">
            <a:avLst>
              <a:gd name="adj" fmla="val 5000"/>
            </a:avLst>
          </a:prstGeom>
          <a:solidFill>
            <a:srgbClr val="1A6B5A"/>
          </a:solidFill>
          <a:ln/>
          <a:effectLst>
            <a:outerShdw sx="100000" sy="100000" kx="0" ky="0" algn="bl" rotWithShape="0" blurRad="101600" dist="38100" dir="2700000">
              <a:srgbClr val="000000">
                <a:alpha val="13000"/>
              </a:srgbClr>
            </a:outerShdw>
          </a:effectLst>
        </p:spPr>
      </p:sp>
      <p:sp>
        <p:nvSpPr>
          <p:cNvPr id="21" name="Text 19"/>
          <p:cNvSpPr/>
          <p:nvPr/>
        </p:nvSpPr>
        <p:spPr>
          <a:xfrm>
            <a:off x="1572768" y="3218688"/>
            <a:ext cx="2606040" cy="292608"/>
          </a:xfrm>
          <a:prstGeom prst="rect">
            <a:avLst/>
          </a:prstGeom>
          <a:noFill/>
          <a:ln/>
        </p:spPr>
        <p:txBody>
          <a:bodyPr wrap="square" rtlCol="0" anchor="ctr"/>
          <a:lstStyle/>
          <a:p>
            <a:pPr algn="ctr" indent="0" marL="0">
              <a:buNone/>
            </a:pPr>
            <a:r>
              <a:rPr lang="en-US" sz="1000" b="1" spc="300" kern="0" dirty="0">
                <a:solidFill>
                  <a:srgbClr val="C9A84C"/>
                </a:solidFill>
                <a:latin typeface="Arial" pitchFamily="34" charset="0"/>
                <a:ea typeface="Arial" pitchFamily="34" charset="-122"/>
                <a:cs typeface="Arial" pitchFamily="34" charset="-120"/>
              </a:rPr>
              <a:t>04</a:t>
            </a:r>
            <a:endParaRPr lang="en-US" sz="1000" dirty="0"/>
          </a:p>
        </p:txBody>
      </p:sp>
      <p:sp>
        <p:nvSpPr>
          <p:cNvPr id="22" name="Text 20"/>
          <p:cNvSpPr/>
          <p:nvPr/>
        </p:nvSpPr>
        <p:spPr>
          <a:xfrm>
            <a:off x="1682496" y="3493008"/>
            <a:ext cx="2386584" cy="384048"/>
          </a:xfrm>
          <a:prstGeom prst="rect">
            <a:avLst/>
          </a:prstGeom>
          <a:noFill/>
          <a:ln/>
        </p:spPr>
        <p:txBody>
          <a:bodyPr wrap="square"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Assistance Business FSPs</a:t>
            </a:r>
            <a:endParaRPr lang="en-US" sz="1400" dirty="0"/>
          </a:p>
        </p:txBody>
      </p:sp>
      <p:sp>
        <p:nvSpPr>
          <p:cNvPr id="23" name="Text 21"/>
          <p:cNvSpPr/>
          <p:nvPr/>
        </p:nvSpPr>
        <p:spPr>
          <a:xfrm>
            <a:off x="1664208" y="3877056"/>
            <a:ext cx="2423160" cy="475488"/>
          </a:xfrm>
          <a:prstGeom prst="rect">
            <a:avLst/>
          </a:prstGeom>
          <a:noFill/>
          <a:ln/>
        </p:spPr>
        <p:txBody>
          <a:bodyPr wrap="square" rtlCol="0" anchor="ctr"/>
          <a:lstStyle/>
          <a:p>
            <a:pPr algn="ctr" indent="0" marL="0">
              <a:buNone/>
            </a:pPr>
            <a:r>
              <a:rPr lang="en-US" sz="950" dirty="0">
                <a:solidFill>
                  <a:srgbClr val="AABBCC"/>
                </a:solidFill>
                <a:latin typeface="Arial" pitchFamily="34" charset="0"/>
                <a:ea typeface="Arial" pitchFamily="34" charset="-122"/>
                <a:cs typeface="Arial" pitchFamily="34" charset="-120"/>
              </a:rPr>
              <a:t>Dedicated compliance for</a:t>
            </a:r>
            <a:endParaRPr lang="en-US" sz="950" dirty="0"/>
          </a:p>
          <a:p>
            <a:pPr algn="ctr" indent="0" marL="0">
              <a:buNone/>
            </a:pPr>
            <a:r>
              <a:rPr lang="en-US" sz="950" dirty="0">
                <a:solidFill>
                  <a:srgbClr val="AABBCC"/>
                </a:solidFill>
                <a:latin typeface="Arial" pitchFamily="34" charset="0"/>
                <a:ea typeface="Arial" pitchFamily="34" charset="-122"/>
                <a:cs typeface="Arial" pitchFamily="34" charset="-120"/>
              </a:rPr>
              <a:t>assistance-only product FSPs</a:t>
            </a:r>
            <a:endParaRPr lang="en-US" sz="950" dirty="0"/>
          </a:p>
        </p:txBody>
      </p:sp>
      <p:sp>
        <p:nvSpPr>
          <p:cNvPr id="24" name="Text 22"/>
          <p:cNvSpPr/>
          <p:nvPr/>
        </p:nvSpPr>
        <p:spPr>
          <a:xfrm>
            <a:off x="1572768" y="4352544"/>
            <a:ext cx="2606040" cy="201168"/>
          </a:xfrm>
          <a:prstGeom prst="rect">
            <a:avLst/>
          </a:prstGeom>
          <a:noFill/>
          <a:ln/>
        </p:spPr>
        <p:txBody>
          <a:bodyPr wrap="square" rtlCol="0" anchor="ctr"/>
          <a:lstStyle/>
          <a:p>
            <a:pPr algn="ctr" indent="0" marL="0">
              <a:buNone/>
            </a:pPr>
            <a:r>
              <a:rPr lang="en-US" sz="800" b="1" dirty="0">
                <a:solidFill>
                  <a:srgbClr val="C9A84C"/>
                </a:solidFill>
                <a:latin typeface="Arial" pitchFamily="34" charset="0"/>
                <a:ea typeface="Arial" pitchFamily="34" charset="-122"/>
                <a:cs typeface="Arial" pitchFamily="34" charset="-120"/>
              </a:rPr>
              <a:t>~800 FSPs</a:t>
            </a:r>
            <a:endParaRPr lang="en-US" sz="800" dirty="0"/>
          </a:p>
        </p:txBody>
      </p:sp>
      <p:sp>
        <p:nvSpPr>
          <p:cNvPr id="25" name="Shape 23"/>
          <p:cNvSpPr/>
          <p:nvPr/>
        </p:nvSpPr>
        <p:spPr>
          <a:xfrm>
            <a:off x="4471416" y="3127248"/>
            <a:ext cx="2606040" cy="1463040"/>
          </a:xfrm>
          <a:prstGeom prst="roundRect">
            <a:avLst>
              <a:gd name="adj" fmla="val 5000"/>
            </a:avLst>
          </a:prstGeom>
          <a:solidFill>
            <a:srgbClr val="4A3C7A"/>
          </a:solidFill>
          <a:ln/>
          <a:effectLst>
            <a:outerShdw sx="100000" sy="100000" kx="0" ky="0" algn="bl" rotWithShape="0" blurRad="101600" dist="38100" dir="2700000">
              <a:srgbClr val="000000">
                <a:alpha val="13000"/>
              </a:srgbClr>
            </a:outerShdw>
          </a:effectLst>
        </p:spPr>
      </p:sp>
      <p:sp>
        <p:nvSpPr>
          <p:cNvPr id="26" name="Text 24"/>
          <p:cNvSpPr/>
          <p:nvPr/>
        </p:nvSpPr>
        <p:spPr>
          <a:xfrm>
            <a:off x="4471416" y="3218688"/>
            <a:ext cx="2606040" cy="292608"/>
          </a:xfrm>
          <a:prstGeom prst="rect">
            <a:avLst/>
          </a:prstGeom>
          <a:noFill/>
          <a:ln/>
        </p:spPr>
        <p:txBody>
          <a:bodyPr wrap="square" rtlCol="0" anchor="ctr"/>
          <a:lstStyle/>
          <a:p>
            <a:pPr algn="ctr" indent="0" marL="0">
              <a:buNone/>
            </a:pPr>
            <a:r>
              <a:rPr lang="en-US" sz="1000" b="1" spc="300" kern="0" dirty="0">
                <a:solidFill>
                  <a:srgbClr val="C9A84C"/>
                </a:solidFill>
                <a:latin typeface="Arial" pitchFamily="34" charset="0"/>
                <a:ea typeface="Arial" pitchFamily="34" charset="-122"/>
                <a:cs typeface="Arial" pitchFamily="34" charset="-120"/>
              </a:rPr>
              <a:t>05</a:t>
            </a:r>
            <a:endParaRPr lang="en-US" sz="1000" dirty="0"/>
          </a:p>
        </p:txBody>
      </p:sp>
      <p:sp>
        <p:nvSpPr>
          <p:cNvPr id="27" name="Text 25"/>
          <p:cNvSpPr/>
          <p:nvPr/>
        </p:nvSpPr>
        <p:spPr>
          <a:xfrm>
            <a:off x="4581144" y="3493008"/>
            <a:ext cx="2386584" cy="384048"/>
          </a:xfrm>
          <a:prstGeom prst="rect">
            <a:avLst/>
          </a:prstGeom>
          <a:noFill/>
          <a:ln/>
        </p:spPr>
        <p:txBody>
          <a:bodyPr wrap="square"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Short-Term Brokers</a:t>
            </a:r>
            <a:endParaRPr lang="en-US" sz="1400" dirty="0"/>
          </a:p>
        </p:txBody>
      </p:sp>
      <p:sp>
        <p:nvSpPr>
          <p:cNvPr id="28" name="Text 26"/>
          <p:cNvSpPr/>
          <p:nvPr/>
        </p:nvSpPr>
        <p:spPr>
          <a:xfrm>
            <a:off x="4562856" y="3877056"/>
            <a:ext cx="2423160" cy="475488"/>
          </a:xfrm>
          <a:prstGeom prst="rect">
            <a:avLst/>
          </a:prstGeom>
          <a:noFill/>
          <a:ln/>
        </p:spPr>
        <p:txBody>
          <a:bodyPr wrap="square" rtlCol="0" anchor="ctr"/>
          <a:lstStyle/>
          <a:p>
            <a:pPr algn="ctr" indent="0" marL="0">
              <a:buNone/>
            </a:pPr>
            <a:r>
              <a:rPr lang="en-US" sz="950" dirty="0">
                <a:solidFill>
                  <a:srgbClr val="AABBCC"/>
                </a:solidFill>
                <a:latin typeface="Arial" pitchFamily="34" charset="0"/>
                <a:ea typeface="Arial" pitchFamily="34" charset="-122"/>
                <a:cs typeface="Arial" pitchFamily="34" charset="-120"/>
              </a:rPr>
              <a:t>Policy administration, SAIA</a:t>
            </a:r>
            <a:endParaRPr lang="en-US" sz="950" dirty="0"/>
          </a:p>
          <a:p>
            <a:pPr algn="ctr" indent="0" marL="0">
              <a:buNone/>
            </a:pPr>
            <a:r>
              <a:rPr lang="en-US" sz="950" dirty="0">
                <a:solidFill>
                  <a:srgbClr val="AABBCC"/>
                </a:solidFill>
                <a:latin typeface="Arial" pitchFamily="34" charset="0"/>
                <a:ea typeface="Arial" pitchFamily="34" charset="-122"/>
                <a:cs typeface="Arial" pitchFamily="34" charset="-120"/>
              </a:rPr>
              <a:t>compliance, replacement rules</a:t>
            </a:r>
            <a:endParaRPr lang="en-US" sz="950" dirty="0"/>
          </a:p>
        </p:txBody>
      </p:sp>
      <p:sp>
        <p:nvSpPr>
          <p:cNvPr id="29" name="Text 27"/>
          <p:cNvSpPr/>
          <p:nvPr/>
        </p:nvSpPr>
        <p:spPr>
          <a:xfrm>
            <a:off x="4471416" y="4352544"/>
            <a:ext cx="2606040" cy="201168"/>
          </a:xfrm>
          <a:prstGeom prst="rect">
            <a:avLst/>
          </a:prstGeom>
          <a:noFill/>
          <a:ln/>
        </p:spPr>
        <p:txBody>
          <a:bodyPr wrap="square" rtlCol="0" anchor="ctr"/>
          <a:lstStyle/>
          <a:p>
            <a:pPr algn="ctr" indent="0" marL="0">
              <a:buNone/>
            </a:pPr>
            <a:r>
              <a:rPr lang="en-US" sz="800" b="1" dirty="0">
                <a:solidFill>
                  <a:srgbClr val="C9A84C"/>
                </a:solidFill>
                <a:latin typeface="Arial" pitchFamily="34" charset="0"/>
                <a:ea typeface="Arial" pitchFamily="34" charset="-122"/>
                <a:cs typeface="Arial" pitchFamily="34" charset="-120"/>
              </a:rPr>
              <a:t>~3,200 brokers</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9F8F5"/>
        </a:solidFill>
      </p:bgPr>
    </p:bg>
    <p:spTree>
      <p:nvGrpSpPr>
        <p:cNvPr id="1" name=""/>
        <p:cNvGrpSpPr/>
        <p:nvPr/>
      </p:nvGrpSpPr>
      <p:grpSpPr>
        <a:xfrm>
          <a:off x="0" y="0"/>
          <a:ext cx="0" cy="0"/>
          <a:chOff x="0" y="0"/>
          <a:chExt cx="0" cy="0"/>
        </a:xfrm>
      </p:grpSpPr>
      <p:sp>
        <p:nvSpPr>
          <p:cNvPr id="2" name="Text 0"/>
          <p:cNvSpPr/>
          <p:nvPr/>
        </p:nvSpPr>
        <p:spPr>
          <a:xfrm>
            <a:off x="411480" y="201168"/>
            <a:ext cx="8229600" cy="201168"/>
          </a:xfrm>
          <a:prstGeom prst="rect">
            <a:avLst/>
          </a:prstGeom>
          <a:noFill/>
          <a:ln/>
        </p:spPr>
        <p:txBody>
          <a:bodyPr wrap="square" rtlCol="0" anchor="ctr"/>
          <a:lstStyle/>
          <a:p>
            <a:pPr indent="0" marL="0">
              <a:buNone/>
            </a:pPr>
            <a:r>
              <a:rPr lang="en-US" sz="900" b="1" spc="400" kern="0" dirty="0">
                <a:solidFill>
                  <a:srgbClr val="C9A84C"/>
                </a:solidFill>
                <a:latin typeface="Arial" pitchFamily="34" charset="0"/>
                <a:ea typeface="Arial" pitchFamily="34" charset="-122"/>
                <a:cs typeface="Arial" pitchFamily="34" charset="-120"/>
              </a:rPr>
              <a:t>SEGMENT 2 — PENSION FUND TRUSTEES</a:t>
            </a:r>
            <a:endParaRPr lang="en-US" sz="900" dirty="0"/>
          </a:p>
        </p:txBody>
      </p:sp>
      <p:sp>
        <p:nvSpPr>
          <p:cNvPr id="3" name="Text 1"/>
          <p:cNvSpPr/>
          <p:nvPr/>
        </p:nvSpPr>
        <p:spPr>
          <a:xfrm>
            <a:off x="411480" y="475488"/>
            <a:ext cx="7772400" cy="640080"/>
          </a:xfrm>
          <a:prstGeom prst="rect">
            <a:avLst/>
          </a:prstGeom>
          <a:noFill/>
          <a:ln/>
        </p:spPr>
        <p:txBody>
          <a:bodyPr wrap="square" rtlCol="0" anchor="ctr"/>
          <a:lstStyle/>
          <a:p>
            <a:pPr indent="0" marL="0">
              <a:buNone/>
            </a:pPr>
            <a:r>
              <a:rPr lang="en-US" sz="2800" b="1" dirty="0">
                <a:solidFill>
                  <a:srgbClr val="1F3864"/>
                </a:solidFill>
                <a:latin typeface="Cambria" pitchFamily="34" charset="0"/>
                <a:ea typeface="Cambria" pitchFamily="34" charset="-122"/>
                <a:cs typeface="Cambria" pitchFamily="34" charset="-120"/>
              </a:rPr>
              <a:t>Trustee Training: A Mandatory, Underserved Market</a:t>
            </a:r>
            <a:endParaRPr lang="en-US" sz="2800" dirty="0"/>
          </a:p>
        </p:txBody>
      </p:sp>
      <p:sp>
        <p:nvSpPr>
          <p:cNvPr id="4" name="Shape 2"/>
          <p:cNvSpPr/>
          <p:nvPr/>
        </p:nvSpPr>
        <p:spPr>
          <a:xfrm>
            <a:off x="411480" y="1207008"/>
            <a:ext cx="8321040" cy="0"/>
          </a:xfrm>
          <a:prstGeom prst="line">
            <a:avLst/>
          </a:prstGeom>
          <a:noFill/>
          <a:ln w="19050">
            <a:solidFill>
              <a:srgbClr val="C9A84C"/>
            </a:solidFill>
            <a:prstDash val="solid"/>
          </a:ln>
        </p:spPr>
      </p:sp>
      <p:sp>
        <p:nvSpPr>
          <p:cNvPr id="5" name="Shape 3"/>
          <p:cNvSpPr/>
          <p:nvPr/>
        </p:nvSpPr>
        <p:spPr>
          <a:xfrm>
            <a:off x="320040" y="1389888"/>
            <a:ext cx="4023360" cy="3401568"/>
          </a:xfrm>
          <a:prstGeom prst="roundRect">
            <a:avLst>
              <a:gd name="adj" fmla="val 2151"/>
            </a:avLst>
          </a:prstGeom>
          <a:solidFill>
            <a:srgbClr val="FFFFFF"/>
          </a:solidFill>
          <a:ln/>
          <a:effectLst>
            <a:outerShdw sx="100000" sy="100000" kx="0" ky="0" algn="bl" rotWithShape="0" blurRad="101600" dist="38100" dir="2700000">
              <a:srgbClr val="000000">
                <a:alpha val="13000"/>
              </a:srgbClr>
            </a:outerShdw>
          </a:effectLst>
        </p:spPr>
      </p:sp>
      <p:sp>
        <p:nvSpPr>
          <p:cNvPr id="6" name="Text 4"/>
          <p:cNvSpPr/>
          <p:nvPr/>
        </p:nvSpPr>
        <p:spPr>
          <a:xfrm>
            <a:off x="502920" y="1508760"/>
            <a:ext cx="3657600" cy="228600"/>
          </a:xfrm>
          <a:prstGeom prst="rect">
            <a:avLst/>
          </a:prstGeom>
          <a:noFill/>
          <a:ln/>
        </p:spPr>
        <p:txBody>
          <a:bodyPr wrap="square" rtlCol="0" anchor="ctr"/>
          <a:lstStyle/>
          <a:p>
            <a:pPr indent="0" marL="0">
              <a:buNone/>
            </a:pPr>
            <a:r>
              <a:rPr lang="en-US" sz="800" b="1" spc="400" kern="0" dirty="0">
                <a:solidFill>
                  <a:srgbClr val="C9A84C"/>
                </a:solidFill>
                <a:latin typeface="Arial" pitchFamily="34" charset="0"/>
                <a:ea typeface="Arial" pitchFamily="34" charset="-122"/>
                <a:cs typeface="Arial" pitchFamily="34" charset="-120"/>
              </a:rPr>
              <a:t>REGULATORY DRIVER</a:t>
            </a:r>
            <a:endParaRPr lang="en-US" sz="800" dirty="0"/>
          </a:p>
        </p:txBody>
      </p:sp>
      <p:sp>
        <p:nvSpPr>
          <p:cNvPr id="7" name="Text 5"/>
          <p:cNvSpPr/>
          <p:nvPr/>
        </p:nvSpPr>
        <p:spPr>
          <a:xfrm>
            <a:off x="502920" y="1810512"/>
            <a:ext cx="228600" cy="347472"/>
          </a:xfrm>
          <a:prstGeom prst="rect">
            <a:avLst/>
          </a:prstGeom>
          <a:noFill/>
          <a:ln/>
        </p:spPr>
        <p:txBody>
          <a:bodyPr wrap="square" rtlCol="0" anchor="ctr"/>
          <a:lstStyle/>
          <a:p>
            <a:pPr indent="0" marL="0">
              <a:buNone/>
            </a:pPr>
            <a:r>
              <a:rPr lang="en-US" sz="1300" b="1" dirty="0">
                <a:solidFill>
                  <a:srgbClr val="C9A84C"/>
                </a:solidFill>
                <a:latin typeface="Arial" pitchFamily="34" charset="0"/>
                <a:ea typeface="Arial" pitchFamily="34" charset="-122"/>
                <a:cs typeface="Arial" pitchFamily="34" charset="-120"/>
              </a:rPr>
              <a:t>›</a:t>
            </a:r>
            <a:endParaRPr lang="en-US" sz="1300" dirty="0"/>
          </a:p>
        </p:txBody>
      </p:sp>
      <p:sp>
        <p:nvSpPr>
          <p:cNvPr id="8" name="Text 6"/>
          <p:cNvSpPr/>
          <p:nvPr/>
        </p:nvSpPr>
        <p:spPr>
          <a:xfrm>
            <a:off x="731520" y="1810512"/>
            <a:ext cx="3429000" cy="402336"/>
          </a:xfrm>
          <a:prstGeom prst="rect">
            <a:avLst/>
          </a:prstGeom>
          <a:noFill/>
          <a:ln/>
        </p:spPr>
        <p:txBody>
          <a:bodyPr wrap="square" rtlCol="0" anchor="ctr"/>
          <a:lstStyle/>
          <a:p>
            <a:pPr indent="0" marL="0">
              <a:buNone/>
            </a:pPr>
            <a:r>
              <a:rPr lang="en-US" sz="1000" dirty="0">
                <a:solidFill>
                  <a:srgbClr val="111827"/>
                </a:solidFill>
                <a:latin typeface="Arial" pitchFamily="34" charset="0"/>
                <a:ea typeface="Arial" pitchFamily="34" charset="-122"/>
                <a:cs typeface="Arial" pitchFamily="34" charset="-120"/>
              </a:rPr>
              <a:t>PF Act s.7A mandates trustee education</a:t>
            </a:r>
            <a:endParaRPr lang="en-US" sz="1000" dirty="0"/>
          </a:p>
        </p:txBody>
      </p:sp>
      <p:sp>
        <p:nvSpPr>
          <p:cNvPr id="9" name="Text 7"/>
          <p:cNvSpPr/>
          <p:nvPr/>
        </p:nvSpPr>
        <p:spPr>
          <a:xfrm>
            <a:off x="502920" y="2286000"/>
            <a:ext cx="228600" cy="347472"/>
          </a:xfrm>
          <a:prstGeom prst="rect">
            <a:avLst/>
          </a:prstGeom>
          <a:noFill/>
          <a:ln/>
        </p:spPr>
        <p:txBody>
          <a:bodyPr wrap="square" rtlCol="0" anchor="ctr"/>
          <a:lstStyle/>
          <a:p>
            <a:pPr indent="0" marL="0">
              <a:buNone/>
            </a:pPr>
            <a:r>
              <a:rPr lang="en-US" sz="1300" b="1" dirty="0">
                <a:solidFill>
                  <a:srgbClr val="C9A84C"/>
                </a:solidFill>
                <a:latin typeface="Arial" pitchFamily="34" charset="0"/>
                <a:ea typeface="Arial" pitchFamily="34" charset="-122"/>
                <a:cs typeface="Arial" pitchFamily="34" charset="-120"/>
              </a:rPr>
              <a:t>›</a:t>
            </a:r>
            <a:endParaRPr lang="en-US" sz="1300" dirty="0"/>
          </a:p>
        </p:txBody>
      </p:sp>
      <p:sp>
        <p:nvSpPr>
          <p:cNvPr id="10" name="Text 8"/>
          <p:cNvSpPr/>
          <p:nvPr/>
        </p:nvSpPr>
        <p:spPr>
          <a:xfrm>
            <a:off x="731520" y="2286000"/>
            <a:ext cx="3429000" cy="402336"/>
          </a:xfrm>
          <a:prstGeom prst="rect">
            <a:avLst/>
          </a:prstGeom>
          <a:noFill/>
          <a:ln/>
        </p:spPr>
        <p:txBody>
          <a:bodyPr wrap="square" rtlCol="0" anchor="ctr"/>
          <a:lstStyle/>
          <a:p>
            <a:pPr indent="0" marL="0">
              <a:buNone/>
            </a:pPr>
            <a:r>
              <a:rPr lang="en-US" sz="1000" dirty="0">
                <a:solidFill>
                  <a:srgbClr val="111827"/>
                </a:solidFill>
                <a:latin typeface="Arial" pitchFamily="34" charset="0"/>
                <a:ea typeface="Arial" pitchFamily="34" charset="-122"/>
                <a:cs typeface="Arial" pitchFamily="34" charset="-120"/>
              </a:rPr>
              <a:t>FSCA Conduct Standard 1 of 2022 sets</a:t>
            </a:r>
            <a:endParaRPr lang="en-US" sz="1000" dirty="0"/>
          </a:p>
          <a:p>
            <a:pPr indent="0" marL="0">
              <a:buNone/>
            </a:pPr>
            <a:r>
              <a:rPr lang="en-US" sz="1000" dirty="0">
                <a:solidFill>
                  <a:srgbClr val="111827"/>
                </a:solidFill>
                <a:latin typeface="Arial" pitchFamily="34" charset="0"/>
                <a:ea typeface="Arial" pitchFamily="34" charset="-122"/>
                <a:cs typeface="Arial" pitchFamily="34" charset="-120"/>
              </a:rPr>
              <a:t>compliance &amp; governance requirements</a:t>
            </a:r>
            <a:endParaRPr lang="en-US" sz="1000" dirty="0"/>
          </a:p>
        </p:txBody>
      </p:sp>
      <p:sp>
        <p:nvSpPr>
          <p:cNvPr id="11" name="Text 9"/>
          <p:cNvSpPr/>
          <p:nvPr/>
        </p:nvSpPr>
        <p:spPr>
          <a:xfrm>
            <a:off x="502920" y="2761488"/>
            <a:ext cx="228600" cy="347472"/>
          </a:xfrm>
          <a:prstGeom prst="rect">
            <a:avLst/>
          </a:prstGeom>
          <a:noFill/>
          <a:ln/>
        </p:spPr>
        <p:txBody>
          <a:bodyPr wrap="square" rtlCol="0" anchor="ctr"/>
          <a:lstStyle/>
          <a:p>
            <a:pPr indent="0" marL="0">
              <a:buNone/>
            </a:pPr>
            <a:r>
              <a:rPr lang="en-US" sz="1300" b="1" dirty="0">
                <a:solidFill>
                  <a:srgbClr val="C9A84C"/>
                </a:solidFill>
                <a:latin typeface="Arial" pitchFamily="34" charset="0"/>
                <a:ea typeface="Arial" pitchFamily="34" charset="-122"/>
                <a:cs typeface="Arial" pitchFamily="34" charset="-120"/>
              </a:rPr>
              <a:t>›</a:t>
            </a:r>
            <a:endParaRPr lang="en-US" sz="1300" dirty="0"/>
          </a:p>
        </p:txBody>
      </p:sp>
      <p:sp>
        <p:nvSpPr>
          <p:cNvPr id="12" name="Text 10"/>
          <p:cNvSpPr/>
          <p:nvPr/>
        </p:nvSpPr>
        <p:spPr>
          <a:xfrm>
            <a:off x="731520" y="2761488"/>
            <a:ext cx="3429000" cy="402336"/>
          </a:xfrm>
          <a:prstGeom prst="rect">
            <a:avLst/>
          </a:prstGeom>
          <a:noFill/>
          <a:ln/>
        </p:spPr>
        <p:txBody>
          <a:bodyPr wrap="square" rtlCol="0" anchor="ctr"/>
          <a:lstStyle/>
          <a:p>
            <a:pPr indent="0" marL="0">
              <a:buNone/>
            </a:pPr>
            <a:r>
              <a:rPr lang="en-US" sz="1000" dirty="0">
                <a:solidFill>
                  <a:srgbClr val="111827"/>
                </a:solidFill>
                <a:latin typeface="Arial" pitchFamily="34" charset="0"/>
                <a:ea typeface="Arial" pitchFamily="34" charset="-122"/>
                <a:cs typeface="Arial" pitchFamily="34" charset="-120"/>
              </a:rPr>
              <a:t>Regulation 28 investment limits require</a:t>
            </a:r>
            <a:endParaRPr lang="en-US" sz="1000" dirty="0"/>
          </a:p>
          <a:p>
            <a:pPr indent="0" marL="0">
              <a:buNone/>
            </a:pPr>
            <a:r>
              <a:rPr lang="en-US" sz="1000" dirty="0">
                <a:solidFill>
                  <a:srgbClr val="111827"/>
                </a:solidFill>
                <a:latin typeface="Arial" pitchFamily="34" charset="0"/>
                <a:ea typeface="Arial" pitchFamily="34" charset="-122"/>
                <a:cs typeface="Arial" pitchFamily="34" charset="-120"/>
              </a:rPr>
              <a:t>active monitoring of asset class exposure</a:t>
            </a:r>
            <a:endParaRPr lang="en-US" sz="1000" dirty="0"/>
          </a:p>
        </p:txBody>
      </p:sp>
      <p:sp>
        <p:nvSpPr>
          <p:cNvPr id="13" name="Text 11"/>
          <p:cNvSpPr/>
          <p:nvPr/>
        </p:nvSpPr>
        <p:spPr>
          <a:xfrm>
            <a:off x="502920" y="3236976"/>
            <a:ext cx="228600" cy="347472"/>
          </a:xfrm>
          <a:prstGeom prst="rect">
            <a:avLst/>
          </a:prstGeom>
          <a:noFill/>
          <a:ln/>
        </p:spPr>
        <p:txBody>
          <a:bodyPr wrap="square" rtlCol="0" anchor="ctr"/>
          <a:lstStyle/>
          <a:p>
            <a:pPr indent="0" marL="0">
              <a:buNone/>
            </a:pPr>
            <a:r>
              <a:rPr lang="en-US" sz="1300" b="1" dirty="0">
                <a:solidFill>
                  <a:srgbClr val="C9A84C"/>
                </a:solidFill>
                <a:latin typeface="Arial" pitchFamily="34" charset="0"/>
                <a:ea typeface="Arial" pitchFamily="34" charset="-122"/>
                <a:cs typeface="Arial" pitchFamily="34" charset="-120"/>
              </a:rPr>
              <a:t>›</a:t>
            </a:r>
            <a:endParaRPr lang="en-US" sz="1300" dirty="0"/>
          </a:p>
        </p:txBody>
      </p:sp>
      <p:sp>
        <p:nvSpPr>
          <p:cNvPr id="14" name="Text 12"/>
          <p:cNvSpPr/>
          <p:nvPr/>
        </p:nvSpPr>
        <p:spPr>
          <a:xfrm>
            <a:off x="731520" y="3236976"/>
            <a:ext cx="3429000" cy="402336"/>
          </a:xfrm>
          <a:prstGeom prst="rect">
            <a:avLst/>
          </a:prstGeom>
          <a:noFill/>
          <a:ln/>
        </p:spPr>
        <p:txBody>
          <a:bodyPr wrap="square" rtlCol="0" anchor="ctr"/>
          <a:lstStyle/>
          <a:p>
            <a:pPr indent="0" marL="0">
              <a:buNone/>
            </a:pPr>
            <a:r>
              <a:rPr lang="en-US" sz="1000" dirty="0">
                <a:solidFill>
                  <a:srgbClr val="111827"/>
                </a:solidFill>
                <a:latin typeface="Arial" pitchFamily="34" charset="0"/>
                <a:ea typeface="Arial" pitchFamily="34" charset="-122"/>
                <a:cs typeface="Arial" pitchFamily="34" charset="-120"/>
              </a:rPr>
              <a:t>King IV governance framework applies</a:t>
            </a:r>
            <a:endParaRPr lang="en-US" sz="1000" dirty="0"/>
          </a:p>
          <a:p>
            <a:pPr indent="0" marL="0">
              <a:buNone/>
            </a:pPr>
            <a:r>
              <a:rPr lang="en-US" sz="1000" dirty="0">
                <a:solidFill>
                  <a:srgbClr val="111827"/>
                </a:solidFill>
                <a:latin typeface="Arial" pitchFamily="34" charset="0"/>
                <a:ea typeface="Arial" pitchFamily="34" charset="-122"/>
                <a:cs typeface="Arial" pitchFamily="34" charset="-120"/>
              </a:rPr>
              <a:t>to all retirement fund boards</a:t>
            </a:r>
            <a:endParaRPr lang="en-US" sz="1000" dirty="0"/>
          </a:p>
        </p:txBody>
      </p:sp>
      <p:sp>
        <p:nvSpPr>
          <p:cNvPr id="15" name="Text 13"/>
          <p:cNvSpPr/>
          <p:nvPr/>
        </p:nvSpPr>
        <p:spPr>
          <a:xfrm>
            <a:off x="502920" y="3712464"/>
            <a:ext cx="228600" cy="347472"/>
          </a:xfrm>
          <a:prstGeom prst="rect">
            <a:avLst/>
          </a:prstGeom>
          <a:noFill/>
          <a:ln/>
        </p:spPr>
        <p:txBody>
          <a:bodyPr wrap="square" rtlCol="0" anchor="ctr"/>
          <a:lstStyle/>
          <a:p>
            <a:pPr indent="0" marL="0">
              <a:buNone/>
            </a:pPr>
            <a:r>
              <a:rPr lang="en-US" sz="1300" b="1" dirty="0">
                <a:solidFill>
                  <a:srgbClr val="C9A84C"/>
                </a:solidFill>
                <a:latin typeface="Arial" pitchFamily="34" charset="0"/>
                <a:ea typeface="Arial" pitchFamily="34" charset="-122"/>
                <a:cs typeface="Arial" pitchFamily="34" charset="-120"/>
              </a:rPr>
              <a:t>›</a:t>
            </a:r>
            <a:endParaRPr lang="en-US" sz="1300" dirty="0"/>
          </a:p>
        </p:txBody>
      </p:sp>
      <p:sp>
        <p:nvSpPr>
          <p:cNvPr id="16" name="Text 14"/>
          <p:cNvSpPr/>
          <p:nvPr/>
        </p:nvSpPr>
        <p:spPr>
          <a:xfrm>
            <a:off x="731520" y="3712464"/>
            <a:ext cx="3429000" cy="402336"/>
          </a:xfrm>
          <a:prstGeom prst="rect">
            <a:avLst/>
          </a:prstGeom>
          <a:noFill/>
          <a:ln/>
        </p:spPr>
        <p:txBody>
          <a:bodyPr wrap="square" rtlCol="0" anchor="ctr"/>
          <a:lstStyle/>
          <a:p>
            <a:pPr indent="0" marL="0">
              <a:buNone/>
            </a:pPr>
            <a:r>
              <a:rPr lang="en-US" sz="1000" dirty="0">
                <a:solidFill>
                  <a:srgbClr val="111827"/>
                </a:solidFill>
                <a:latin typeface="Arial" pitchFamily="34" charset="0"/>
                <a:ea typeface="Arial" pitchFamily="34" charset="-122"/>
                <a:cs typeface="Arial" pitchFamily="34" charset="-120"/>
              </a:rPr>
              <a:t>eThekwini Municipal Employees PF</a:t>
            </a:r>
            <a:endParaRPr lang="en-US" sz="1000" dirty="0"/>
          </a:p>
          <a:p>
            <a:pPr indent="0" marL="0">
              <a:buNone/>
            </a:pPr>
            <a:r>
              <a:rPr lang="en-US" sz="1000" dirty="0">
                <a:solidFill>
                  <a:srgbClr val="111827"/>
                </a:solidFill>
                <a:latin typeface="Arial" pitchFamily="34" charset="0"/>
                <a:ea typeface="Arial" pitchFamily="34" charset="-122"/>
                <a:cs typeface="Arial" pitchFamily="34" charset="-120"/>
              </a:rPr>
              <a:t>(EMEPF) — existing Praeto relationship</a:t>
            </a:r>
            <a:endParaRPr lang="en-US" sz="1000" dirty="0"/>
          </a:p>
        </p:txBody>
      </p:sp>
      <p:sp>
        <p:nvSpPr>
          <p:cNvPr id="17" name="Shape 15"/>
          <p:cNvSpPr/>
          <p:nvPr/>
        </p:nvSpPr>
        <p:spPr>
          <a:xfrm>
            <a:off x="4572000" y="1389888"/>
            <a:ext cx="4251960" cy="3401568"/>
          </a:xfrm>
          <a:prstGeom prst="roundRect">
            <a:avLst>
              <a:gd name="adj" fmla="val 2151"/>
            </a:avLst>
          </a:prstGeom>
          <a:solidFill>
            <a:srgbClr val="1F3864"/>
          </a:solidFill>
          <a:ln/>
          <a:effectLst>
            <a:outerShdw sx="100000" sy="100000" kx="0" ky="0" algn="bl" rotWithShape="0" blurRad="101600" dist="38100" dir="2700000">
              <a:srgbClr val="000000">
                <a:alpha val="13000"/>
              </a:srgbClr>
            </a:outerShdw>
          </a:effectLst>
        </p:spPr>
      </p:sp>
      <p:sp>
        <p:nvSpPr>
          <p:cNvPr id="18" name="Text 16"/>
          <p:cNvSpPr/>
          <p:nvPr/>
        </p:nvSpPr>
        <p:spPr>
          <a:xfrm>
            <a:off x="4754880" y="1508760"/>
            <a:ext cx="3840480" cy="228600"/>
          </a:xfrm>
          <a:prstGeom prst="rect">
            <a:avLst/>
          </a:prstGeom>
          <a:noFill/>
          <a:ln/>
        </p:spPr>
        <p:txBody>
          <a:bodyPr wrap="square" rtlCol="0" anchor="ctr"/>
          <a:lstStyle/>
          <a:p>
            <a:pPr indent="0" marL="0">
              <a:buNone/>
            </a:pPr>
            <a:r>
              <a:rPr lang="en-US" sz="900" b="1" spc="300" kern="0" dirty="0">
                <a:solidFill>
                  <a:srgbClr val="C9A84C"/>
                </a:solidFill>
                <a:latin typeface="Arial" pitchFamily="34" charset="0"/>
                <a:ea typeface="Arial" pitchFamily="34" charset="-122"/>
                <a:cs typeface="Arial" pitchFamily="34" charset="-120"/>
              </a:rPr>
              <a:t>PRAETO TRUSTEE ACADEMY</a:t>
            </a:r>
            <a:endParaRPr lang="en-US" sz="900" dirty="0"/>
          </a:p>
        </p:txBody>
      </p:sp>
      <p:sp>
        <p:nvSpPr>
          <p:cNvPr id="19" name="Text 17"/>
          <p:cNvSpPr/>
          <p:nvPr/>
        </p:nvSpPr>
        <p:spPr>
          <a:xfrm>
            <a:off x="4754880" y="1810512"/>
            <a:ext cx="3886200" cy="256032"/>
          </a:xfrm>
          <a:prstGeom prst="rect">
            <a:avLst/>
          </a:prstGeom>
          <a:noFill/>
          <a:ln/>
        </p:spPr>
        <p:txBody>
          <a:bodyPr wrap="square" rtlCol="0" anchor="ctr"/>
          <a:lstStyle/>
          <a:p>
            <a:pPr indent="0" marL="0">
              <a:buNone/>
            </a:pPr>
            <a:r>
              <a:rPr lang="en-US" sz="1100" b="1" dirty="0">
                <a:solidFill>
                  <a:srgbClr val="FFFFFF"/>
                </a:solidFill>
                <a:latin typeface="Arial" pitchFamily="34" charset="0"/>
                <a:ea typeface="Arial" pitchFamily="34" charset="-122"/>
                <a:cs typeface="Arial" pitchFamily="34" charset="-120"/>
              </a:rPr>
              <a:t>Investment Instruments Module</a:t>
            </a:r>
            <a:endParaRPr lang="en-US" sz="1100" dirty="0"/>
          </a:p>
        </p:txBody>
      </p:sp>
      <p:sp>
        <p:nvSpPr>
          <p:cNvPr id="20" name="Text 18"/>
          <p:cNvSpPr/>
          <p:nvPr/>
        </p:nvSpPr>
        <p:spPr>
          <a:xfrm>
            <a:off x="4754880" y="2066544"/>
            <a:ext cx="3886200" cy="292608"/>
          </a:xfrm>
          <a:prstGeom prst="rect">
            <a:avLst/>
          </a:prstGeom>
          <a:noFill/>
          <a:ln/>
        </p:spPr>
        <p:txBody>
          <a:bodyPr wrap="square" rtlCol="0" anchor="ctr"/>
          <a:lstStyle/>
          <a:p>
            <a:pPr indent="0" marL="0">
              <a:buNone/>
            </a:pPr>
            <a:r>
              <a:rPr lang="en-US" sz="900" dirty="0">
                <a:solidFill>
                  <a:srgbClr val="AABBCC"/>
                </a:solidFill>
                <a:latin typeface="Arial" pitchFamily="34" charset="0"/>
                <a:ea typeface="Arial" pitchFamily="34" charset="-122"/>
                <a:cs typeface="Arial" pitchFamily="34" charset="-120"/>
              </a:rPr>
              <a:t>Equities, bonds, alternatives, Reg 28 compliance — FSCA-recognised CPD</a:t>
            </a:r>
            <a:endParaRPr lang="en-US" sz="900" dirty="0"/>
          </a:p>
        </p:txBody>
      </p:sp>
      <p:sp>
        <p:nvSpPr>
          <p:cNvPr id="21" name="Text 19"/>
          <p:cNvSpPr/>
          <p:nvPr/>
        </p:nvSpPr>
        <p:spPr>
          <a:xfrm>
            <a:off x="4754880" y="2404872"/>
            <a:ext cx="3886200" cy="256032"/>
          </a:xfrm>
          <a:prstGeom prst="rect">
            <a:avLst/>
          </a:prstGeom>
          <a:noFill/>
          <a:ln/>
        </p:spPr>
        <p:txBody>
          <a:bodyPr wrap="square" rtlCol="0" anchor="ctr"/>
          <a:lstStyle/>
          <a:p>
            <a:pPr indent="0" marL="0">
              <a:buNone/>
            </a:pPr>
            <a:r>
              <a:rPr lang="en-US" sz="1100" b="1" dirty="0">
                <a:solidFill>
                  <a:srgbClr val="FFFFFF"/>
                </a:solidFill>
                <a:latin typeface="Arial" pitchFamily="34" charset="0"/>
                <a:ea typeface="Arial" pitchFamily="34" charset="-122"/>
                <a:cs typeface="Arial" pitchFamily="34" charset="-120"/>
              </a:rPr>
              <a:t>Governance &amp; Fiduciary Duties</a:t>
            </a:r>
            <a:endParaRPr lang="en-US" sz="1100" dirty="0"/>
          </a:p>
        </p:txBody>
      </p:sp>
      <p:sp>
        <p:nvSpPr>
          <p:cNvPr id="22" name="Text 20"/>
          <p:cNvSpPr/>
          <p:nvPr/>
        </p:nvSpPr>
        <p:spPr>
          <a:xfrm>
            <a:off x="4754880" y="2660904"/>
            <a:ext cx="3886200" cy="292608"/>
          </a:xfrm>
          <a:prstGeom prst="rect">
            <a:avLst/>
          </a:prstGeom>
          <a:noFill/>
          <a:ln/>
        </p:spPr>
        <p:txBody>
          <a:bodyPr wrap="square" rtlCol="0" anchor="ctr"/>
          <a:lstStyle/>
          <a:p>
            <a:pPr indent="0" marL="0">
              <a:buNone/>
            </a:pPr>
            <a:r>
              <a:rPr lang="en-US" sz="900" dirty="0">
                <a:solidFill>
                  <a:srgbClr val="AABBCC"/>
                </a:solidFill>
                <a:latin typeface="Arial" pitchFamily="34" charset="0"/>
                <a:ea typeface="Arial" pitchFamily="34" charset="-122"/>
                <a:cs typeface="Arial" pitchFamily="34" charset="-120"/>
              </a:rPr>
              <a:t>King IV, PF Act s.7A, conflict of interest, disclosure obligations</a:t>
            </a:r>
            <a:endParaRPr lang="en-US" sz="900" dirty="0"/>
          </a:p>
        </p:txBody>
      </p:sp>
      <p:sp>
        <p:nvSpPr>
          <p:cNvPr id="23" name="Text 21"/>
          <p:cNvSpPr/>
          <p:nvPr/>
        </p:nvSpPr>
        <p:spPr>
          <a:xfrm>
            <a:off x="4754880" y="2999232"/>
            <a:ext cx="3886200" cy="256032"/>
          </a:xfrm>
          <a:prstGeom prst="rect">
            <a:avLst/>
          </a:prstGeom>
          <a:noFill/>
          <a:ln/>
        </p:spPr>
        <p:txBody>
          <a:bodyPr wrap="square" rtlCol="0" anchor="ctr"/>
          <a:lstStyle/>
          <a:p>
            <a:pPr indent="0" marL="0">
              <a:buNone/>
            </a:pPr>
            <a:r>
              <a:rPr lang="en-US" sz="1100" b="1" dirty="0">
                <a:solidFill>
                  <a:srgbClr val="FFFFFF"/>
                </a:solidFill>
                <a:latin typeface="Arial" pitchFamily="34" charset="0"/>
                <a:ea typeface="Arial" pitchFamily="34" charset="-122"/>
                <a:cs typeface="Arial" pitchFamily="34" charset="-120"/>
              </a:rPr>
              <a:t>Alternative Assets (Tank Containers)</a:t>
            </a:r>
            <a:endParaRPr lang="en-US" sz="1100" dirty="0"/>
          </a:p>
        </p:txBody>
      </p:sp>
      <p:sp>
        <p:nvSpPr>
          <p:cNvPr id="24" name="Text 22"/>
          <p:cNvSpPr/>
          <p:nvPr/>
        </p:nvSpPr>
        <p:spPr>
          <a:xfrm>
            <a:off x="4754880" y="3255264"/>
            <a:ext cx="3886200" cy="292608"/>
          </a:xfrm>
          <a:prstGeom prst="rect">
            <a:avLst/>
          </a:prstGeom>
          <a:noFill/>
          <a:ln/>
        </p:spPr>
        <p:txBody>
          <a:bodyPr wrap="square" rtlCol="0" anchor="ctr"/>
          <a:lstStyle/>
          <a:p>
            <a:pPr indent="0" marL="0">
              <a:buNone/>
            </a:pPr>
            <a:r>
              <a:rPr lang="en-US" sz="900" dirty="0">
                <a:solidFill>
                  <a:srgbClr val="AABBCC"/>
                </a:solidFill>
                <a:latin typeface="Arial" pitchFamily="34" charset="0"/>
                <a:ea typeface="Arial" pitchFamily="34" charset="-122"/>
                <a:cs typeface="Arial" pitchFamily="34" charset="-120"/>
              </a:rPr>
              <a:t>Modelled for EMEPF — Container investment as Reg 28-compliant alternative</a:t>
            </a:r>
            <a:endParaRPr lang="en-US" sz="900" dirty="0"/>
          </a:p>
        </p:txBody>
      </p:sp>
      <p:sp>
        <p:nvSpPr>
          <p:cNvPr id="25" name="Text 23"/>
          <p:cNvSpPr/>
          <p:nvPr/>
        </p:nvSpPr>
        <p:spPr>
          <a:xfrm>
            <a:off x="4754880" y="3593592"/>
            <a:ext cx="3886200" cy="256032"/>
          </a:xfrm>
          <a:prstGeom prst="rect">
            <a:avLst/>
          </a:prstGeom>
          <a:noFill/>
          <a:ln/>
        </p:spPr>
        <p:txBody>
          <a:bodyPr wrap="square" rtlCol="0" anchor="ctr"/>
          <a:lstStyle/>
          <a:p>
            <a:pPr indent="0" marL="0">
              <a:buNone/>
            </a:pPr>
            <a:r>
              <a:rPr lang="en-US" sz="1100" b="1" dirty="0">
                <a:solidFill>
                  <a:srgbClr val="FFFFFF"/>
                </a:solidFill>
                <a:latin typeface="Arial" pitchFamily="34" charset="0"/>
                <a:ea typeface="Arial" pitchFamily="34" charset="-122"/>
                <a:cs typeface="Arial" pitchFamily="34" charset="-120"/>
              </a:rPr>
              <a:t>ESG &amp; Responsible Investment</a:t>
            </a:r>
            <a:endParaRPr lang="en-US" sz="1100" dirty="0"/>
          </a:p>
        </p:txBody>
      </p:sp>
      <p:sp>
        <p:nvSpPr>
          <p:cNvPr id="26" name="Text 24"/>
          <p:cNvSpPr/>
          <p:nvPr/>
        </p:nvSpPr>
        <p:spPr>
          <a:xfrm>
            <a:off x="4754880" y="3849624"/>
            <a:ext cx="3886200" cy="292608"/>
          </a:xfrm>
          <a:prstGeom prst="rect">
            <a:avLst/>
          </a:prstGeom>
          <a:noFill/>
          <a:ln/>
        </p:spPr>
        <p:txBody>
          <a:bodyPr wrap="square" rtlCol="0" anchor="ctr"/>
          <a:lstStyle/>
          <a:p>
            <a:pPr indent="0" marL="0">
              <a:buNone/>
            </a:pPr>
            <a:r>
              <a:rPr lang="en-US" sz="900" dirty="0">
                <a:solidFill>
                  <a:srgbClr val="AABBCC"/>
                </a:solidFill>
                <a:latin typeface="Arial" pitchFamily="34" charset="0"/>
                <a:ea typeface="Arial" pitchFamily="34" charset="-122"/>
                <a:cs typeface="Arial" pitchFamily="34" charset="-120"/>
              </a:rPr>
              <a:t>UN PRI alignment, CRISA principles, reporting obligations</a:t>
            </a:r>
            <a:endParaRPr lang="en-US" sz="900" dirty="0"/>
          </a:p>
        </p:txBody>
      </p:sp>
      <p:sp>
        <p:nvSpPr>
          <p:cNvPr id="27" name="Text 25"/>
          <p:cNvSpPr/>
          <p:nvPr/>
        </p:nvSpPr>
        <p:spPr>
          <a:xfrm>
            <a:off x="4754880" y="4187952"/>
            <a:ext cx="3886200" cy="256032"/>
          </a:xfrm>
          <a:prstGeom prst="rect">
            <a:avLst/>
          </a:prstGeom>
          <a:noFill/>
          <a:ln/>
        </p:spPr>
        <p:txBody>
          <a:bodyPr wrap="square" rtlCol="0" anchor="ctr"/>
          <a:lstStyle/>
          <a:p>
            <a:pPr indent="0" marL="0">
              <a:buNone/>
            </a:pPr>
            <a:r>
              <a:rPr lang="en-US" sz="1100" b="1" dirty="0">
                <a:solidFill>
                  <a:srgbClr val="C9A84C"/>
                </a:solidFill>
                <a:latin typeface="Arial" pitchFamily="34" charset="0"/>
                <a:ea typeface="Arial" pitchFamily="34" charset="-122"/>
                <a:cs typeface="Arial" pitchFamily="34" charset="-120"/>
              </a:rPr>
              <a:t>Pricing</a:t>
            </a:r>
            <a:endParaRPr lang="en-US" sz="1100" dirty="0"/>
          </a:p>
        </p:txBody>
      </p:sp>
      <p:sp>
        <p:nvSpPr>
          <p:cNvPr id="28" name="Text 26"/>
          <p:cNvSpPr/>
          <p:nvPr/>
        </p:nvSpPr>
        <p:spPr>
          <a:xfrm>
            <a:off x="4754880" y="4443984"/>
            <a:ext cx="3886200" cy="292608"/>
          </a:xfrm>
          <a:prstGeom prst="rect">
            <a:avLst/>
          </a:prstGeom>
          <a:noFill/>
          <a:ln/>
        </p:spPr>
        <p:txBody>
          <a:bodyPr wrap="square" rtlCol="0" anchor="ctr"/>
          <a:lstStyle/>
          <a:p>
            <a:pPr indent="0" marL="0">
              <a:buNone/>
            </a:pPr>
            <a:r>
              <a:rPr lang="en-US" sz="900" dirty="0">
                <a:solidFill>
                  <a:srgbClr val="E8C96A"/>
                </a:solidFill>
                <a:latin typeface="Arial" pitchFamily="34" charset="0"/>
                <a:ea typeface="Arial" pitchFamily="34" charset="-122"/>
                <a:cs typeface="Arial" pitchFamily="34" charset="-120"/>
              </a:rPr>
              <a:t>R8,500/trustee/year · R45,000/fund/year (up to 8 trustees)</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11480" y="201168"/>
            <a:ext cx="8229600" cy="201168"/>
          </a:xfrm>
          <a:prstGeom prst="rect">
            <a:avLst/>
          </a:prstGeom>
          <a:noFill/>
          <a:ln/>
        </p:spPr>
        <p:txBody>
          <a:bodyPr wrap="square" rtlCol="0" anchor="ctr"/>
          <a:lstStyle/>
          <a:p>
            <a:pPr indent="0" marL="0">
              <a:buNone/>
            </a:pPr>
            <a:r>
              <a:rPr lang="en-US" sz="900" b="1" spc="400" kern="0" dirty="0">
                <a:solidFill>
                  <a:srgbClr val="C9A84C"/>
                </a:solidFill>
                <a:latin typeface="Arial" pitchFamily="34" charset="0"/>
                <a:ea typeface="Arial" pitchFamily="34" charset="-122"/>
                <a:cs typeface="Arial" pitchFamily="34" charset="-120"/>
              </a:rPr>
              <a:t>SEGMENT 3 — FUNERAL PARLOURS</a:t>
            </a:r>
            <a:endParaRPr lang="en-US" sz="900" dirty="0"/>
          </a:p>
        </p:txBody>
      </p:sp>
      <p:sp>
        <p:nvSpPr>
          <p:cNvPr id="3" name="Text 1"/>
          <p:cNvSpPr/>
          <p:nvPr/>
        </p:nvSpPr>
        <p:spPr>
          <a:xfrm>
            <a:off x="411480" y="475488"/>
            <a:ext cx="7772400" cy="640080"/>
          </a:xfrm>
          <a:prstGeom prst="rect">
            <a:avLst/>
          </a:prstGeom>
          <a:noFill/>
          <a:ln/>
        </p:spPr>
        <p:txBody>
          <a:bodyPr wrap="square" rtlCol="0" anchor="ctr"/>
          <a:lstStyle/>
          <a:p>
            <a:pPr indent="0" marL="0">
              <a:buNone/>
            </a:pPr>
            <a:r>
              <a:rPr lang="en-US" sz="2800" b="1" dirty="0">
                <a:solidFill>
                  <a:srgbClr val="1F3864"/>
                </a:solidFill>
                <a:latin typeface="Cambria" pitchFamily="34" charset="0"/>
                <a:ea typeface="Cambria" pitchFamily="34" charset="-122"/>
                <a:cs typeface="Cambria" pitchFamily="34" charset="-120"/>
              </a:rPr>
              <a:t>4,500 Parlours. Funeral Scheme Compliance. One Platform.</a:t>
            </a:r>
            <a:endParaRPr lang="en-US" sz="2800" dirty="0"/>
          </a:p>
        </p:txBody>
      </p:sp>
      <p:sp>
        <p:nvSpPr>
          <p:cNvPr id="4" name="Shape 2"/>
          <p:cNvSpPr/>
          <p:nvPr/>
        </p:nvSpPr>
        <p:spPr>
          <a:xfrm>
            <a:off x="411480" y="1207008"/>
            <a:ext cx="8321040" cy="0"/>
          </a:xfrm>
          <a:prstGeom prst="line">
            <a:avLst/>
          </a:prstGeom>
          <a:noFill/>
          <a:ln w="19050">
            <a:solidFill>
              <a:srgbClr val="C9A84C"/>
            </a:solidFill>
            <a:prstDash val="solid"/>
          </a:ln>
        </p:spPr>
      </p:sp>
      <p:sp>
        <p:nvSpPr>
          <p:cNvPr id="5" name="Shape 3"/>
          <p:cNvSpPr/>
          <p:nvPr/>
        </p:nvSpPr>
        <p:spPr>
          <a:xfrm>
            <a:off x="274320" y="1389888"/>
            <a:ext cx="2788920" cy="1828800"/>
          </a:xfrm>
          <a:prstGeom prst="roundRect">
            <a:avLst>
              <a:gd name="adj" fmla="val 4000"/>
            </a:avLst>
          </a:prstGeom>
          <a:solidFill>
            <a:srgbClr val="FFF8F0"/>
          </a:solidFill>
          <a:ln w="6350">
            <a:solidFill>
              <a:srgbClr val="E5E0D5"/>
            </a:solidFill>
            <a:prstDash val="solid"/>
          </a:ln>
          <a:effectLst>
            <a:outerShdw sx="100000" sy="100000" kx="0" ky="0" algn="bl" rotWithShape="0" blurRad="101600" dist="38100" dir="2700000">
              <a:srgbClr val="000000">
                <a:alpha val="13000"/>
              </a:srgbClr>
            </a:outerShdw>
          </a:effectLst>
        </p:spPr>
      </p:sp>
      <p:sp>
        <p:nvSpPr>
          <p:cNvPr id="6" name="Text 4"/>
          <p:cNvSpPr/>
          <p:nvPr/>
        </p:nvSpPr>
        <p:spPr>
          <a:xfrm>
            <a:off x="457200" y="1517904"/>
            <a:ext cx="2423160" cy="457200"/>
          </a:xfrm>
          <a:prstGeom prst="rect">
            <a:avLst/>
          </a:prstGeom>
          <a:noFill/>
          <a:ln/>
        </p:spPr>
        <p:txBody>
          <a:bodyPr wrap="square" rtlCol="0" anchor="ctr"/>
          <a:lstStyle/>
          <a:p>
            <a:pPr algn="ctr" indent="0" marL="0">
              <a:buNone/>
            </a:pPr>
            <a:r>
              <a:rPr lang="en-US" sz="1200" b="1" dirty="0">
                <a:solidFill>
                  <a:srgbClr val="1F3864"/>
                </a:solidFill>
                <a:latin typeface="Cambria" pitchFamily="34" charset="0"/>
                <a:ea typeface="Cambria" pitchFamily="34" charset="-122"/>
                <a:cs typeface="Cambria" pitchFamily="34" charset="-120"/>
              </a:rPr>
              <a:t>Microinsurance Act</a:t>
            </a:r>
            <a:endParaRPr lang="en-US" sz="1200" dirty="0"/>
          </a:p>
          <a:p>
            <a:pPr algn="ctr" indent="0" marL="0">
              <a:buNone/>
            </a:pPr>
            <a:r>
              <a:rPr lang="en-US" sz="1200" b="1" dirty="0">
                <a:solidFill>
                  <a:srgbClr val="1F3864"/>
                </a:solidFill>
                <a:latin typeface="Cambria" pitchFamily="34" charset="0"/>
                <a:ea typeface="Cambria" pitchFamily="34" charset="-122"/>
                <a:cs typeface="Cambria" pitchFamily="34" charset="-120"/>
              </a:rPr>
              <a:t>Compliance Gap</a:t>
            </a:r>
            <a:endParaRPr lang="en-US" sz="1200" dirty="0"/>
          </a:p>
        </p:txBody>
      </p:sp>
      <p:sp>
        <p:nvSpPr>
          <p:cNvPr id="7" name="Text 5"/>
          <p:cNvSpPr/>
          <p:nvPr/>
        </p:nvSpPr>
        <p:spPr>
          <a:xfrm>
            <a:off x="411480" y="2011680"/>
            <a:ext cx="2514600" cy="1051560"/>
          </a:xfrm>
          <a:prstGeom prst="rect">
            <a:avLst/>
          </a:prstGeom>
          <a:noFill/>
          <a:ln/>
        </p:spPr>
        <p:txBody>
          <a:bodyPr wrap="square" rtlCol="0" anchor="ctr"/>
          <a:lstStyle/>
          <a:p>
            <a:pPr algn="just" indent="0" marL="0">
              <a:buNone/>
            </a:pPr>
            <a:r>
              <a:rPr lang="en-US" sz="950" dirty="0">
                <a:solidFill>
                  <a:srgbClr val="111827"/>
                </a:solidFill>
                <a:latin typeface="Arial" pitchFamily="34" charset="0"/>
                <a:ea typeface="Arial" pitchFamily="34" charset="-122"/>
                <a:cs typeface="Arial" pitchFamily="34" charset="-120"/>
              </a:rPr>
              <a:t>Most funeral parlours operating informal burial societies or funeral policies are not FSCA-registered. Post-Microinsurance Act, this is an increasing enforcement risk.</a:t>
            </a:r>
            <a:endParaRPr lang="en-US" sz="950" dirty="0"/>
          </a:p>
        </p:txBody>
      </p:sp>
      <p:sp>
        <p:nvSpPr>
          <p:cNvPr id="8" name="Shape 6"/>
          <p:cNvSpPr/>
          <p:nvPr/>
        </p:nvSpPr>
        <p:spPr>
          <a:xfrm>
            <a:off x="3246120" y="1389888"/>
            <a:ext cx="2788920" cy="1828800"/>
          </a:xfrm>
          <a:prstGeom prst="roundRect">
            <a:avLst>
              <a:gd name="adj" fmla="val 4000"/>
            </a:avLst>
          </a:prstGeom>
          <a:solidFill>
            <a:srgbClr val="FFF8F0"/>
          </a:solidFill>
          <a:ln w="6350">
            <a:solidFill>
              <a:srgbClr val="E5E0D5"/>
            </a:solidFill>
            <a:prstDash val="solid"/>
          </a:ln>
          <a:effectLst>
            <a:outerShdw sx="100000" sy="100000" kx="0" ky="0" algn="bl" rotWithShape="0" blurRad="101600" dist="38100" dir="2700000">
              <a:srgbClr val="000000">
                <a:alpha val="13000"/>
              </a:srgbClr>
            </a:outerShdw>
          </a:effectLst>
        </p:spPr>
      </p:sp>
      <p:sp>
        <p:nvSpPr>
          <p:cNvPr id="9" name="Text 7"/>
          <p:cNvSpPr/>
          <p:nvPr/>
        </p:nvSpPr>
        <p:spPr>
          <a:xfrm>
            <a:off x="3429000" y="1517904"/>
            <a:ext cx="2423160" cy="457200"/>
          </a:xfrm>
          <a:prstGeom prst="rect">
            <a:avLst/>
          </a:prstGeom>
          <a:noFill/>
          <a:ln/>
        </p:spPr>
        <p:txBody>
          <a:bodyPr wrap="square" rtlCol="0" anchor="ctr"/>
          <a:lstStyle/>
          <a:p>
            <a:pPr algn="ctr" indent="0" marL="0">
              <a:buNone/>
            </a:pPr>
            <a:r>
              <a:rPr lang="en-US" sz="1200" b="1" dirty="0">
                <a:solidFill>
                  <a:srgbClr val="1F3864"/>
                </a:solidFill>
                <a:latin typeface="Cambria" pitchFamily="34" charset="0"/>
                <a:ea typeface="Cambria" pitchFamily="34" charset="-122"/>
                <a:cs typeface="Cambria" pitchFamily="34" charset="-120"/>
              </a:rPr>
              <a:t>NQF 4 Funeral</a:t>
            </a:r>
            <a:endParaRPr lang="en-US" sz="1200" dirty="0"/>
          </a:p>
          <a:p>
            <a:pPr algn="ctr" indent="0" marL="0">
              <a:buNone/>
            </a:pPr>
            <a:r>
              <a:rPr lang="en-US" sz="1200" b="1" dirty="0">
                <a:solidFill>
                  <a:srgbClr val="1F3864"/>
                </a:solidFill>
                <a:latin typeface="Cambria" pitchFamily="34" charset="0"/>
                <a:ea typeface="Cambria" pitchFamily="34" charset="-122"/>
                <a:cs typeface="Cambria" pitchFamily="34" charset="-120"/>
              </a:rPr>
              <a:t>Parlour Operations</a:t>
            </a:r>
            <a:endParaRPr lang="en-US" sz="1200" dirty="0"/>
          </a:p>
        </p:txBody>
      </p:sp>
      <p:sp>
        <p:nvSpPr>
          <p:cNvPr id="10" name="Text 8"/>
          <p:cNvSpPr/>
          <p:nvPr/>
        </p:nvSpPr>
        <p:spPr>
          <a:xfrm>
            <a:off x="3383280" y="2011680"/>
            <a:ext cx="2514600" cy="1051560"/>
          </a:xfrm>
          <a:prstGeom prst="rect">
            <a:avLst/>
          </a:prstGeom>
          <a:noFill/>
          <a:ln/>
        </p:spPr>
        <p:txBody>
          <a:bodyPr wrap="square" rtlCol="0" anchor="ctr"/>
          <a:lstStyle/>
          <a:p>
            <a:pPr algn="just" indent="0" marL="0">
              <a:buNone/>
            </a:pPr>
            <a:r>
              <a:rPr lang="en-US" sz="950" dirty="0">
                <a:solidFill>
                  <a:srgbClr val="111827"/>
                </a:solidFill>
                <a:latin typeface="Arial" pitchFamily="34" charset="0"/>
                <a:ea typeface="Arial" pitchFamily="34" charset="-122"/>
                <a:cs typeface="Arial" pitchFamily="34" charset="-120"/>
              </a:rPr>
              <a:t>TETA-registered qualification (Tiespro TETA 06-157) is directly applicable. Parlours need qualified staff — Tiespro delivers the qualification.</a:t>
            </a:r>
            <a:endParaRPr lang="en-US" sz="950" dirty="0"/>
          </a:p>
        </p:txBody>
      </p:sp>
      <p:sp>
        <p:nvSpPr>
          <p:cNvPr id="11" name="Shape 9"/>
          <p:cNvSpPr/>
          <p:nvPr/>
        </p:nvSpPr>
        <p:spPr>
          <a:xfrm>
            <a:off x="6217920" y="1389888"/>
            <a:ext cx="2788920" cy="1828800"/>
          </a:xfrm>
          <a:prstGeom prst="roundRect">
            <a:avLst>
              <a:gd name="adj" fmla="val 4000"/>
            </a:avLst>
          </a:prstGeom>
          <a:solidFill>
            <a:srgbClr val="FFF8F0"/>
          </a:solidFill>
          <a:ln w="6350">
            <a:solidFill>
              <a:srgbClr val="E5E0D5"/>
            </a:solidFill>
            <a:prstDash val="solid"/>
          </a:ln>
          <a:effectLst>
            <a:outerShdw sx="100000" sy="100000" kx="0" ky="0" algn="bl" rotWithShape="0" blurRad="101600" dist="38100" dir="2700000">
              <a:srgbClr val="000000">
                <a:alpha val="13000"/>
              </a:srgbClr>
            </a:outerShdw>
          </a:effectLst>
        </p:spPr>
      </p:sp>
      <p:sp>
        <p:nvSpPr>
          <p:cNvPr id="12" name="Text 10"/>
          <p:cNvSpPr/>
          <p:nvPr/>
        </p:nvSpPr>
        <p:spPr>
          <a:xfrm>
            <a:off x="6400800" y="1517904"/>
            <a:ext cx="2423160" cy="457200"/>
          </a:xfrm>
          <a:prstGeom prst="rect">
            <a:avLst/>
          </a:prstGeom>
          <a:noFill/>
          <a:ln/>
        </p:spPr>
        <p:txBody>
          <a:bodyPr wrap="square" rtlCol="0" anchor="ctr"/>
          <a:lstStyle/>
          <a:p>
            <a:pPr algn="ctr" indent="0" marL="0">
              <a:buNone/>
            </a:pPr>
            <a:r>
              <a:rPr lang="en-US" sz="1200" b="1" dirty="0">
                <a:solidFill>
                  <a:srgbClr val="1F3864"/>
                </a:solidFill>
                <a:latin typeface="Cambria" pitchFamily="34" charset="0"/>
                <a:ea typeface="Cambria" pitchFamily="34" charset="-122"/>
                <a:cs typeface="Cambria" pitchFamily="34" charset="-120"/>
              </a:rPr>
              <a:t>Funeral Scheme</a:t>
            </a:r>
            <a:endParaRPr lang="en-US" sz="1200" dirty="0"/>
          </a:p>
          <a:p>
            <a:pPr algn="ctr" indent="0" marL="0">
              <a:buNone/>
            </a:pPr>
            <a:r>
              <a:rPr lang="en-US" sz="1200" b="1" dirty="0">
                <a:solidFill>
                  <a:srgbClr val="1F3864"/>
                </a:solidFill>
                <a:latin typeface="Cambria" pitchFamily="34" charset="0"/>
                <a:ea typeface="Cambria" pitchFamily="34" charset="-122"/>
                <a:cs typeface="Cambria" pitchFamily="34" charset="-120"/>
              </a:rPr>
              <a:t>Product Design</a:t>
            </a:r>
            <a:endParaRPr lang="en-US" sz="1200" dirty="0"/>
          </a:p>
        </p:txBody>
      </p:sp>
      <p:sp>
        <p:nvSpPr>
          <p:cNvPr id="13" name="Text 11"/>
          <p:cNvSpPr/>
          <p:nvPr/>
        </p:nvSpPr>
        <p:spPr>
          <a:xfrm>
            <a:off x="6355080" y="2011680"/>
            <a:ext cx="2514600" cy="1051560"/>
          </a:xfrm>
          <a:prstGeom prst="rect">
            <a:avLst/>
          </a:prstGeom>
          <a:noFill/>
          <a:ln/>
        </p:spPr>
        <p:txBody>
          <a:bodyPr wrap="square" rtlCol="0" anchor="ctr"/>
          <a:lstStyle/>
          <a:p>
            <a:pPr algn="just" indent="0" marL="0">
              <a:buNone/>
            </a:pPr>
            <a:r>
              <a:rPr lang="en-US" sz="950" dirty="0">
                <a:solidFill>
                  <a:srgbClr val="111827"/>
                </a:solidFill>
                <a:latin typeface="Arial" pitchFamily="34" charset="0"/>
                <a:ea typeface="Arial" pitchFamily="34" charset="-122"/>
                <a:cs typeface="Arial" pitchFamily="34" charset="-120"/>
              </a:rPr>
              <a:t>Group funeral scheme structure, benefit schedules, underwriter selection (Guardrisk/Centriq), and FSP appointment — all requiring expertise that Praeto holds.</a:t>
            </a:r>
            <a:endParaRPr lang="en-US" sz="950" dirty="0"/>
          </a:p>
        </p:txBody>
      </p:sp>
      <p:sp>
        <p:nvSpPr>
          <p:cNvPr id="14" name="Shape 12"/>
          <p:cNvSpPr/>
          <p:nvPr/>
        </p:nvSpPr>
        <p:spPr>
          <a:xfrm>
            <a:off x="274320" y="3337560"/>
            <a:ext cx="8595360" cy="1481328"/>
          </a:xfrm>
          <a:prstGeom prst="roundRect">
            <a:avLst>
              <a:gd name="adj" fmla="val 4938"/>
            </a:avLst>
          </a:prstGeom>
          <a:solidFill>
            <a:srgbClr val="1F3864"/>
          </a:solidFill>
          <a:ln/>
        </p:spPr>
      </p:sp>
      <p:sp>
        <p:nvSpPr>
          <p:cNvPr id="15" name="Text 13"/>
          <p:cNvSpPr/>
          <p:nvPr/>
        </p:nvSpPr>
        <p:spPr>
          <a:xfrm>
            <a:off x="457200" y="3401568"/>
            <a:ext cx="8229600" cy="256032"/>
          </a:xfrm>
          <a:prstGeom prst="rect">
            <a:avLst/>
          </a:prstGeom>
          <a:noFill/>
          <a:ln/>
        </p:spPr>
        <p:txBody>
          <a:bodyPr wrap="square" rtlCol="0" anchor="ctr"/>
          <a:lstStyle/>
          <a:p>
            <a:pPr indent="0" marL="0">
              <a:buNone/>
            </a:pPr>
            <a:r>
              <a:rPr lang="en-US" sz="900" b="1" spc="400" kern="0" dirty="0">
                <a:solidFill>
                  <a:srgbClr val="C9A84C"/>
                </a:solidFill>
                <a:latin typeface="Arial" pitchFamily="34" charset="0"/>
                <a:ea typeface="Arial" pitchFamily="34" charset="-122"/>
                <a:cs typeface="Arial" pitchFamily="34" charset="-120"/>
              </a:rPr>
              <a:t>FUNERAL PARLOUR COMPLIANCE PACKAGES</a:t>
            </a:r>
            <a:endParaRPr lang="en-US" sz="900" dirty="0"/>
          </a:p>
        </p:txBody>
      </p:sp>
      <p:sp>
        <p:nvSpPr>
          <p:cNvPr id="16" name="Text 14"/>
          <p:cNvSpPr/>
          <p:nvPr/>
        </p:nvSpPr>
        <p:spPr>
          <a:xfrm>
            <a:off x="457200" y="3685032"/>
            <a:ext cx="2743200" cy="237744"/>
          </a:xfrm>
          <a:prstGeom prst="rect">
            <a:avLst/>
          </a:prstGeom>
          <a:noFill/>
          <a:ln/>
        </p:spPr>
        <p:txBody>
          <a:bodyPr wrap="square" rtlCol="0" anchor="ctr"/>
          <a:lstStyle/>
          <a:p>
            <a:pPr indent="0" marL="0">
              <a:buNone/>
            </a:pPr>
            <a:r>
              <a:rPr lang="en-US" sz="1100" b="1" dirty="0">
                <a:solidFill>
                  <a:srgbClr val="FFFFFF"/>
                </a:solidFill>
                <a:latin typeface="Arial" pitchFamily="34" charset="0"/>
                <a:ea typeface="Arial" pitchFamily="34" charset="-122"/>
                <a:cs typeface="Arial" pitchFamily="34" charset="-120"/>
              </a:rPr>
              <a:t>Starter</a:t>
            </a:r>
            <a:endParaRPr lang="en-US" sz="1100" dirty="0"/>
          </a:p>
        </p:txBody>
      </p:sp>
      <p:sp>
        <p:nvSpPr>
          <p:cNvPr id="17" name="Text 15"/>
          <p:cNvSpPr/>
          <p:nvPr/>
        </p:nvSpPr>
        <p:spPr>
          <a:xfrm>
            <a:off x="457200" y="3931920"/>
            <a:ext cx="2743200" cy="256032"/>
          </a:xfrm>
          <a:prstGeom prst="rect">
            <a:avLst/>
          </a:prstGeom>
          <a:noFill/>
          <a:ln/>
        </p:spPr>
        <p:txBody>
          <a:bodyPr wrap="square" rtlCol="0" anchor="ctr"/>
          <a:lstStyle/>
          <a:p>
            <a:pPr indent="0" marL="0">
              <a:buNone/>
            </a:pPr>
            <a:r>
              <a:rPr lang="en-US" sz="1400" b="1" dirty="0">
                <a:solidFill>
                  <a:srgbClr val="C9A84C"/>
                </a:solidFill>
                <a:latin typeface="Cambria" pitchFamily="34" charset="0"/>
                <a:ea typeface="Cambria" pitchFamily="34" charset="-122"/>
                <a:cs typeface="Cambria" pitchFamily="34" charset="-120"/>
              </a:rPr>
              <a:t>R1,500/mo</a:t>
            </a:r>
            <a:endParaRPr lang="en-US" sz="1400" dirty="0"/>
          </a:p>
        </p:txBody>
      </p:sp>
      <p:sp>
        <p:nvSpPr>
          <p:cNvPr id="18" name="Text 16"/>
          <p:cNvSpPr/>
          <p:nvPr/>
        </p:nvSpPr>
        <p:spPr>
          <a:xfrm>
            <a:off x="457200" y="4206240"/>
            <a:ext cx="2651760" cy="457200"/>
          </a:xfrm>
          <a:prstGeom prst="rect">
            <a:avLst/>
          </a:prstGeom>
          <a:noFill/>
          <a:ln/>
        </p:spPr>
        <p:txBody>
          <a:bodyPr wrap="square" rtlCol="0" anchor="ctr"/>
          <a:lstStyle/>
          <a:p>
            <a:pPr indent="0" marL="0">
              <a:buNone/>
            </a:pPr>
            <a:r>
              <a:rPr lang="en-US" sz="850" dirty="0">
                <a:solidFill>
                  <a:srgbClr val="AABBCC"/>
                </a:solidFill>
                <a:latin typeface="Arial" pitchFamily="34" charset="0"/>
                <a:ea typeface="Arial" pitchFamily="34" charset="-122"/>
                <a:cs typeface="Arial" pitchFamily="34" charset="-120"/>
              </a:rPr>
              <a:t>FSCA alert, scheme templates, NQF 4 enrolment support</a:t>
            </a:r>
            <a:endParaRPr lang="en-US" sz="850" dirty="0"/>
          </a:p>
        </p:txBody>
      </p:sp>
      <p:sp>
        <p:nvSpPr>
          <p:cNvPr id="19" name="Text 17"/>
          <p:cNvSpPr/>
          <p:nvPr/>
        </p:nvSpPr>
        <p:spPr>
          <a:xfrm>
            <a:off x="3337560" y="3685032"/>
            <a:ext cx="2743200" cy="237744"/>
          </a:xfrm>
          <a:prstGeom prst="rect">
            <a:avLst/>
          </a:prstGeom>
          <a:noFill/>
          <a:ln/>
        </p:spPr>
        <p:txBody>
          <a:bodyPr wrap="square" rtlCol="0" anchor="ctr"/>
          <a:lstStyle/>
          <a:p>
            <a:pPr indent="0" marL="0">
              <a:buNone/>
            </a:pPr>
            <a:r>
              <a:rPr lang="en-US" sz="1100" b="1" dirty="0">
                <a:solidFill>
                  <a:srgbClr val="FFFFFF"/>
                </a:solidFill>
                <a:latin typeface="Arial" pitchFamily="34" charset="0"/>
                <a:ea typeface="Arial" pitchFamily="34" charset="-122"/>
                <a:cs typeface="Arial" pitchFamily="34" charset="-120"/>
              </a:rPr>
              <a:t>Practitioner</a:t>
            </a:r>
            <a:endParaRPr lang="en-US" sz="1100" dirty="0"/>
          </a:p>
        </p:txBody>
      </p:sp>
      <p:sp>
        <p:nvSpPr>
          <p:cNvPr id="20" name="Text 18"/>
          <p:cNvSpPr/>
          <p:nvPr/>
        </p:nvSpPr>
        <p:spPr>
          <a:xfrm>
            <a:off x="3337560" y="3931920"/>
            <a:ext cx="2743200" cy="256032"/>
          </a:xfrm>
          <a:prstGeom prst="rect">
            <a:avLst/>
          </a:prstGeom>
          <a:noFill/>
          <a:ln/>
        </p:spPr>
        <p:txBody>
          <a:bodyPr wrap="square" rtlCol="0" anchor="ctr"/>
          <a:lstStyle/>
          <a:p>
            <a:pPr indent="0" marL="0">
              <a:buNone/>
            </a:pPr>
            <a:r>
              <a:rPr lang="en-US" sz="1400" b="1" dirty="0">
                <a:solidFill>
                  <a:srgbClr val="C9A84C"/>
                </a:solidFill>
                <a:latin typeface="Cambria" pitchFamily="34" charset="0"/>
                <a:ea typeface="Cambria" pitchFamily="34" charset="-122"/>
                <a:cs typeface="Cambria" pitchFamily="34" charset="-120"/>
              </a:rPr>
              <a:t>R3,500/mo</a:t>
            </a:r>
            <a:endParaRPr lang="en-US" sz="1400" dirty="0"/>
          </a:p>
        </p:txBody>
      </p:sp>
      <p:sp>
        <p:nvSpPr>
          <p:cNvPr id="21" name="Text 19"/>
          <p:cNvSpPr/>
          <p:nvPr/>
        </p:nvSpPr>
        <p:spPr>
          <a:xfrm>
            <a:off x="3337560" y="4206240"/>
            <a:ext cx="2651760" cy="457200"/>
          </a:xfrm>
          <a:prstGeom prst="rect">
            <a:avLst/>
          </a:prstGeom>
          <a:noFill/>
          <a:ln/>
        </p:spPr>
        <p:txBody>
          <a:bodyPr wrap="square" rtlCol="0" anchor="ctr"/>
          <a:lstStyle/>
          <a:p>
            <a:pPr indent="0" marL="0">
              <a:buNone/>
            </a:pPr>
            <a:r>
              <a:rPr lang="en-US" sz="850" dirty="0">
                <a:solidFill>
                  <a:srgbClr val="AABBCC"/>
                </a:solidFill>
                <a:latin typeface="Arial" pitchFamily="34" charset="0"/>
                <a:ea typeface="Arial" pitchFamily="34" charset="-122"/>
                <a:cs typeface="Arial" pitchFamily="34" charset="-120"/>
              </a:rPr>
              <a:t>Above + scheme product design, FSP appointment docs, Guardrisk/Centriq access</a:t>
            </a:r>
            <a:endParaRPr lang="en-US" sz="850" dirty="0"/>
          </a:p>
        </p:txBody>
      </p:sp>
      <p:sp>
        <p:nvSpPr>
          <p:cNvPr id="22" name="Text 20"/>
          <p:cNvSpPr/>
          <p:nvPr/>
        </p:nvSpPr>
        <p:spPr>
          <a:xfrm>
            <a:off x="6217920" y="3685032"/>
            <a:ext cx="2743200" cy="237744"/>
          </a:xfrm>
          <a:prstGeom prst="rect">
            <a:avLst/>
          </a:prstGeom>
          <a:noFill/>
          <a:ln/>
        </p:spPr>
        <p:txBody>
          <a:bodyPr wrap="square" rtlCol="0" anchor="ctr"/>
          <a:lstStyle/>
          <a:p>
            <a:pPr indent="0" marL="0">
              <a:buNone/>
            </a:pPr>
            <a:r>
              <a:rPr lang="en-US" sz="1100" b="1" dirty="0">
                <a:solidFill>
                  <a:srgbClr val="FFFFFF"/>
                </a:solidFill>
                <a:latin typeface="Arial" pitchFamily="34" charset="0"/>
                <a:ea typeface="Arial" pitchFamily="34" charset="-122"/>
                <a:cs typeface="Arial" pitchFamily="34" charset="-120"/>
              </a:rPr>
              <a:t>Full Compliance</a:t>
            </a:r>
            <a:endParaRPr lang="en-US" sz="1100" dirty="0"/>
          </a:p>
        </p:txBody>
      </p:sp>
      <p:sp>
        <p:nvSpPr>
          <p:cNvPr id="23" name="Text 21"/>
          <p:cNvSpPr/>
          <p:nvPr/>
        </p:nvSpPr>
        <p:spPr>
          <a:xfrm>
            <a:off x="6217920" y="3931920"/>
            <a:ext cx="2743200" cy="256032"/>
          </a:xfrm>
          <a:prstGeom prst="rect">
            <a:avLst/>
          </a:prstGeom>
          <a:noFill/>
          <a:ln/>
        </p:spPr>
        <p:txBody>
          <a:bodyPr wrap="square" rtlCol="0" anchor="ctr"/>
          <a:lstStyle/>
          <a:p>
            <a:pPr indent="0" marL="0">
              <a:buNone/>
            </a:pPr>
            <a:r>
              <a:rPr lang="en-US" sz="1400" b="1" dirty="0">
                <a:solidFill>
                  <a:srgbClr val="C9A84C"/>
                </a:solidFill>
                <a:latin typeface="Cambria" pitchFamily="34" charset="0"/>
                <a:ea typeface="Cambria" pitchFamily="34" charset="-122"/>
                <a:cs typeface="Cambria" pitchFamily="34" charset="-120"/>
              </a:rPr>
              <a:t>R7,500/mo</a:t>
            </a:r>
            <a:endParaRPr lang="en-US" sz="1400" dirty="0"/>
          </a:p>
        </p:txBody>
      </p:sp>
      <p:sp>
        <p:nvSpPr>
          <p:cNvPr id="24" name="Text 22"/>
          <p:cNvSpPr/>
          <p:nvPr/>
        </p:nvSpPr>
        <p:spPr>
          <a:xfrm>
            <a:off x="6217920" y="4206240"/>
            <a:ext cx="2651760" cy="457200"/>
          </a:xfrm>
          <a:prstGeom prst="rect">
            <a:avLst/>
          </a:prstGeom>
          <a:noFill/>
          <a:ln/>
        </p:spPr>
        <p:txBody>
          <a:bodyPr wrap="square" rtlCol="0" anchor="ctr"/>
          <a:lstStyle/>
          <a:p>
            <a:pPr indent="0" marL="0">
              <a:buNone/>
            </a:pPr>
            <a:r>
              <a:rPr lang="en-US" sz="850" dirty="0">
                <a:solidFill>
                  <a:srgbClr val="AABBCC"/>
                </a:solidFill>
                <a:latin typeface="Arial" pitchFamily="34" charset="0"/>
                <a:ea typeface="Arial" pitchFamily="34" charset="-122"/>
                <a:cs typeface="Arial" pitchFamily="34" charset="-120"/>
              </a:rPr>
              <a:t>Above + quarterly audit, FSCA representation, all Tiespro NQF 4 materials</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9F8F5"/>
        </a:solidFill>
      </p:bgPr>
    </p:bg>
    <p:spTree>
      <p:nvGrpSpPr>
        <p:cNvPr id="1" name=""/>
        <p:cNvGrpSpPr/>
        <p:nvPr/>
      </p:nvGrpSpPr>
      <p:grpSpPr>
        <a:xfrm>
          <a:off x="0" y="0"/>
          <a:ext cx="0" cy="0"/>
          <a:chOff x="0" y="0"/>
          <a:chExt cx="0" cy="0"/>
        </a:xfrm>
      </p:grpSpPr>
      <p:sp>
        <p:nvSpPr>
          <p:cNvPr id="2" name="Text 0"/>
          <p:cNvSpPr/>
          <p:nvPr/>
        </p:nvSpPr>
        <p:spPr>
          <a:xfrm>
            <a:off x="411480" y="201168"/>
            <a:ext cx="8229600" cy="201168"/>
          </a:xfrm>
          <a:prstGeom prst="rect">
            <a:avLst/>
          </a:prstGeom>
          <a:noFill/>
          <a:ln/>
        </p:spPr>
        <p:txBody>
          <a:bodyPr wrap="square" rtlCol="0" anchor="ctr"/>
          <a:lstStyle/>
          <a:p>
            <a:pPr indent="0" marL="0">
              <a:buNone/>
            </a:pPr>
            <a:r>
              <a:rPr lang="en-US" sz="900" b="1" spc="400" kern="0" dirty="0">
                <a:solidFill>
                  <a:srgbClr val="C9A84C"/>
                </a:solidFill>
                <a:latin typeface="Arial" pitchFamily="34" charset="0"/>
                <a:ea typeface="Arial" pitchFamily="34" charset="-122"/>
                <a:cs typeface="Arial" pitchFamily="34" charset="-120"/>
              </a:rPr>
              <a:t>SEGMENT 4 — ASSISTANCE BUSINESS FSPS</a:t>
            </a:r>
            <a:endParaRPr lang="en-US" sz="900" dirty="0"/>
          </a:p>
        </p:txBody>
      </p:sp>
      <p:sp>
        <p:nvSpPr>
          <p:cNvPr id="3" name="Text 1"/>
          <p:cNvSpPr/>
          <p:nvPr/>
        </p:nvSpPr>
        <p:spPr>
          <a:xfrm>
            <a:off x="411480" y="475488"/>
            <a:ext cx="7772400" cy="640080"/>
          </a:xfrm>
          <a:prstGeom prst="rect">
            <a:avLst/>
          </a:prstGeom>
          <a:noFill/>
          <a:ln/>
        </p:spPr>
        <p:txBody>
          <a:bodyPr wrap="square" rtlCol="0" anchor="ctr"/>
          <a:lstStyle/>
          <a:p>
            <a:pPr indent="0" marL="0">
              <a:buNone/>
            </a:pPr>
            <a:r>
              <a:rPr lang="en-US" sz="2800" b="1" dirty="0">
                <a:solidFill>
                  <a:srgbClr val="1F3864"/>
                </a:solidFill>
                <a:latin typeface="Cambria" pitchFamily="34" charset="0"/>
                <a:ea typeface="Cambria" pitchFamily="34" charset="-122"/>
                <a:cs typeface="Cambria" pitchFamily="34" charset="-120"/>
              </a:rPr>
              <a:t>Assistance-Only FSPs: Specialist Compliance Needs</a:t>
            </a:r>
            <a:endParaRPr lang="en-US" sz="2800" dirty="0"/>
          </a:p>
        </p:txBody>
      </p:sp>
      <p:sp>
        <p:nvSpPr>
          <p:cNvPr id="4" name="Shape 2"/>
          <p:cNvSpPr/>
          <p:nvPr/>
        </p:nvSpPr>
        <p:spPr>
          <a:xfrm>
            <a:off x="411480" y="1207008"/>
            <a:ext cx="8321040" cy="0"/>
          </a:xfrm>
          <a:prstGeom prst="line">
            <a:avLst/>
          </a:prstGeom>
          <a:noFill/>
          <a:ln w="19050">
            <a:solidFill>
              <a:srgbClr val="C9A84C"/>
            </a:solidFill>
            <a:prstDash val="solid"/>
          </a:ln>
        </p:spPr>
      </p:sp>
      <p:sp>
        <p:nvSpPr>
          <p:cNvPr id="5" name="Text 3"/>
          <p:cNvSpPr/>
          <p:nvPr/>
        </p:nvSpPr>
        <p:spPr>
          <a:xfrm>
            <a:off x="320040" y="1280160"/>
            <a:ext cx="8503920" cy="594360"/>
          </a:xfrm>
          <a:prstGeom prst="rect">
            <a:avLst/>
          </a:prstGeom>
          <a:noFill/>
          <a:ln/>
        </p:spPr>
        <p:txBody>
          <a:bodyPr wrap="square" rtlCol="0" anchor="ctr"/>
          <a:lstStyle/>
          <a:p>
            <a:pPr algn="just" indent="0" marL="0">
              <a:buNone/>
            </a:pPr>
            <a:r>
              <a:rPr lang="en-US" sz="1200" b="1" dirty="0">
                <a:solidFill>
                  <a:srgbClr val="111827"/>
                </a:solidFill>
                <a:latin typeface="Arial" pitchFamily="34" charset="0"/>
                <a:ea typeface="Arial" pitchFamily="34" charset="-122"/>
                <a:cs typeface="Arial" pitchFamily="34" charset="-120"/>
              </a:rPr>
              <a:t>Assistance business FSPs</a:t>
            </a:r>
            <a:pPr algn="just" indent="0" marL="0">
              <a:buNone/>
            </a:pPr>
            <a:r>
              <a:rPr lang="en-US" sz="1200" dirty="0">
                <a:solidFill>
                  <a:srgbClr val="111827"/>
                </a:solidFill>
                <a:latin typeface="Arial" pitchFamily="34" charset="0"/>
                <a:ea typeface="Arial" pitchFamily="34" charset="-122"/>
                <a:cs typeface="Arial" pitchFamily="34" charset="-120"/>
              </a:rPr>
              <a:t> are authorised under the FAIS Act specifically to render financial services in respect of assistance policies — a distinct product category under the Long-term Insurance Act. They face unique compliance obligations that generic FSP compliance programmes do not address.</a:t>
            </a:r>
            <a:endParaRPr lang="en-US" sz="1200" dirty="0"/>
          </a:p>
        </p:txBody>
      </p:sp>
      <p:sp>
        <p:nvSpPr>
          <p:cNvPr id="6" name="Shape 4"/>
          <p:cNvSpPr/>
          <p:nvPr/>
        </p:nvSpPr>
        <p:spPr>
          <a:xfrm>
            <a:off x="320040" y="1920240"/>
            <a:ext cx="4160520" cy="841248"/>
          </a:xfrm>
          <a:prstGeom prst="roundRect">
            <a:avLst>
              <a:gd name="adj" fmla="val 8696"/>
            </a:avLst>
          </a:prstGeom>
          <a:solidFill>
            <a:srgbClr val="FFFFFF"/>
          </a:solidFill>
          <a:ln w="6350">
            <a:solidFill>
              <a:srgbClr val="E5E0D5"/>
            </a:solidFill>
            <a:prstDash val="solid"/>
          </a:ln>
          <a:effectLst>
            <a:outerShdw sx="100000" sy="100000" kx="0" ky="0" algn="bl" rotWithShape="0" blurRad="101600" dist="38100" dir="2700000">
              <a:srgbClr val="000000">
                <a:alpha val="13000"/>
              </a:srgbClr>
            </a:outerShdw>
          </a:effectLst>
        </p:spPr>
      </p:sp>
      <p:sp>
        <p:nvSpPr>
          <p:cNvPr id="7" name="Text 5"/>
          <p:cNvSpPr/>
          <p:nvPr/>
        </p:nvSpPr>
        <p:spPr>
          <a:xfrm>
            <a:off x="457200" y="1965960"/>
            <a:ext cx="3886200" cy="274320"/>
          </a:xfrm>
          <a:prstGeom prst="rect">
            <a:avLst/>
          </a:prstGeom>
          <a:noFill/>
          <a:ln/>
        </p:spPr>
        <p:txBody>
          <a:bodyPr wrap="square" rtlCol="0" anchor="ctr"/>
          <a:lstStyle/>
          <a:p>
            <a:pPr indent="0" marL="0">
              <a:buNone/>
            </a:pPr>
            <a:r>
              <a:rPr lang="en-US" sz="1100" b="1" dirty="0">
                <a:solidFill>
                  <a:srgbClr val="1F3864"/>
                </a:solidFill>
                <a:latin typeface="Arial" pitchFamily="34" charset="0"/>
                <a:ea typeface="Arial" pitchFamily="34" charset="-122"/>
                <a:cs typeface="Arial" pitchFamily="34" charset="-120"/>
              </a:rPr>
              <a:t>Dedicated Assistance Policy ROA Templates</a:t>
            </a:r>
            <a:endParaRPr lang="en-US" sz="1100" dirty="0"/>
          </a:p>
        </p:txBody>
      </p:sp>
      <p:sp>
        <p:nvSpPr>
          <p:cNvPr id="8" name="Text 6"/>
          <p:cNvSpPr/>
          <p:nvPr/>
        </p:nvSpPr>
        <p:spPr>
          <a:xfrm>
            <a:off x="457200" y="2240280"/>
            <a:ext cx="3886200" cy="457200"/>
          </a:xfrm>
          <a:prstGeom prst="rect">
            <a:avLst/>
          </a:prstGeom>
          <a:noFill/>
          <a:ln/>
        </p:spPr>
        <p:txBody>
          <a:bodyPr wrap="square" rtlCol="0" anchor="ctr"/>
          <a:lstStyle/>
          <a:p>
            <a:pPr indent="0" marL="0">
              <a:buNone/>
            </a:pPr>
            <a:r>
              <a:rPr lang="en-US" sz="900" dirty="0">
                <a:solidFill>
                  <a:srgbClr val="111827"/>
                </a:solidFill>
                <a:latin typeface="Arial" pitchFamily="34" charset="0"/>
                <a:ea typeface="Arial" pitchFamily="34" charset="-122"/>
                <a:cs typeface="Arial" pitchFamily="34" charset="-120"/>
              </a:rPr>
              <a:t>FAIS-compliant ROAs for assistance business products — benefit limits, exclusions, waiting periods, and cooling-off rights specific to the product class.</a:t>
            </a:r>
            <a:endParaRPr lang="en-US" sz="900" dirty="0"/>
          </a:p>
        </p:txBody>
      </p:sp>
      <p:sp>
        <p:nvSpPr>
          <p:cNvPr id="9" name="Shape 7"/>
          <p:cNvSpPr/>
          <p:nvPr/>
        </p:nvSpPr>
        <p:spPr>
          <a:xfrm>
            <a:off x="320040" y="2880360"/>
            <a:ext cx="4160520" cy="841248"/>
          </a:xfrm>
          <a:prstGeom prst="roundRect">
            <a:avLst>
              <a:gd name="adj" fmla="val 8696"/>
            </a:avLst>
          </a:prstGeom>
          <a:solidFill>
            <a:srgbClr val="FFFFFF"/>
          </a:solidFill>
          <a:ln w="6350">
            <a:solidFill>
              <a:srgbClr val="E5E0D5"/>
            </a:solidFill>
            <a:prstDash val="solid"/>
          </a:ln>
          <a:effectLst>
            <a:outerShdw sx="100000" sy="100000" kx="0" ky="0" algn="bl" rotWithShape="0" blurRad="101600" dist="38100" dir="2700000">
              <a:srgbClr val="000000">
                <a:alpha val="13000"/>
              </a:srgbClr>
            </a:outerShdw>
          </a:effectLst>
        </p:spPr>
      </p:sp>
      <p:sp>
        <p:nvSpPr>
          <p:cNvPr id="10" name="Text 8"/>
          <p:cNvSpPr/>
          <p:nvPr/>
        </p:nvSpPr>
        <p:spPr>
          <a:xfrm>
            <a:off x="457200" y="2926080"/>
            <a:ext cx="3886200" cy="274320"/>
          </a:xfrm>
          <a:prstGeom prst="rect">
            <a:avLst/>
          </a:prstGeom>
          <a:noFill/>
          <a:ln/>
        </p:spPr>
        <p:txBody>
          <a:bodyPr wrap="square" rtlCol="0" anchor="ctr"/>
          <a:lstStyle/>
          <a:p>
            <a:pPr indent="0" marL="0">
              <a:buNone/>
            </a:pPr>
            <a:r>
              <a:rPr lang="en-US" sz="1100" b="1" dirty="0">
                <a:solidFill>
                  <a:srgbClr val="1F3864"/>
                </a:solidFill>
                <a:latin typeface="Arial" pitchFamily="34" charset="0"/>
                <a:ea typeface="Arial" pitchFamily="34" charset="-122"/>
                <a:cs typeface="Arial" pitchFamily="34" charset="-120"/>
              </a:rPr>
              <a:t>Long-term Insurance Act s.44 Compliance</a:t>
            </a:r>
            <a:endParaRPr lang="en-US" sz="1100" dirty="0"/>
          </a:p>
        </p:txBody>
      </p:sp>
      <p:sp>
        <p:nvSpPr>
          <p:cNvPr id="11" name="Text 9"/>
          <p:cNvSpPr/>
          <p:nvPr/>
        </p:nvSpPr>
        <p:spPr>
          <a:xfrm>
            <a:off x="457200" y="3200400"/>
            <a:ext cx="3886200" cy="457200"/>
          </a:xfrm>
          <a:prstGeom prst="rect">
            <a:avLst/>
          </a:prstGeom>
          <a:noFill/>
          <a:ln/>
        </p:spPr>
        <p:txBody>
          <a:bodyPr wrap="square" rtlCol="0" anchor="ctr"/>
          <a:lstStyle/>
          <a:p>
            <a:pPr indent="0" marL="0">
              <a:buNone/>
            </a:pPr>
            <a:r>
              <a:rPr lang="en-US" sz="900" dirty="0">
                <a:solidFill>
                  <a:srgbClr val="111827"/>
                </a:solidFill>
                <a:latin typeface="Arial" pitchFamily="34" charset="0"/>
                <a:ea typeface="Arial" pitchFamily="34" charset="-122"/>
                <a:cs typeface="Arial" pitchFamily="34" charset="-120"/>
              </a:rPr>
              <a:t>Benefit schedule requirements, commission caps (10% of premium), and claims management obligations distinct from conventional life products.</a:t>
            </a:r>
            <a:endParaRPr lang="en-US" sz="900" dirty="0"/>
          </a:p>
        </p:txBody>
      </p:sp>
      <p:sp>
        <p:nvSpPr>
          <p:cNvPr id="12" name="Shape 10"/>
          <p:cNvSpPr/>
          <p:nvPr/>
        </p:nvSpPr>
        <p:spPr>
          <a:xfrm>
            <a:off x="320040" y="3840480"/>
            <a:ext cx="4160520" cy="841248"/>
          </a:xfrm>
          <a:prstGeom prst="roundRect">
            <a:avLst>
              <a:gd name="adj" fmla="val 8696"/>
            </a:avLst>
          </a:prstGeom>
          <a:solidFill>
            <a:srgbClr val="FFFFFF"/>
          </a:solidFill>
          <a:ln w="6350">
            <a:solidFill>
              <a:srgbClr val="E5E0D5"/>
            </a:solidFill>
            <a:prstDash val="solid"/>
          </a:ln>
          <a:effectLst>
            <a:outerShdw sx="100000" sy="100000" kx="0" ky="0" algn="bl" rotWithShape="0" blurRad="101600" dist="38100" dir="2700000">
              <a:srgbClr val="000000">
                <a:alpha val="13000"/>
              </a:srgbClr>
            </a:outerShdw>
          </a:effectLst>
        </p:spPr>
      </p:sp>
      <p:sp>
        <p:nvSpPr>
          <p:cNvPr id="13" name="Text 11"/>
          <p:cNvSpPr/>
          <p:nvPr/>
        </p:nvSpPr>
        <p:spPr>
          <a:xfrm>
            <a:off x="457200" y="3886200"/>
            <a:ext cx="3886200" cy="274320"/>
          </a:xfrm>
          <a:prstGeom prst="rect">
            <a:avLst/>
          </a:prstGeom>
          <a:noFill/>
          <a:ln/>
        </p:spPr>
        <p:txBody>
          <a:bodyPr wrap="square" rtlCol="0" anchor="ctr"/>
          <a:lstStyle/>
          <a:p>
            <a:pPr indent="0" marL="0">
              <a:buNone/>
            </a:pPr>
            <a:r>
              <a:rPr lang="en-US" sz="1100" b="1" dirty="0">
                <a:solidFill>
                  <a:srgbClr val="1F3864"/>
                </a:solidFill>
                <a:latin typeface="Arial" pitchFamily="34" charset="0"/>
                <a:ea typeface="Arial" pitchFamily="34" charset="-122"/>
                <a:cs typeface="Arial" pitchFamily="34" charset="-120"/>
              </a:rPr>
              <a:t>FSCA Category Sub-classification</a:t>
            </a:r>
            <a:endParaRPr lang="en-US" sz="1100" dirty="0"/>
          </a:p>
        </p:txBody>
      </p:sp>
      <p:sp>
        <p:nvSpPr>
          <p:cNvPr id="14" name="Text 12"/>
          <p:cNvSpPr/>
          <p:nvPr/>
        </p:nvSpPr>
        <p:spPr>
          <a:xfrm>
            <a:off x="457200" y="4160520"/>
            <a:ext cx="3886200" cy="457200"/>
          </a:xfrm>
          <a:prstGeom prst="rect">
            <a:avLst/>
          </a:prstGeom>
          <a:noFill/>
          <a:ln/>
        </p:spPr>
        <p:txBody>
          <a:bodyPr wrap="square" rtlCol="0" anchor="ctr"/>
          <a:lstStyle/>
          <a:p>
            <a:pPr indent="0" marL="0">
              <a:buNone/>
            </a:pPr>
            <a:r>
              <a:rPr lang="en-US" sz="900" dirty="0">
                <a:solidFill>
                  <a:srgbClr val="111827"/>
                </a:solidFill>
                <a:latin typeface="Arial" pitchFamily="34" charset="0"/>
                <a:ea typeface="Arial" pitchFamily="34" charset="-122"/>
                <a:cs typeface="Arial" pitchFamily="34" charset="-120"/>
              </a:rPr>
              <a:t>Many assistance FSPs hold incorrect sub-class authorisations. Praeto's KI review identifies and corrects classification gaps before FSCA audit.</a:t>
            </a:r>
            <a:endParaRPr lang="en-US" sz="900" dirty="0"/>
          </a:p>
        </p:txBody>
      </p:sp>
      <p:sp>
        <p:nvSpPr>
          <p:cNvPr id="15" name="Shape 13"/>
          <p:cNvSpPr/>
          <p:nvPr/>
        </p:nvSpPr>
        <p:spPr>
          <a:xfrm>
            <a:off x="4663440" y="1920240"/>
            <a:ext cx="4160520" cy="841248"/>
          </a:xfrm>
          <a:prstGeom prst="roundRect">
            <a:avLst>
              <a:gd name="adj" fmla="val 8696"/>
            </a:avLst>
          </a:prstGeom>
          <a:solidFill>
            <a:srgbClr val="FFFFFF"/>
          </a:solidFill>
          <a:ln w="6350">
            <a:solidFill>
              <a:srgbClr val="E5E0D5"/>
            </a:solidFill>
            <a:prstDash val="solid"/>
          </a:ln>
          <a:effectLst>
            <a:outerShdw sx="100000" sy="100000" kx="0" ky="0" algn="bl" rotWithShape="0" blurRad="101600" dist="38100" dir="2700000">
              <a:srgbClr val="000000">
                <a:alpha val="13000"/>
              </a:srgbClr>
            </a:outerShdw>
          </a:effectLst>
        </p:spPr>
      </p:sp>
      <p:sp>
        <p:nvSpPr>
          <p:cNvPr id="16" name="Text 14"/>
          <p:cNvSpPr/>
          <p:nvPr/>
        </p:nvSpPr>
        <p:spPr>
          <a:xfrm>
            <a:off x="4800600" y="1965960"/>
            <a:ext cx="3886200" cy="274320"/>
          </a:xfrm>
          <a:prstGeom prst="rect">
            <a:avLst/>
          </a:prstGeom>
          <a:noFill/>
          <a:ln/>
        </p:spPr>
        <p:txBody>
          <a:bodyPr wrap="square" rtlCol="0" anchor="ctr"/>
          <a:lstStyle/>
          <a:p>
            <a:pPr indent="0" marL="0">
              <a:buNone/>
            </a:pPr>
            <a:r>
              <a:rPr lang="en-US" sz="1100" b="1" dirty="0">
                <a:solidFill>
                  <a:srgbClr val="1F3864"/>
                </a:solidFill>
                <a:latin typeface="Arial" pitchFamily="34" charset="0"/>
                <a:ea typeface="Arial" pitchFamily="34" charset="-122"/>
                <a:cs typeface="Arial" pitchFamily="34" charset="-120"/>
              </a:rPr>
              <a:t>Group Assistance Scheme Structuring</a:t>
            </a:r>
            <a:endParaRPr lang="en-US" sz="1100" dirty="0"/>
          </a:p>
        </p:txBody>
      </p:sp>
      <p:sp>
        <p:nvSpPr>
          <p:cNvPr id="17" name="Text 15"/>
          <p:cNvSpPr/>
          <p:nvPr/>
        </p:nvSpPr>
        <p:spPr>
          <a:xfrm>
            <a:off x="4800600" y="2240280"/>
            <a:ext cx="3886200" cy="457200"/>
          </a:xfrm>
          <a:prstGeom prst="rect">
            <a:avLst/>
          </a:prstGeom>
          <a:noFill/>
          <a:ln/>
        </p:spPr>
        <p:txBody>
          <a:bodyPr wrap="square" rtlCol="0" anchor="ctr"/>
          <a:lstStyle/>
          <a:p>
            <a:pPr indent="0" marL="0">
              <a:buNone/>
            </a:pPr>
            <a:r>
              <a:rPr lang="en-US" sz="900" dirty="0">
                <a:solidFill>
                  <a:srgbClr val="111827"/>
                </a:solidFill>
                <a:latin typeface="Arial" pitchFamily="34" charset="0"/>
                <a:ea typeface="Arial" pitchFamily="34" charset="-122"/>
                <a:cs typeface="Arial" pitchFamily="34" charset="-120"/>
              </a:rPr>
              <a:t>Group scheme documentation, member data management, and premium collection frameworks for employer-sponsored assistance schemes.</a:t>
            </a:r>
            <a:endParaRPr lang="en-US" sz="900" dirty="0"/>
          </a:p>
        </p:txBody>
      </p:sp>
      <p:sp>
        <p:nvSpPr>
          <p:cNvPr id="18" name="Shape 16"/>
          <p:cNvSpPr/>
          <p:nvPr/>
        </p:nvSpPr>
        <p:spPr>
          <a:xfrm>
            <a:off x="4663440" y="2880360"/>
            <a:ext cx="4160520" cy="841248"/>
          </a:xfrm>
          <a:prstGeom prst="roundRect">
            <a:avLst>
              <a:gd name="adj" fmla="val 8696"/>
            </a:avLst>
          </a:prstGeom>
          <a:solidFill>
            <a:srgbClr val="FFFFFF"/>
          </a:solidFill>
          <a:ln w="6350">
            <a:solidFill>
              <a:srgbClr val="E5E0D5"/>
            </a:solidFill>
            <a:prstDash val="solid"/>
          </a:ln>
          <a:effectLst>
            <a:outerShdw sx="100000" sy="100000" kx="0" ky="0" algn="bl" rotWithShape="0" blurRad="101600" dist="38100" dir="2700000">
              <a:srgbClr val="000000">
                <a:alpha val="13000"/>
              </a:srgbClr>
            </a:outerShdw>
          </a:effectLst>
        </p:spPr>
      </p:sp>
      <p:sp>
        <p:nvSpPr>
          <p:cNvPr id="19" name="Text 17"/>
          <p:cNvSpPr/>
          <p:nvPr/>
        </p:nvSpPr>
        <p:spPr>
          <a:xfrm>
            <a:off x="4800600" y="2926080"/>
            <a:ext cx="3886200" cy="274320"/>
          </a:xfrm>
          <a:prstGeom prst="rect">
            <a:avLst/>
          </a:prstGeom>
          <a:noFill/>
          <a:ln/>
        </p:spPr>
        <p:txBody>
          <a:bodyPr wrap="square" rtlCol="0" anchor="ctr"/>
          <a:lstStyle/>
          <a:p>
            <a:pPr indent="0" marL="0">
              <a:buNone/>
            </a:pPr>
            <a:r>
              <a:rPr lang="en-US" sz="1100" b="1" dirty="0">
                <a:solidFill>
                  <a:srgbClr val="1F3864"/>
                </a:solidFill>
                <a:latin typeface="Arial" pitchFamily="34" charset="0"/>
                <a:ea typeface="Arial" pitchFamily="34" charset="-122"/>
                <a:cs typeface="Arial" pitchFamily="34" charset="-120"/>
              </a:rPr>
              <a:t>Cell Captive Access (Guardrisk/Centriq)</a:t>
            </a:r>
            <a:endParaRPr lang="en-US" sz="1100" dirty="0"/>
          </a:p>
        </p:txBody>
      </p:sp>
      <p:sp>
        <p:nvSpPr>
          <p:cNvPr id="20" name="Text 18"/>
          <p:cNvSpPr/>
          <p:nvPr/>
        </p:nvSpPr>
        <p:spPr>
          <a:xfrm>
            <a:off x="4800600" y="3200400"/>
            <a:ext cx="3886200" cy="457200"/>
          </a:xfrm>
          <a:prstGeom prst="rect">
            <a:avLst/>
          </a:prstGeom>
          <a:noFill/>
          <a:ln/>
        </p:spPr>
        <p:txBody>
          <a:bodyPr wrap="square" rtlCol="0" anchor="ctr"/>
          <a:lstStyle/>
          <a:p>
            <a:pPr indent="0" marL="0">
              <a:buNone/>
            </a:pPr>
            <a:r>
              <a:rPr lang="en-US" sz="900" dirty="0">
                <a:solidFill>
                  <a:srgbClr val="111827"/>
                </a:solidFill>
                <a:latin typeface="Arial" pitchFamily="34" charset="0"/>
                <a:ea typeface="Arial" pitchFamily="34" charset="-122"/>
                <a:cs typeface="Arial" pitchFamily="34" charset="-120"/>
              </a:rPr>
              <a:t>Assistance business FSPs can access cell captive participation agreements through Praeto's existing insurer relationships — no direct underwriter negotiation.</a:t>
            </a:r>
            <a:endParaRPr lang="en-US" sz="900" dirty="0"/>
          </a:p>
        </p:txBody>
      </p:sp>
      <p:sp>
        <p:nvSpPr>
          <p:cNvPr id="21" name="Shape 19"/>
          <p:cNvSpPr/>
          <p:nvPr/>
        </p:nvSpPr>
        <p:spPr>
          <a:xfrm>
            <a:off x="4663440" y="3840480"/>
            <a:ext cx="4160520" cy="841248"/>
          </a:xfrm>
          <a:prstGeom prst="roundRect">
            <a:avLst>
              <a:gd name="adj" fmla="val 8696"/>
            </a:avLst>
          </a:prstGeom>
          <a:solidFill>
            <a:srgbClr val="FFF8F0"/>
          </a:solidFill>
          <a:ln w="6350">
            <a:solidFill>
              <a:srgbClr val="E5E0D5"/>
            </a:solidFill>
            <a:prstDash val="solid"/>
          </a:ln>
          <a:effectLst>
            <a:outerShdw sx="100000" sy="100000" kx="0" ky="0" algn="bl" rotWithShape="0" blurRad="101600" dist="38100" dir="2700000">
              <a:srgbClr val="000000">
                <a:alpha val="13000"/>
              </a:srgbClr>
            </a:outerShdw>
          </a:effectLst>
        </p:spPr>
      </p:sp>
      <p:sp>
        <p:nvSpPr>
          <p:cNvPr id="22" name="Text 20"/>
          <p:cNvSpPr/>
          <p:nvPr/>
        </p:nvSpPr>
        <p:spPr>
          <a:xfrm>
            <a:off x="4800600" y="3886200"/>
            <a:ext cx="3886200" cy="274320"/>
          </a:xfrm>
          <a:prstGeom prst="rect">
            <a:avLst/>
          </a:prstGeom>
          <a:noFill/>
          <a:ln/>
        </p:spPr>
        <p:txBody>
          <a:bodyPr wrap="square" rtlCol="0" anchor="ctr"/>
          <a:lstStyle/>
          <a:p>
            <a:pPr indent="0" marL="0">
              <a:buNone/>
            </a:pPr>
            <a:r>
              <a:rPr lang="en-US" sz="1100" b="1" dirty="0">
                <a:solidFill>
                  <a:srgbClr val="1F3864"/>
                </a:solidFill>
                <a:latin typeface="Arial" pitchFamily="34" charset="0"/>
                <a:ea typeface="Arial" pitchFamily="34" charset="-122"/>
                <a:cs typeface="Arial" pitchFamily="34" charset="-120"/>
              </a:rPr>
              <a:t>Assistance Business Pricing</a:t>
            </a:r>
            <a:endParaRPr lang="en-US" sz="1100" dirty="0"/>
          </a:p>
        </p:txBody>
      </p:sp>
      <p:sp>
        <p:nvSpPr>
          <p:cNvPr id="23" name="Text 21"/>
          <p:cNvSpPr/>
          <p:nvPr/>
        </p:nvSpPr>
        <p:spPr>
          <a:xfrm>
            <a:off x="4800600" y="4160520"/>
            <a:ext cx="3886200" cy="457200"/>
          </a:xfrm>
          <a:prstGeom prst="rect">
            <a:avLst/>
          </a:prstGeom>
          <a:noFill/>
          <a:ln/>
        </p:spPr>
        <p:txBody>
          <a:bodyPr wrap="square" rtlCol="0" anchor="ctr"/>
          <a:lstStyle/>
          <a:p>
            <a:pPr indent="0" marL="0">
              <a:buNone/>
            </a:pPr>
            <a:r>
              <a:rPr lang="en-US" sz="900" dirty="0">
                <a:solidFill>
                  <a:srgbClr val="111827"/>
                </a:solidFill>
                <a:latin typeface="Arial" pitchFamily="34" charset="0"/>
                <a:ea typeface="Arial" pitchFamily="34" charset="-122"/>
                <a:cs typeface="Arial" pitchFamily="34" charset="-120"/>
              </a:rPr>
              <a:t>R2,000/month Foundation · R4,000/month Practitioner · R10,000/month Elite KI</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11480" y="201168"/>
            <a:ext cx="8229600" cy="201168"/>
          </a:xfrm>
          <a:prstGeom prst="rect">
            <a:avLst/>
          </a:prstGeom>
          <a:noFill/>
          <a:ln/>
        </p:spPr>
        <p:txBody>
          <a:bodyPr wrap="square" rtlCol="0" anchor="ctr"/>
          <a:lstStyle/>
          <a:p>
            <a:pPr indent="0" marL="0">
              <a:buNone/>
            </a:pPr>
            <a:r>
              <a:rPr lang="en-US" sz="900" b="1" spc="400" kern="0" dirty="0">
                <a:solidFill>
                  <a:srgbClr val="C9A84C"/>
                </a:solidFill>
                <a:latin typeface="Arial" pitchFamily="34" charset="0"/>
                <a:ea typeface="Arial" pitchFamily="34" charset="-122"/>
                <a:cs typeface="Arial" pitchFamily="34" charset="-120"/>
              </a:rPr>
              <a:t>FINANCIAL MODEL — FIVE SEGMENTS CONSOLIDATED</a:t>
            </a:r>
            <a:endParaRPr lang="en-US" sz="900" dirty="0"/>
          </a:p>
        </p:txBody>
      </p:sp>
      <p:sp>
        <p:nvSpPr>
          <p:cNvPr id="3" name="Text 1"/>
          <p:cNvSpPr/>
          <p:nvPr/>
        </p:nvSpPr>
        <p:spPr>
          <a:xfrm>
            <a:off x="411480" y="475488"/>
            <a:ext cx="7772400" cy="640080"/>
          </a:xfrm>
          <a:prstGeom prst="rect">
            <a:avLst/>
          </a:prstGeom>
          <a:noFill/>
          <a:ln/>
        </p:spPr>
        <p:txBody>
          <a:bodyPr wrap="square" rtlCol="0" anchor="ctr"/>
          <a:lstStyle/>
          <a:p>
            <a:pPr indent="0" marL="0">
              <a:buNone/>
            </a:pPr>
            <a:r>
              <a:rPr lang="en-US" sz="2800" b="1" dirty="0">
                <a:solidFill>
                  <a:srgbClr val="1F3864"/>
                </a:solidFill>
                <a:latin typeface="Cambria" pitchFamily="34" charset="0"/>
                <a:ea typeface="Cambria" pitchFamily="34" charset="-122"/>
                <a:cs typeface="Cambria" pitchFamily="34" charset="-120"/>
              </a:rPr>
              <a:t>Revenue Architecture: R18.5M+ at Full Deployment</a:t>
            </a:r>
            <a:endParaRPr lang="en-US" sz="2800" dirty="0"/>
          </a:p>
        </p:txBody>
      </p:sp>
      <p:sp>
        <p:nvSpPr>
          <p:cNvPr id="4" name="Shape 2"/>
          <p:cNvSpPr/>
          <p:nvPr/>
        </p:nvSpPr>
        <p:spPr>
          <a:xfrm>
            <a:off x="411480" y="1207008"/>
            <a:ext cx="8321040" cy="0"/>
          </a:xfrm>
          <a:prstGeom prst="line">
            <a:avLst/>
          </a:prstGeom>
          <a:noFill/>
          <a:ln w="19050">
            <a:solidFill>
              <a:srgbClr val="C9A84C"/>
            </a:solidFill>
            <a:prstDash val="solid"/>
          </a:ln>
        </p:spPr>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274320" y="1298448"/>
          <a:ext cx="8595360" cy="3520440"/>
        </p:xfrm>
        <a:graphic>
          <a:graphicData uri="http://schemas.openxmlformats.org/drawingml/2006/table">
            <a:tbl>
              <a:tblPr/>
              <a:tblGrid>
                <a:gridCol w="2377440"/>
                <a:gridCol w="1828800"/>
                <a:gridCol w="1463040"/>
                <a:gridCol w="1554480"/>
                <a:gridCol w="1371600"/>
              </a:tblGrid>
              <a:tr h="502920">
                <a:tc>
                  <a:txBody>
                    <a:bodyPr/>
                    <a:lstStyle/>
                    <a:p>
                      <a:pPr indent="0" marL="0">
                        <a:buNone/>
                      </a:pPr>
                      <a:r>
                        <a:rPr lang="en-US" sz="1000" b="1" dirty="0">
                          <a:solidFill>
                            <a:srgbClr val="FFFFFF"/>
                          </a:solidFill>
                          <a:latin typeface="Arial" pitchFamily="34" charset="0"/>
                          <a:ea typeface="Arial" pitchFamily="34" charset="-122"/>
                          <a:cs typeface="Arial" pitchFamily="34" charset="-120"/>
                        </a:rPr>
                        <a:t>Segment</a:t>
                      </a:r>
                      <a:endParaRPr lang="en-US" sz="1000" dirty="0">
                        <a:latin typeface="Arial" charset="0"/>
                        <a:ea typeface="Arial" charset="0"/>
                        <a:cs typeface="Arial" charset="0"/>
                      </a:endParaRPr>
                    </a:p>
                  </a:txBody>
                  <a:tcPr marL="91440" marR="91440" marT="45720" marB="45720">
                    <a:lnL w="6350" cap="flat" cmpd="sng" algn="ctr">
                      <a:solidFill>
                        <a:srgbClr val="D5D0C8"/>
                      </a:solidFill>
                      <a:prstDash val="solid"/>
                      <a:round/>
                      <a:headEnd type="none" w="med" len="med"/>
                      <a:tailEnd type="none" w="med" len="med"/>
                    </a:lnL>
                    <a:lnR w="6350" cap="flat" cmpd="sng" algn="ctr">
                      <a:solidFill>
                        <a:srgbClr val="D5D0C8"/>
                      </a:solidFill>
                      <a:prstDash val="solid"/>
                      <a:round/>
                      <a:headEnd type="none" w="med" len="med"/>
                      <a:tailEnd type="none" w="med" len="med"/>
                    </a:lnR>
                    <a:lnT w="6350" cap="flat" cmpd="sng" algn="ctr">
                      <a:solidFill>
                        <a:srgbClr val="D5D0C8"/>
                      </a:solidFill>
                      <a:prstDash val="solid"/>
                      <a:round/>
                      <a:headEnd type="none" w="med" len="med"/>
                      <a:tailEnd type="none" w="med" len="med"/>
                    </a:lnT>
                    <a:lnB w="6350" cap="flat" cmpd="sng" algn="ctr">
                      <a:solidFill>
                        <a:srgbClr val="D5D0C8"/>
                      </a:solidFill>
                      <a:prstDash val="solid"/>
                      <a:round/>
                      <a:headEnd type="none" w="med" len="med"/>
                      <a:tailEnd type="none" w="med" len="med"/>
                    </a:lnB>
                    <a:solidFill>
                      <a:srgbClr val="1F3864"/>
                    </a:solidFill>
                  </a:tcPr>
                </a:tc>
                <a:tc>
                  <a:txBody>
                    <a:bodyPr/>
                    <a:lstStyle/>
                    <a:p>
                      <a:pPr indent="0" marL="0">
                        <a:buNone/>
                      </a:pPr>
                      <a:r>
                        <a:rPr lang="en-US" sz="1000" b="1" dirty="0">
                          <a:solidFill>
                            <a:srgbClr val="C9A84C"/>
                          </a:solidFill>
                          <a:latin typeface="Arial" pitchFamily="34" charset="0"/>
                          <a:ea typeface="Arial" pitchFamily="34" charset="-122"/>
                          <a:cs typeface="Arial" pitchFamily="34" charset="-120"/>
                        </a:rPr>
                        <a:t>Tier / Price</a:t>
                      </a:r>
                      <a:endParaRPr lang="en-US" sz="1000" dirty="0">
                        <a:latin typeface="Arial" charset="0"/>
                        <a:ea typeface="Arial" charset="0"/>
                        <a:cs typeface="Arial" charset="0"/>
                      </a:endParaRPr>
                    </a:p>
                  </a:txBody>
                  <a:tcPr marL="91440" marR="91440" marT="45720" marB="45720">
                    <a:lnL w="6350" cap="flat" cmpd="sng" algn="ctr">
                      <a:solidFill>
                        <a:srgbClr val="D5D0C8"/>
                      </a:solidFill>
                      <a:prstDash val="solid"/>
                      <a:round/>
                      <a:headEnd type="none" w="med" len="med"/>
                      <a:tailEnd type="none" w="med" len="med"/>
                    </a:lnL>
                    <a:lnR w="6350" cap="flat" cmpd="sng" algn="ctr">
                      <a:solidFill>
                        <a:srgbClr val="D5D0C8"/>
                      </a:solidFill>
                      <a:prstDash val="solid"/>
                      <a:round/>
                      <a:headEnd type="none" w="med" len="med"/>
                      <a:tailEnd type="none" w="med" len="med"/>
                    </a:lnR>
                    <a:lnT w="6350" cap="flat" cmpd="sng" algn="ctr">
                      <a:solidFill>
                        <a:srgbClr val="D5D0C8"/>
                      </a:solidFill>
                      <a:prstDash val="solid"/>
                      <a:round/>
                      <a:headEnd type="none" w="med" len="med"/>
                      <a:tailEnd type="none" w="med" len="med"/>
                    </a:lnT>
                    <a:lnB w="6350" cap="flat" cmpd="sng" algn="ctr">
                      <a:solidFill>
                        <a:srgbClr val="D5D0C8"/>
                      </a:solidFill>
                      <a:prstDash val="solid"/>
                      <a:round/>
                      <a:headEnd type="none" w="med" len="med"/>
                      <a:tailEnd type="none" w="med" len="med"/>
                    </a:lnB>
                    <a:solidFill>
                      <a:srgbClr val="1F3864"/>
                    </a:solidFill>
                  </a:tcPr>
                </a:tc>
                <a:tc>
                  <a:txBody>
                    <a:bodyPr/>
                    <a:lstStyle/>
                    <a:p>
                      <a:pPr indent="0" marL="0">
                        <a:buNone/>
                      </a:pPr>
                      <a:r>
                        <a:rPr lang="en-US" sz="1000" b="1" dirty="0">
                          <a:solidFill>
                            <a:srgbClr val="FFFFFF"/>
                          </a:solidFill>
                          <a:latin typeface="Arial" pitchFamily="34" charset="0"/>
                          <a:ea typeface="Arial" pitchFamily="34" charset="-122"/>
                          <a:cs typeface="Arial" pitchFamily="34" charset="-120"/>
                        </a:rPr>
                        <a:t>Yr 1 Members</a:t>
                      </a:r>
                      <a:endParaRPr lang="en-US" sz="1000" dirty="0">
                        <a:latin typeface="Arial" charset="0"/>
                        <a:ea typeface="Arial" charset="0"/>
                        <a:cs typeface="Arial" charset="0"/>
                      </a:endParaRPr>
                    </a:p>
                  </a:txBody>
                  <a:tcPr marL="91440" marR="91440" marT="45720" marB="45720">
                    <a:lnL w="6350" cap="flat" cmpd="sng" algn="ctr">
                      <a:solidFill>
                        <a:srgbClr val="D5D0C8"/>
                      </a:solidFill>
                      <a:prstDash val="solid"/>
                      <a:round/>
                      <a:headEnd type="none" w="med" len="med"/>
                      <a:tailEnd type="none" w="med" len="med"/>
                    </a:lnL>
                    <a:lnR w="6350" cap="flat" cmpd="sng" algn="ctr">
                      <a:solidFill>
                        <a:srgbClr val="D5D0C8"/>
                      </a:solidFill>
                      <a:prstDash val="solid"/>
                      <a:round/>
                      <a:headEnd type="none" w="med" len="med"/>
                      <a:tailEnd type="none" w="med" len="med"/>
                    </a:lnR>
                    <a:lnT w="6350" cap="flat" cmpd="sng" algn="ctr">
                      <a:solidFill>
                        <a:srgbClr val="D5D0C8"/>
                      </a:solidFill>
                      <a:prstDash val="solid"/>
                      <a:round/>
                      <a:headEnd type="none" w="med" len="med"/>
                      <a:tailEnd type="none" w="med" len="med"/>
                    </a:lnT>
                    <a:lnB w="6350" cap="flat" cmpd="sng" algn="ctr">
                      <a:solidFill>
                        <a:srgbClr val="D5D0C8"/>
                      </a:solidFill>
                      <a:prstDash val="solid"/>
                      <a:round/>
                      <a:headEnd type="none" w="med" len="med"/>
                      <a:tailEnd type="none" w="med" len="med"/>
                    </a:lnB>
                    <a:solidFill>
                      <a:srgbClr val="1F3864"/>
                    </a:solidFill>
                  </a:tcPr>
                </a:tc>
                <a:tc>
                  <a:txBody>
                    <a:bodyPr/>
                    <a:lstStyle/>
                    <a:p>
                      <a:pPr indent="0" marL="0">
                        <a:buNone/>
                      </a:pPr>
                      <a:r>
                        <a:rPr lang="en-US" sz="1000" b="1" dirty="0">
                          <a:solidFill>
                            <a:srgbClr val="FFFFFF"/>
                          </a:solidFill>
                          <a:latin typeface="Arial" pitchFamily="34" charset="0"/>
                          <a:ea typeface="Arial" pitchFamily="34" charset="-122"/>
                          <a:cs typeface="Arial" pitchFamily="34" charset="-120"/>
                        </a:rPr>
                        <a:t>MRR Target</a:t>
                      </a:r>
                      <a:endParaRPr lang="en-US" sz="1000" dirty="0">
                        <a:latin typeface="Arial" charset="0"/>
                        <a:ea typeface="Arial" charset="0"/>
                        <a:cs typeface="Arial" charset="0"/>
                      </a:endParaRPr>
                    </a:p>
                  </a:txBody>
                  <a:tcPr marL="91440" marR="91440" marT="45720" marB="45720">
                    <a:lnL w="6350" cap="flat" cmpd="sng" algn="ctr">
                      <a:solidFill>
                        <a:srgbClr val="D5D0C8"/>
                      </a:solidFill>
                      <a:prstDash val="solid"/>
                      <a:round/>
                      <a:headEnd type="none" w="med" len="med"/>
                      <a:tailEnd type="none" w="med" len="med"/>
                    </a:lnL>
                    <a:lnR w="6350" cap="flat" cmpd="sng" algn="ctr">
                      <a:solidFill>
                        <a:srgbClr val="D5D0C8"/>
                      </a:solidFill>
                      <a:prstDash val="solid"/>
                      <a:round/>
                      <a:headEnd type="none" w="med" len="med"/>
                      <a:tailEnd type="none" w="med" len="med"/>
                    </a:lnR>
                    <a:lnT w="6350" cap="flat" cmpd="sng" algn="ctr">
                      <a:solidFill>
                        <a:srgbClr val="D5D0C8"/>
                      </a:solidFill>
                      <a:prstDash val="solid"/>
                      <a:round/>
                      <a:headEnd type="none" w="med" len="med"/>
                      <a:tailEnd type="none" w="med" len="med"/>
                    </a:lnT>
                    <a:lnB w="6350" cap="flat" cmpd="sng" algn="ctr">
                      <a:solidFill>
                        <a:srgbClr val="D5D0C8"/>
                      </a:solidFill>
                      <a:prstDash val="solid"/>
                      <a:round/>
                      <a:headEnd type="none" w="med" len="med"/>
                      <a:tailEnd type="none" w="med" len="med"/>
                    </a:lnB>
                    <a:solidFill>
                      <a:srgbClr val="1F3864"/>
                    </a:solidFill>
                  </a:tcPr>
                </a:tc>
                <a:tc>
                  <a:txBody>
                    <a:bodyPr/>
                    <a:lstStyle/>
                    <a:p>
                      <a:pPr indent="0" marL="0">
                        <a:buNone/>
                      </a:pPr>
                      <a:r>
                        <a:rPr lang="en-US" sz="1000" b="1" dirty="0">
                          <a:solidFill>
                            <a:srgbClr val="C9A84C"/>
                          </a:solidFill>
                          <a:latin typeface="Arial" pitchFamily="34" charset="0"/>
                          <a:ea typeface="Arial" pitchFamily="34" charset="-122"/>
                          <a:cs typeface="Arial" pitchFamily="34" charset="-120"/>
                        </a:rPr>
                        <a:t>Annual Revenue</a:t>
                      </a:r>
                      <a:endParaRPr lang="en-US" sz="1000" dirty="0">
                        <a:latin typeface="Arial" charset="0"/>
                        <a:ea typeface="Arial" charset="0"/>
                        <a:cs typeface="Arial" charset="0"/>
                      </a:endParaRPr>
                    </a:p>
                  </a:txBody>
                  <a:tcPr marL="91440" marR="91440" marT="45720" marB="45720">
                    <a:lnL w="6350" cap="flat" cmpd="sng" algn="ctr">
                      <a:solidFill>
                        <a:srgbClr val="D5D0C8"/>
                      </a:solidFill>
                      <a:prstDash val="solid"/>
                      <a:round/>
                      <a:headEnd type="none" w="med" len="med"/>
                      <a:tailEnd type="none" w="med" len="med"/>
                    </a:lnL>
                    <a:lnR w="6350" cap="flat" cmpd="sng" algn="ctr">
                      <a:solidFill>
                        <a:srgbClr val="D5D0C8"/>
                      </a:solidFill>
                      <a:prstDash val="solid"/>
                      <a:round/>
                      <a:headEnd type="none" w="med" len="med"/>
                      <a:tailEnd type="none" w="med" len="med"/>
                    </a:lnR>
                    <a:lnT w="6350" cap="flat" cmpd="sng" algn="ctr">
                      <a:solidFill>
                        <a:srgbClr val="D5D0C8"/>
                      </a:solidFill>
                      <a:prstDash val="solid"/>
                      <a:round/>
                      <a:headEnd type="none" w="med" len="med"/>
                      <a:tailEnd type="none" w="med" len="med"/>
                    </a:lnT>
                    <a:lnB w="6350" cap="flat" cmpd="sng" algn="ctr">
                      <a:solidFill>
                        <a:srgbClr val="D5D0C8"/>
                      </a:solidFill>
                      <a:prstDash val="solid"/>
                      <a:round/>
                      <a:headEnd type="none" w="med" len="med"/>
                      <a:tailEnd type="none" w="med" len="med"/>
                    </a:lnB>
                    <a:solidFill>
                      <a:srgbClr val="1F3864"/>
                    </a:solidFill>
                  </a:tcPr>
                </a:tc>
              </a:tr>
              <a:tr h="502920">
                <a:tc>
                  <a:txBody>
                    <a:bodyPr/>
                    <a:lstStyle/>
                    <a:p>
                      <a:pPr indent="0" marL="0">
                        <a:buNone/>
                      </a:pPr>
                      <a:r>
                        <a:rPr lang="en-US" sz="1000" dirty="0">
                          <a:solidFill>
                            <a:srgbClr val="000000"/>
                          </a:solidFill>
                          <a:latin typeface="Arial" pitchFamily="34" charset="0"/>
                          <a:ea typeface="Arial" pitchFamily="34" charset="-122"/>
                          <a:cs typeface="Arial" pitchFamily="34" charset="-120"/>
                        </a:rPr>
                        <a:t>Category I FSPs (3 tiers)</a:t>
                      </a:r>
                      <a:endParaRPr lang="en-US" sz="1000" dirty="0">
                        <a:latin typeface="Arial" charset="0"/>
                        <a:ea typeface="Arial" charset="0"/>
                        <a:cs typeface="Arial" charset="0"/>
                      </a:endParaRPr>
                    </a:p>
                  </a:txBody>
                  <a:tcPr marL="91440" marR="91440" marT="45720" marB="45720">
                    <a:lnL w="6350" cap="flat" cmpd="sng" algn="ctr">
                      <a:solidFill>
                        <a:srgbClr val="D5D0C8"/>
                      </a:solidFill>
                      <a:prstDash val="solid"/>
                      <a:round/>
                      <a:headEnd type="none" w="med" len="med"/>
                      <a:tailEnd type="none" w="med" len="med"/>
                    </a:lnL>
                    <a:lnR w="6350" cap="flat" cmpd="sng" algn="ctr">
                      <a:solidFill>
                        <a:srgbClr val="D5D0C8"/>
                      </a:solidFill>
                      <a:prstDash val="solid"/>
                      <a:round/>
                      <a:headEnd type="none" w="med" len="med"/>
                      <a:tailEnd type="none" w="med" len="med"/>
                    </a:lnR>
                    <a:lnT w="6350" cap="flat" cmpd="sng" algn="ctr">
                      <a:solidFill>
                        <a:srgbClr val="D5D0C8"/>
                      </a:solidFill>
                      <a:prstDash val="solid"/>
                      <a:round/>
                      <a:headEnd type="none" w="med" len="med"/>
                      <a:tailEnd type="none" w="med" len="med"/>
                    </a:lnT>
                    <a:lnB w="6350" cap="flat" cmpd="sng" algn="ctr">
                      <a:solidFill>
                        <a:srgbClr val="D5D0C8"/>
                      </a:solidFill>
                      <a:prstDash val="solid"/>
                      <a:round/>
                      <a:headEnd type="none" w="med" len="med"/>
                      <a:tailEnd type="none" w="med" len="med"/>
                    </a:lnB>
                  </a:tcPr>
                </a:tc>
                <a:tc>
                  <a:txBody>
                    <a:bodyPr/>
                    <a:lstStyle/>
                    <a:p>
                      <a:pPr indent="0" marL="0">
                        <a:buNone/>
                      </a:pPr>
                      <a:r>
                        <a:rPr lang="en-US" sz="1000" dirty="0">
                          <a:solidFill>
                            <a:srgbClr val="000000"/>
                          </a:solidFill>
                          <a:latin typeface="Arial" pitchFamily="34" charset="0"/>
                          <a:ea typeface="Arial" pitchFamily="34" charset="-122"/>
                          <a:cs typeface="Arial" pitchFamily="34" charset="-120"/>
                        </a:rPr>
                        <a:t>R2,500–R15,000/mo</a:t>
                      </a:r>
                      <a:endParaRPr lang="en-US" sz="1000" dirty="0">
                        <a:latin typeface="Arial" charset="0"/>
                        <a:ea typeface="Arial" charset="0"/>
                        <a:cs typeface="Arial" charset="0"/>
                      </a:endParaRPr>
                    </a:p>
                  </a:txBody>
                  <a:tcPr marL="91440" marR="91440" marT="45720" marB="45720">
                    <a:lnL w="6350" cap="flat" cmpd="sng" algn="ctr">
                      <a:solidFill>
                        <a:srgbClr val="D5D0C8"/>
                      </a:solidFill>
                      <a:prstDash val="solid"/>
                      <a:round/>
                      <a:headEnd type="none" w="med" len="med"/>
                      <a:tailEnd type="none" w="med" len="med"/>
                    </a:lnL>
                    <a:lnR w="6350" cap="flat" cmpd="sng" algn="ctr">
                      <a:solidFill>
                        <a:srgbClr val="D5D0C8"/>
                      </a:solidFill>
                      <a:prstDash val="solid"/>
                      <a:round/>
                      <a:headEnd type="none" w="med" len="med"/>
                      <a:tailEnd type="none" w="med" len="med"/>
                    </a:lnR>
                    <a:lnT w="6350" cap="flat" cmpd="sng" algn="ctr">
                      <a:solidFill>
                        <a:srgbClr val="D5D0C8"/>
                      </a:solidFill>
                      <a:prstDash val="solid"/>
                      <a:round/>
                      <a:headEnd type="none" w="med" len="med"/>
                      <a:tailEnd type="none" w="med" len="med"/>
                    </a:lnT>
                    <a:lnB w="6350" cap="flat" cmpd="sng" algn="ctr">
                      <a:solidFill>
                        <a:srgbClr val="D5D0C8"/>
                      </a:solidFill>
                      <a:prstDash val="solid"/>
                      <a:round/>
                      <a:headEnd type="none" w="med" len="med"/>
                      <a:tailEnd type="none" w="med" len="med"/>
                    </a:lnB>
                  </a:tcPr>
                </a:tc>
                <a:tc>
                  <a:txBody>
                    <a:bodyPr/>
                    <a:lstStyle/>
                    <a:p>
                      <a:pPr algn="ctr" indent="0" marL="0">
                        <a:buNone/>
                      </a:pPr>
                      <a:r>
                        <a:rPr lang="en-US" sz="1000" dirty="0">
                          <a:solidFill>
                            <a:srgbClr val="000000"/>
                          </a:solidFill>
                          <a:latin typeface="Arial" pitchFamily="34" charset="0"/>
                          <a:ea typeface="Arial" pitchFamily="34" charset="-122"/>
                          <a:cs typeface="Arial" pitchFamily="34" charset="-120"/>
                        </a:rPr>
                        <a:t>280</a:t>
                      </a:r>
                      <a:endParaRPr lang="en-US" sz="1000" dirty="0">
                        <a:latin typeface="Arial" charset="0"/>
                        <a:ea typeface="Arial" charset="0"/>
                        <a:cs typeface="Arial" charset="0"/>
                      </a:endParaRPr>
                    </a:p>
                  </a:txBody>
                  <a:tcPr marL="91440" marR="91440" marT="45720" marB="45720">
                    <a:lnL w="6350" cap="flat" cmpd="sng" algn="ctr">
                      <a:solidFill>
                        <a:srgbClr val="D5D0C8"/>
                      </a:solidFill>
                      <a:prstDash val="solid"/>
                      <a:round/>
                      <a:headEnd type="none" w="med" len="med"/>
                      <a:tailEnd type="none" w="med" len="med"/>
                    </a:lnL>
                    <a:lnR w="6350" cap="flat" cmpd="sng" algn="ctr">
                      <a:solidFill>
                        <a:srgbClr val="D5D0C8"/>
                      </a:solidFill>
                      <a:prstDash val="solid"/>
                      <a:round/>
                      <a:headEnd type="none" w="med" len="med"/>
                      <a:tailEnd type="none" w="med" len="med"/>
                    </a:lnR>
                    <a:lnT w="6350" cap="flat" cmpd="sng" algn="ctr">
                      <a:solidFill>
                        <a:srgbClr val="D5D0C8"/>
                      </a:solidFill>
                      <a:prstDash val="solid"/>
                      <a:round/>
                      <a:headEnd type="none" w="med" len="med"/>
                      <a:tailEnd type="none" w="med" len="med"/>
                    </a:lnT>
                    <a:lnB w="6350" cap="flat" cmpd="sng" algn="ctr">
                      <a:solidFill>
                        <a:srgbClr val="D5D0C8"/>
                      </a:solidFill>
                      <a:prstDash val="solid"/>
                      <a:round/>
                      <a:headEnd type="none" w="med" len="med"/>
                      <a:tailEnd type="none" w="med" len="med"/>
                    </a:lnB>
                  </a:tcPr>
                </a:tc>
                <a:tc>
                  <a:txBody>
                    <a:bodyPr/>
                    <a:lstStyle/>
                    <a:p>
                      <a:pPr indent="0" marL="0">
                        <a:buNone/>
                      </a:pPr>
                      <a:r>
                        <a:rPr lang="en-US" sz="1000" b="1" dirty="0">
                          <a:solidFill>
                            <a:srgbClr val="166534"/>
                          </a:solidFill>
                          <a:latin typeface="Arial" pitchFamily="34" charset="0"/>
                          <a:ea typeface="Arial" pitchFamily="34" charset="-122"/>
                          <a:cs typeface="Arial" pitchFamily="34" charset="-120"/>
                        </a:rPr>
                        <a:t>R1,325,000</a:t>
                      </a:r>
                      <a:endParaRPr lang="en-US" sz="1000" dirty="0">
                        <a:latin typeface="Arial" charset="0"/>
                        <a:ea typeface="Arial" charset="0"/>
                        <a:cs typeface="Arial" charset="0"/>
                      </a:endParaRPr>
                    </a:p>
                  </a:txBody>
                  <a:tcPr marL="91440" marR="91440" marT="45720" marB="45720">
                    <a:lnL w="6350" cap="flat" cmpd="sng" algn="ctr">
                      <a:solidFill>
                        <a:srgbClr val="D5D0C8"/>
                      </a:solidFill>
                      <a:prstDash val="solid"/>
                      <a:round/>
                      <a:headEnd type="none" w="med" len="med"/>
                      <a:tailEnd type="none" w="med" len="med"/>
                    </a:lnL>
                    <a:lnR w="6350" cap="flat" cmpd="sng" algn="ctr">
                      <a:solidFill>
                        <a:srgbClr val="D5D0C8"/>
                      </a:solidFill>
                      <a:prstDash val="solid"/>
                      <a:round/>
                      <a:headEnd type="none" w="med" len="med"/>
                      <a:tailEnd type="none" w="med" len="med"/>
                    </a:lnR>
                    <a:lnT w="6350" cap="flat" cmpd="sng" algn="ctr">
                      <a:solidFill>
                        <a:srgbClr val="D5D0C8"/>
                      </a:solidFill>
                      <a:prstDash val="solid"/>
                      <a:round/>
                      <a:headEnd type="none" w="med" len="med"/>
                      <a:tailEnd type="none" w="med" len="med"/>
                    </a:lnT>
                    <a:lnB w="6350" cap="flat" cmpd="sng" algn="ctr">
                      <a:solidFill>
                        <a:srgbClr val="D5D0C8"/>
                      </a:solidFill>
                      <a:prstDash val="solid"/>
                      <a:round/>
                      <a:headEnd type="none" w="med" len="med"/>
                      <a:tailEnd type="none" w="med" len="med"/>
                    </a:lnB>
                  </a:tcPr>
                </a:tc>
                <a:tc>
                  <a:txBody>
                    <a:bodyPr/>
                    <a:lstStyle/>
                    <a:p>
                      <a:pPr indent="0" marL="0">
                        <a:buNone/>
                      </a:pPr>
                      <a:r>
                        <a:rPr lang="en-US" sz="1000" b="1" dirty="0">
                          <a:solidFill>
                            <a:srgbClr val="166534"/>
                          </a:solidFill>
                          <a:latin typeface="Arial" pitchFamily="34" charset="0"/>
                          <a:ea typeface="Arial" pitchFamily="34" charset="-122"/>
                          <a:cs typeface="Arial" pitchFamily="34" charset="-120"/>
                        </a:rPr>
                        <a:t>R15,900,000</a:t>
                      </a:r>
                      <a:endParaRPr lang="en-US" sz="1000" dirty="0">
                        <a:latin typeface="Arial" charset="0"/>
                        <a:ea typeface="Arial" charset="0"/>
                        <a:cs typeface="Arial" charset="0"/>
                      </a:endParaRPr>
                    </a:p>
                  </a:txBody>
                  <a:tcPr marL="91440" marR="91440" marT="45720" marB="45720">
                    <a:lnL w="6350" cap="flat" cmpd="sng" algn="ctr">
                      <a:solidFill>
                        <a:srgbClr val="D5D0C8"/>
                      </a:solidFill>
                      <a:prstDash val="solid"/>
                      <a:round/>
                      <a:headEnd type="none" w="med" len="med"/>
                      <a:tailEnd type="none" w="med" len="med"/>
                    </a:lnL>
                    <a:lnR w="6350" cap="flat" cmpd="sng" algn="ctr">
                      <a:solidFill>
                        <a:srgbClr val="D5D0C8"/>
                      </a:solidFill>
                      <a:prstDash val="solid"/>
                      <a:round/>
                      <a:headEnd type="none" w="med" len="med"/>
                      <a:tailEnd type="none" w="med" len="med"/>
                    </a:lnR>
                    <a:lnT w="6350" cap="flat" cmpd="sng" algn="ctr">
                      <a:solidFill>
                        <a:srgbClr val="D5D0C8"/>
                      </a:solidFill>
                      <a:prstDash val="solid"/>
                      <a:round/>
                      <a:headEnd type="none" w="med" len="med"/>
                      <a:tailEnd type="none" w="med" len="med"/>
                    </a:lnT>
                    <a:lnB w="6350" cap="flat" cmpd="sng" algn="ctr">
                      <a:solidFill>
                        <a:srgbClr val="D5D0C8"/>
                      </a:solidFill>
                      <a:prstDash val="solid"/>
                      <a:round/>
                      <a:headEnd type="none" w="med" len="med"/>
                      <a:tailEnd type="none" w="med" len="med"/>
                    </a:lnB>
                  </a:tcPr>
                </a:tc>
              </a:tr>
              <a:tr h="502920">
                <a:tc>
                  <a:txBody>
                    <a:bodyPr/>
                    <a:lstStyle/>
                    <a:p>
                      <a:pPr indent="0" marL="0">
                        <a:buNone/>
                      </a:pPr>
                      <a:r>
                        <a:rPr lang="en-US" sz="1000" dirty="0">
                          <a:solidFill>
                            <a:srgbClr val="000000"/>
                          </a:solidFill>
                          <a:latin typeface="Arial" pitchFamily="34" charset="0"/>
                          <a:ea typeface="Arial" pitchFamily="34" charset="-122"/>
                          <a:cs typeface="Arial" pitchFamily="34" charset="-120"/>
                        </a:rPr>
                        <a:t>Pension Fund Trustees</a:t>
                      </a:r>
                      <a:endParaRPr lang="en-US" sz="1000" dirty="0">
                        <a:latin typeface="Arial" charset="0"/>
                        <a:ea typeface="Arial" charset="0"/>
                        <a:cs typeface="Arial" charset="0"/>
                      </a:endParaRPr>
                    </a:p>
                  </a:txBody>
                  <a:tcPr marL="91440" marR="91440" marT="45720" marB="45720">
                    <a:lnL w="6350" cap="flat" cmpd="sng" algn="ctr">
                      <a:solidFill>
                        <a:srgbClr val="D5D0C8"/>
                      </a:solidFill>
                      <a:prstDash val="solid"/>
                      <a:round/>
                      <a:headEnd type="none" w="med" len="med"/>
                      <a:tailEnd type="none" w="med" len="med"/>
                    </a:lnL>
                    <a:lnR w="6350" cap="flat" cmpd="sng" algn="ctr">
                      <a:solidFill>
                        <a:srgbClr val="D5D0C8"/>
                      </a:solidFill>
                      <a:prstDash val="solid"/>
                      <a:round/>
                      <a:headEnd type="none" w="med" len="med"/>
                      <a:tailEnd type="none" w="med" len="med"/>
                    </a:lnR>
                    <a:lnT w="6350" cap="flat" cmpd="sng" algn="ctr">
                      <a:solidFill>
                        <a:srgbClr val="D5D0C8"/>
                      </a:solidFill>
                      <a:prstDash val="solid"/>
                      <a:round/>
                      <a:headEnd type="none" w="med" len="med"/>
                      <a:tailEnd type="none" w="med" len="med"/>
                    </a:lnT>
                    <a:lnB w="6350" cap="flat" cmpd="sng" algn="ctr">
                      <a:solidFill>
                        <a:srgbClr val="D5D0C8"/>
                      </a:solidFill>
                      <a:prstDash val="solid"/>
                      <a:round/>
                      <a:headEnd type="none" w="med" len="med"/>
                      <a:tailEnd type="none" w="med" len="med"/>
                    </a:lnB>
                    <a:solidFill>
                      <a:srgbClr val="F3F1EC"/>
                    </a:solidFill>
                  </a:tcPr>
                </a:tc>
                <a:tc>
                  <a:txBody>
                    <a:bodyPr/>
                    <a:lstStyle/>
                    <a:p>
                      <a:pPr indent="0" marL="0">
                        <a:buNone/>
                      </a:pPr>
                      <a:r>
                        <a:rPr lang="en-US" sz="1000" dirty="0">
                          <a:solidFill>
                            <a:srgbClr val="000000"/>
                          </a:solidFill>
                          <a:latin typeface="Arial" pitchFamily="34" charset="0"/>
                          <a:ea typeface="Arial" pitchFamily="34" charset="-122"/>
                          <a:cs typeface="Arial" pitchFamily="34" charset="-120"/>
                        </a:rPr>
                        <a:t>R45,000/fund/year</a:t>
                      </a:r>
                      <a:endParaRPr lang="en-US" sz="1000" dirty="0">
                        <a:latin typeface="Arial" charset="0"/>
                        <a:ea typeface="Arial" charset="0"/>
                        <a:cs typeface="Arial" charset="0"/>
                      </a:endParaRPr>
                    </a:p>
                  </a:txBody>
                  <a:tcPr marL="91440" marR="91440" marT="45720" marB="45720">
                    <a:lnL w="6350" cap="flat" cmpd="sng" algn="ctr">
                      <a:solidFill>
                        <a:srgbClr val="D5D0C8"/>
                      </a:solidFill>
                      <a:prstDash val="solid"/>
                      <a:round/>
                      <a:headEnd type="none" w="med" len="med"/>
                      <a:tailEnd type="none" w="med" len="med"/>
                    </a:lnL>
                    <a:lnR w="6350" cap="flat" cmpd="sng" algn="ctr">
                      <a:solidFill>
                        <a:srgbClr val="D5D0C8"/>
                      </a:solidFill>
                      <a:prstDash val="solid"/>
                      <a:round/>
                      <a:headEnd type="none" w="med" len="med"/>
                      <a:tailEnd type="none" w="med" len="med"/>
                    </a:lnR>
                    <a:lnT w="6350" cap="flat" cmpd="sng" algn="ctr">
                      <a:solidFill>
                        <a:srgbClr val="D5D0C8"/>
                      </a:solidFill>
                      <a:prstDash val="solid"/>
                      <a:round/>
                      <a:headEnd type="none" w="med" len="med"/>
                      <a:tailEnd type="none" w="med" len="med"/>
                    </a:lnT>
                    <a:lnB w="6350" cap="flat" cmpd="sng" algn="ctr">
                      <a:solidFill>
                        <a:srgbClr val="D5D0C8"/>
                      </a:solidFill>
                      <a:prstDash val="solid"/>
                      <a:round/>
                      <a:headEnd type="none" w="med" len="med"/>
                      <a:tailEnd type="none" w="med" len="med"/>
                    </a:lnB>
                    <a:solidFill>
                      <a:srgbClr val="F3F1EC"/>
                    </a:solidFill>
                  </a:tcPr>
                </a:tc>
                <a:tc>
                  <a:txBody>
                    <a:bodyPr/>
                    <a:lstStyle/>
                    <a:p>
                      <a:pPr algn="ctr" indent="0" marL="0">
                        <a:buNone/>
                      </a:pPr>
                      <a:r>
                        <a:rPr lang="en-US" sz="1000" dirty="0">
                          <a:solidFill>
                            <a:srgbClr val="000000"/>
                          </a:solidFill>
                          <a:latin typeface="Arial" pitchFamily="34" charset="0"/>
                          <a:ea typeface="Arial" pitchFamily="34" charset="-122"/>
                          <a:cs typeface="Arial" pitchFamily="34" charset="-120"/>
                        </a:rPr>
                        <a:t>40 funds</a:t>
                      </a:r>
                      <a:endParaRPr lang="en-US" sz="1000" dirty="0">
                        <a:latin typeface="Arial" charset="0"/>
                        <a:ea typeface="Arial" charset="0"/>
                        <a:cs typeface="Arial" charset="0"/>
                      </a:endParaRPr>
                    </a:p>
                  </a:txBody>
                  <a:tcPr marL="91440" marR="91440" marT="45720" marB="45720">
                    <a:lnL w="6350" cap="flat" cmpd="sng" algn="ctr">
                      <a:solidFill>
                        <a:srgbClr val="D5D0C8"/>
                      </a:solidFill>
                      <a:prstDash val="solid"/>
                      <a:round/>
                      <a:headEnd type="none" w="med" len="med"/>
                      <a:tailEnd type="none" w="med" len="med"/>
                    </a:lnL>
                    <a:lnR w="6350" cap="flat" cmpd="sng" algn="ctr">
                      <a:solidFill>
                        <a:srgbClr val="D5D0C8"/>
                      </a:solidFill>
                      <a:prstDash val="solid"/>
                      <a:round/>
                      <a:headEnd type="none" w="med" len="med"/>
                      <a:tailEnd type="none" w="med" len="med"/>
                    </a:lnR>
                    <a:lnT w="6350" cap="flat" cmpd="sng" algn="ctr">
                      <a:solidFill>
                        <a:srgbClr val="D5D0C8"/>
                      </a:solidFill>
                      <a:prstDash val="solid"/>
                      <a:round/>
                      <a:headEnd type="none" w="med" len="med"/>
                      <a:tailEnd type="none" w="med" len="med"/>
                    </a:lnT>
                    <a:lnB w="6350" cap="flat" cmpd="sng" algn="ctr">
                      <a:solidFill>
                        <a:srgbClr val="D5D0C8"/>
                      </a:solidFill>
                      <a:prstDash val="solid"/>
                      <a:round/>
                      <a:headEnd type="none" w="med" len="med"/>
                      <a:tailEnd type="none" w="med" len="med"/>
                    </a:lnB>
                    <a:solidFill>
                      <a:srgbClr val="F3F1EC"/>
                    </a:solidFill>
                  </a:tcPr>
                </a:tc>
                <a:tc>
                  <a:txBody>
                    <a:bodyPr/>
                    <a:lstStyle/>
                    <a:p>
                      <a:pPr indent="0" marL="0">
                        <a:buNone/>
                      </a:pPr>
                      <a:r>
                        <a:rPr lang="en-US" sz="1000" b="1" dirty="0">
                          <a:solidFill>
                            <a:srgbClr val="166534"/>
                          </a:solidFill>
                          <a:latin typeface="Arial" pitchFamily="34" charset="0"/>
                          <a:ea typeface="Arial" pitchFamily="34" charset="-122"/>
                          <a:cs typeface="Arial" pitchFamily="34" charset="-120"/>
                        </a:rPr>
                        <a:t>R150,000</a:t>
                      </a:r>
                      <a:endParaRPr lang="en-US" sz="1000" dirty="0">
                        <a:latin typeface="Arial" charset="0"/>
                        <a:ea typeface="Arial" charset="0"/>
                        <a:cs typeface="Arial" charset="0"/>
                      </a:endParaRPr>
                    </a:p>
                  </a:txBody>
                  <a:tcPr marL="91440" marR="91440" marT="45720" marB="45720">
                    <a:lnL w="6350" cap="flat" cmpd="sng" algn="ctr">
                      <a:solidFill>
                        <a:srgbClr val="D5D0C8"/>
                      </a:solidFill>
                      <a:prstDash val="solid"/>
                      <a:round/>
                      <a:headEnd type="none" w="med" len="med"/>
                      <a:tailEnd type="none" w="med" len="med"/>
                    </a:lnL>
                    <a:lnR w="6350" cap="flat" cmpd="sng" algn="ctr">
                      <a:solidFill>
                        <a:srgbClr val="D5D0C8"/>
                      </a:solidFill>
                      <a:prstDash val="solid"/>
                      <a:round/>
                      <a:headEnd type="none" w="med" len="med"/>
                      <a:tailEnd type="none" w="med" len="med"/>
                    </a:lnR>
                    <a:lnT w="6350" cap="flat" cmpd="sng" algn="ctr">
                      <a:solidFill>
                        <a:srgbClr val="D5D0C8"/>
                      </a:solidFill>
                      <a:prstDash val="solid"/>
                      <a:round/>
                      <a:headEnd type="none" w="med" len="med"/>
                      <a:tailEnd type="none" w="med" len="med"/>
                    </a:lnT>
                    <a:lnB w="6350" cap="flat" cmpd="sng" algn="ctr">
                      <a:solidFill>
                        <a:srgbClr val="D5D0C8"/>
                      </a:solidFill>
                      <a:prstDash val="solid"/>
                      <a:round/>
                      <a:headEnd type="none" w="med" len="med"/>
                      <a:tailEnd type="none" w="med" len="med"/>
                    </a:lnB>
                    <a:solidFill>
                      <a:srgbClr val="F3F1EC"/>
                    </a:solidFill>
                  </a:tcPr>
                </a:tc>
                <a:tc>
                  <a:txBody>
                    <a:bodyPr/>
                    <a:lstStyle/>
                    <a:p>
                      <a:pPr indent="0" marL="0">
                        <a:buNone/>
                      </a:pPr>
                      <a:r>
                        <a:rPr lang="en-US" sz="1000" b="1" dirty="0">
                          <a:solidFill>
                            <a:srgbClr val="166534"/>
                          </a:solidFill>
                          <a:latin typeface="Arial" pitchFamily="34" charset="0"/>
                          <a:ea typeface="Arial" pitchFamily="34" charset="-122"/>
                          <a:cs typeface="Arial" pitchFamily="34" charset="-120"/>
                        </a:rPr>
                        <a:t>R1,800,000</a:t>
                      </a:r>
                      <a:endParaRPr lang="en-US" sz="1000" dirty="0">
                        <a:latin typeface="Arial" charset="0"/>
                        <a:ea typeface="Arial" charset="0"/>
                        <a:cs typeface="Arial" charset="0"/>
                      </a:endParaRPr>
                    </a:p>
                  </a:txBody>
                  <a:tcPr marL="91440" marR="91440" marT="45720" marB="45720">
                    <a:lnL w="6350" cap="flat" cmpd="sng" algn="ctr">
                      <a:solidFill>
                        <a:srgbClr val="D5D0C8"/>
                      </a:solidFill>
                      <a:prstDash val="solid"/>
                      <a:round/>
                      <a:headEnd type="none" w="med" len="med"/>
                      <a:tailEnd type="none" w="med" len="med"/>
                    </a:lnL>
                    <a:lnR w="6350" cap="flat" cmpd="sng" algn="ctr">
                      <a:solidFill>
                        <a:srgbClr val="D5D0C8"/>
                      </a:solidFill>
                      <a:prstDash val="solid"/>
                      <a:round/>
                      <a:headEnd type="none" w="med" len="med"/>
                      <a:tailEnd type="none" w="med" len="med"/>
                    </a:lnR>
                    <a:lnT w="6350" cap="flat" cmpd="sng" algn="ctr">
                      <a:solidFill>
                        <a:srgbClr val="D5D0C8"/>
                      </a:solidFill>
                      <a:prstDash val="solid"/>
                      <a:round/>
                      <a:headEnd type="none" w="med" len="med"/>
                      <a:tailEnd type="none" w="med" len="med"/>
                    </a:lnT>
                    <a:lnB w="6350" cap="flat" cmpd="sng" algn="ctr">
                      <a:solidFill>
                        <a:srgbClr val="D5D0C8"/>
                      </a:solidFill>
                      <a:prstDash val="solid"/>
                      <a:round/>
                      <a:headEnd type="none" w="med" len="med"/>
                      <a:tailEnd type="none" w="med" len="med"/>
                    </a:lnB>
                    <a:solidFill>
                      <a:srgbClr val="F3F1EC"/>
                    </a:solidFill>
                  </a:tcPr>
                </a:tc>
              </a:tr>
              <a:tr h="502920">
                <a:tc>
                  <a:txBody>
                    <a:bodyPr/>
                    <a:lstStyle/>
                    <a:p>
                      <a:pPr indent="0" marL="0">
                        <a:buNone/>
                      </a:pPr>
                      <a:r>
                        <a:rPr lang="en-US" sz="1000" dirty="0">
                          <a:solidFill>
                            <a:srgbClr val="000000"/>
                          </a:solidFill>
                          <a:latin typeface="Arial" pitchFamily="34" charset="0"/>
                          <a:ea typeface="Arial" pitchFamily="34" charset="-122"/>
                          <a:cs typeface="Arial" pitchFamily="34" charset="-120"/>
                        </a:rPr>
                        <a:t>Funeral Parlours</a:t>
                      </a:r>
                      <a:endParaRPr lang="en-US" sz="1000" dirty="0">
                        <a:latin typeface="Arial" charset="0"/>
                        <a:ea typeface="Arial" charset="0"/>
                        <a:cs typeface="Arial" charset="0"/>
                      </a:endParaRPr>
                    </a:p>
                  </a:txBody>
                  <a:tcPr marL="91440" marR="91440" marT="45720" marB="45720">
                    <a:lnL w="6350" cap="flat" cmpd="sng" algn="ctr">
                      <a:solidFill>
                        <a:srgbClr val="D5D0C8"/>
                      </a:solidFill>
                      <a:prstDash val="solid"/>
                      <a:round/>
                      <a:headEnd type="none" w="med" len="med"/>
                      <a:tailEnd type="none" w="med" len="med"/>
                    </a:lnL>
                    <a:lnR w="6350" cap="flat" cmpd="sng" algn="ctr">
                      <a:solidFill>
                        <a:srgbClr val="D5D0C8"/>
                      </a:solidFill>
                      <a:prstDash val="solid"/>
                      <a:round/>
                      <a:headEnd type="none" w="med" len="med"/>
                      <a:tailEnd type="none" w="med" len="med"/>
                    </a:lnR>
                    <a:lnT w="6350" cap="flat" cmpd="sng" algn="ctr">
                      <a:solidFill>
                        <a:srgbClr val="D5D0C8"/>
                      </a:solidFill>
                      <a:prstDash val="solid"/>
                      <a:round/>
                      <a:headEnd type="none" w="med" len="med"/>
                      <a:tailEnd type="none" w="med" len="med"/>
                    </a:lnT>
                    <a:lnB w="6350" cap="flat" cmpd="sng" algn="ctr">
                      <a:solidFill>
                        <a:srgbClr val="D5D0C8"/>
                      </a:solidFill>
                      <a:prstDash val="solid"/>
                      <a:round/>
                      <a:headEnd type="none" w="med" len="med"/>
                      <a:tailEnd type="none" w="med" len="med"/>
                    </a:lnB>
                  </a:tcPr>
                </a:tc>
                <a:tc>
                  <a:txBody>
                    <a:bodyPr/>
                    <a:lstStyle/>
                    <a:p>
                      <a:pPr indent="0" marL="0">
                        <a:buNone/>
                      </a:pPr>
                      <a:r>
                        <a:rPr lang="en-US" sz="1000" dirty="0">
                          <a:solidFill>
                            <a:srgbClr val="000000"/>
                          </a:solidFill>
                          <a:latin typeface="Arial" pitchFamily="34" charset="0"/>
                          <a:ea typeface="Arial" pitchFamily="34" charset="-122"/>
                          <a:cs typeface="Arial" pitchFamily="34" charset="-120"/>
                        </a:rPr>
                        <a:t>R1,500–R7,500/mo</a:t>
                      </a:r>
                      <a:endParaRPr lang="en-US" sz="1000" dirty="0">
                        <a:latin typeface="Arial" charset="0"/>
                        <a:ea typeface="Arial" charset="0"/>
                        <a:cs typeface="Arial" charset="0"/>
                      </a:endParaRPr>
                    </a:p>
                  </a:txBody>
                  <a:tcPr marL="91440" marR="91440" marT="45720" marB="45720">
                    <a:lnL w="6350" cap="flat" cmpd="sng" algn="ctr">
                      <a:solidFill>
                        <a:srgbClr val="D5D0C8"/>
                      </a:solidFill>
                      <a:prstDash val="solid"/>
                      <a:round/>
                      <a:headEnd type="none" w="med" len="med"/>
                      <a:tailEnd type="none" w="med" len="med"/>
                    </a:lnL>
                    <a:lnR w="6350" cap="flat" cmpd="sng" algn="ctr">
                      <a:solidFill>
                        <a:srgbClr val="D5D0C8"/>
                      </a:solidFill>
                      <a:prstDash val="solid"/>
                      <a:round/>
                      <a:headEnd type="none" w="med" len="med"/>
                      <a:tailEnd type="none" w="med" len="med"/>
                    </a:lnR>
                    <a:lnT w="6350" cap="flat" cmpd="sng" algn="ctr">
                      <a:solidFill>
                        <a:srgbClr val="D5D0C8"/>
                      </a:solidFill>
                      <a:prstDash val="solid"/>
                      <a:round/>
                      <a:headEnd type="none" w="med" len="med"/>
                      <a:tailEnd type="none" w="med" len="med"/>
                    </a:lnT>
                    <a:lnB w="6350" cap="flat" cmpd="sng" algn="ctr">
                      <a:solidFill>
                        <a:srgbClr val="D5D0C8"/>
                      </a:solidFill>
                      <a:prstDash val="solid"/>
                      <a:round/>
                      <a:headEnd type="none" w="med" len="med"/>
                      <a:tailEnd type="none" w="med" len="med"/>
                    </a:lnB>
                  </a:tcPr>
                </a:tc>
                <a:tc>
                  <a:txBody>
                    <a:bodyPr/>
                    <a:lstStyle/>
                    <a:p>
                      <a:pPr algn="ctr" indent="0" marL="0">
                        <a:buNone/>
                      </a:pPr>
                      <a:r>
                        <a:rPr lang="en-US" sz="1000" dirty="0">
                          <a:solidFill>
                            <a:srgbClr val="000000"/>
                          </a:solidFill>
                          <a:latin typeface="Arial" pitchFamily="34" charset="0"/>
                          <a:ea typeface="Arial" pitchFamily="34" charset="-122"/>
                          <a:cs typeface="Arial" pitchFamily="34" charset="-120"/>
                        </a:rPr>
                        <a:t>120 parlours</a:t>
                      </a:r>
                      <a:endParaRPr lang="en-US" sz="1000" dirty="0">
                        <a:latin typeface="Arial" charset="0"/>
                        <a:ea typeface="Arial" charset="0"/>
                        <a:cs typeface="Arial" charset="0"/>
                      </a:endParaRPr>
                    </a:p>
                  </a:txBody>
                  <a:tcPr marL="91440" marR="91440" marT="45720" marB="45720">
                    <a:lnL w="6350" cap="flat" cmpd="sng" algn="ctr">
                      <a:solidFill>
                        <a:srgbClr val="D5D0C8"/>
                      </a:solidFill>
                      <a:prstDash val="solid"/>
                      <a:round/>
                      <a:headEnd type="none" w="med" len="med"/>
                      <a:tailEnd type="none" w="med" len="med"/>
                    </a:lnL>
                    <a:lnR w="6350" cap="flat" cmpd="sng" algn="ctr">
                      <a:solidFill>
                        <a:srgbClr val="D5D0C8"/>
                      </a:solidFill>
                      <a:prstDash val="solid"/>
                      <a:round/>
                      <a:headEnd type="none" w="med" len="med"/>
                      <a:tailEnd type="none" w="med" len="med"/>
                    </a:lnR>
                    <a:lnT w="6350" cap="flat" cmpd="sng" algn="ctr">
                      <a:solidFill>
                        <a:srgbClr val="D5D0C8"/>
                      </a:solidFill>
                      <a:prstDash val="solid"/>
                      <a:round/>
                      <a:headEnd type="none" w="med" len="med"/>
                      <a:tailEnd type="none" w="med" len="med"/>
                    </a:lnT>
                    <a:lnB w="6350" cap="flat" cmpd="sng" algn="ctr">
                      <a:solidFill>
                        <a:srgbClr val="D5D0C8"/>
                      </a:solidFill>
                      <a:prstDash val="solid"/>
                      <a:round/>
                      <a:headEnd type="none" w="med" len="med"/>
                      <a:tailEnd type="none" w="med" len="med"/>
                    </a:lnB>
                  </a:tcPr>
                </a:tc>
                <a:tc>
                  <a:txBody>
                    <a:bodyPr/>
                    <a:lstStyle/>
                    <a:p>
                      <a:pPr indent="0" marL="0">
                        <a:buNone/>
                      </a:pPr>
                      <a:r>
                        <a:rPr lang="en-US" sz="1000" b="1" dirty="0">
                          <a:solidFill>
                            <a:srgbClr val="166534"/>
                          </a:solidFill>
                          <a:latin typeface="Arial" pitchFamily="34" charset="0"/>
                          <a:ea typeface="Arial" pitchFamily="34" charset="-122"/>
                          <a:cs typeface="Arial" pitchFamily="34" charset="-120"/>
                        </a:rPr>
                        <a:t>R300,000</a:t>
                      </a:r>
                      <a:endParaRPr lang="en-US" sz="1000" dirty="0">
                        <a:latin typeface="Arial" charset="0"/>
                        <a:ea typeface="Arial" charset="0"/>
                        <a:cs typeface="Arial" charset="0"/>
                      </a:endParaRPr>
                    </a:p>
                  </a:txBody>
                  <a:tcPr marL="91440" marR="91440" marT="45720" marB="45720">
                    <a:lnL w="6350" cap="flat" cmpd="sng" algn="ctr">
                      <a:solidFill>
                        <a:srgbClr val="D5D0C8"/>
                      </a:solidFill>
                      <a:prstDash val="solid"/>
                      <a:round/>
                      <a:headEnd type="none" w="med" len="med"/>
                      <a:tailEnd type="none" w="med" len="med"/>
                    </a:lnL>
                    <a:lnR w="6350" cap="flat" cmpd="sng" algn="ctr">
                      <a:solidFill>
                        <a:srgbClr val="D5D0C8"/>
                      </a:solidFill>
                      <a:prstDash val="solid"/>
                      <a:round/>
                      <a:headEnd type="none" w="med" len="med"/>
                      <a:tailEnd type="none" w="med" len="med"/>
                    </a:lnR>
                    <a:lnT w="6350" cap="flat" cmpd="sng" algn="ctr">
                      <a:solidFill>
                        <a:srgbClr val="D5D0C8"/>
                      </a:solidFill>
                      <a:prstDash val="solid"/>
                      <a:round/>
                      <a:headEnd type="none" w="med" len="med"/>
                      <a:tailEnd type="none" w="med" len="med"/>
                    </a:lnT>
                    <a:lnB w="6350" cap="flat" cmpd="sng" algn="ctr">
                      <a:solidFill>
                        <a:srgbClr val="D5D0C8"/>
                      </a:solidFill>
                      <a:prstDash val="solid"/>
                      <a:round/>
                      <a:headEnd type="none" w="med" len="med"/>
                      <a:tailEnd type="none" w="med" len="med"/>
                    </a:lnB>
                  </a:tcPr>
                </a:tc>
                <a:tc>
                  <a:txBody>
                    <a:bodyPr/>
                    <a:lstStyle/>
                    <a:p>
                      <a:pPr indent="0" marL="0">
                        <a:buNone/>
                      </a:pPr>
                      <a:r>
                        <a:rPr lang="en-US" sz="1000" b="1" dirty="0">
                          <a:solidFill>
                            <a:srgbClr val="166534"/>
                          </a:solidFill>
                          <a:latin typeface="Arial" pitchFamily="34" charset="0"/>
                          <a:ea typeface="Arial" pitchFamily="34" charset="-122"/>
                          <a:cs typeface="Arial" pitchFamily="34" charset="-120"/>
                        </a:rPr>
                        <a:t>R3,600,000</a:t>
                      </a:r>
                      <a:endParaRPr lang="en-US" sz="1000" dirty="0">
                        <a:latin typeface="Arial" charset="0"/>
                        <a:ea typeface="Arial" charset="0"/>
                        <a:cs typeface="Arial" charset="0"/>
                      </a:endParaRPr>
                    </a:p>
                  </a:txBody>
                  <a:tcPr marL="91440" marR="91440" marT="45720" marB="45720">
                    <a:lnL w="6350" cap="flat" cmpd="sng" algn="ctr">
                      <a:solidFill>
                        <a:srgbClr val="D5D0C8"/>
                      </a:solidFill>
                      <a:prstDash val="solid"/>
                      <a:round/>
                      <a:headEnd type="none" w="med" len="med"/>
                      <a:tailEnd type="none" w="med" len="med"/>
                    </a:lnL>
                    <a:lnR w="6350" cap="flat" cmpd="sng" algn="ctr">
                      <a:solidFill>
                        <a:srgbClr val="D5D0C8"/>
                      </a:solidFill>
                      <a:prstDash val="solid"/>
                      <a:round/>
                      <a:headEnd type="none" w="med" len="med"/>
                      <a:tailEnd type="none" w="med" len="med"/>
                    </a:lnR>
                    <a:lnT w="6350" cap="flat" cmpd="sng" algn="ctr">
                      <a:solidFill>
                        <a:srgbClr val="D5D0C8"/>
                      </a:solidFill>
                      <a:prstDash val="solid"/>
                      <a:round/>
                      <a:headEnd type="none" w="med" len="med"/>
                      <a:tailEnd type="none" w="med" len="med"/>
                    </a:lnT>
                    <a:lnB w="6350" cap="flat" cmpd="sng" algn="ctr">
                      <a:solidFill>
                        <a:srgbClr val="D5D0C8"/>
                      </a:solidFill>
                      <a:prstDash val="solid"/>
                      <a:round/>
                      <a:headEnd type="none" w="med" len="med"/>
                      <a:tailEnd type="none" w="med" len="med"/>
                    </a:lnB>
                  </a:tcPr>
                </a:tc>
              </a:tr>
              <a:tr h="502920">
                <a:tc>
                  <a:txBody>
                    <a:bodyPr/>
                    <a:lstStyle/>
                    <a:p>
                      <a:pPr indent="0" marL="0">
                        <a:buNone/>
                      </a:pPr>
                      <a:r>
                        <a:rPr lang="en-US" sz="1000" dirty="0">
                          <a:solidFill>
                            <a:srgbClr val="000000"/>
                          </a:solidFill>
                          <a:latin typeface="Arial" pitchFamily="34" charset="0"/>
                          <a:ea typeface="Arial" pitchFamily="34" charset="-122"/>
                          <a:cs typeface="Arial" pitchFamily="34" charset="-120"/>
                        </a:rPr>
                        <a:t>Assistance Business FSPs</a:t>
                      </a:r>
                      <a:endParaRPr lang="en-US" sz="1000" dirty="0">
                        <a:latin typeface="Arial" charset="0"/>
                        <a:ea typeface="Arial" charset="0"/>
                        <a:cs typeface="Arial" charset="0"/>
                      </a:endParaRPr>
                    </a:p>
                  </a:txBody>
                  <a:tcPr marL="91440" marR="91440" marT="45720" marB="45720">
                    <a:lnL w="6350" cap="flat" cmpd="sng" algn="ctr">
                      <a:solidFill>
                        <a:srgbClr val="D5D0C8"/>
                      </a:solidFill>
                      <a:prstDash val="solid"/>
                      <a:round/>
                      <a:headEnd type="none" w="med" len="med"/>
                      <a:tailEnd type="none" w="med" len="med"/>
                    </a:lnL>
                    <a:lnR w="6350" cap="flat" cmpd="sng" algn="ctr">
                      <a:solidFill>
                        <a:srgbClr val="D5D0C8"/>
                      </a:solidFill>
                      <a:prstDash val="solid"/>
                      <a:round/>
                      <a:headEnd type="none" w="med" len="med"/>
                      <a:tailEnd type="none" w="med" len="med"/>
                    </a:lnR>
                    <a:lnT w="6350" cap="flat" cmpd="sng" algn="ctr">
                      <a:solidFill>
                        <a:srgbClr val="D5D0C8"/>
                      </a:solidFill>
                      <a:prstDash val="solid"/>
                      <a:round/>
                      <a:headEnd type="none" w="med" len="med"/>
                      <a:tailEnd type="none" w="med" len="med"/>
                    </a:lnT>
                    <a:lnB w="6350" cap="flat" cmpd="sng" algn="ctr">
                      <a:solidFill>
                        <a:srgbClr val="D5D0C8"/>
                      </a:solidFill>
                      <a:prstDash val="solid"/>
                      <a:round/>
                      <a:headEnd type="none" w="med" len="med"/>
                      <a:tailEnd type="none" w="med" len="med"/>
                    </a:lnB>
                    <a:solidFill>
                      <a:srgbClr val="F3F1EC"/>
                    </a:solidFill>
                  </a:tcPr>
                </a:tc>
                <a:tc>
                  <a:txBody>
                    <a:bodyPr/>
                    <a:lstStyle/>
                    <a:p>
                      <a:pPr indent="0" marL="0">
                        <a:buNone/>
                      </a:pPr>
                      <a:r>
                        <a:rPr lang="en-US" sz="1000" dirty="0">
                          <a:solidFill>
                            <a:srgbClr val="000000"/>
                          </a:solidFill>
                          <a:latin typeface="Arial" pitchFamily="34" charset="0"/>
                          <a:ea typeface="Arial" pitchFamily="34" charset="-122"/>
                          <a:cs typeface="Arial" pitchFamily="34" charset="-120"/>
                        </a:rPr>
                        <a:t>R2,000–R10,000/mo</a:t>
                      </a:r>
                      <a:endParaRPr lang="en-US" sz="1000" dirty="0">
                        <a:latin typeface="Arial" charset="0"/>
                        <a:ea typeface="Arial" charset="0"/>
                        <a:cs typeface="Arial" charset="0"/>
                      </a:endParaRPr>
                    </a:p>
                  </a:txBody>
                  <a:tcPr marL="91440" marR="91440" marT="45720" marB="45720">
                    <a:lnL w="6350" cap="flat" cmpd="sng" algn="ctr">
                      <a:solidFill>
                        <a:srgbClr val="D5D0C8"/>
                      </a:solidFill>
                      <a:prstDash val="solid"/>
                      <a:round/>
                      <a:headEnd type="none" w="med" len="med"/>
                      <a:tailEnd type="none" w="med" len="med"/>
                    </a:lnL>
                    <a:lnR w="6350" cap="flat" cmpd="sng" algn="ctr">
                      <a:solidFill>
                        <a:srgbClr val="D5D0C8"/>
                      </a:solidFill>
                      <a:prstDash val="solid"/>
                      <a:round/>
                      <a:headEnd type="none" w="med" len="med"/>
                      <a:tailEnd type="none" w="med" len="med"/>
                    </a:lnR>
                    <a:lnT w="6350" cap="flat" cmpd="sng" algn="ctr">
                      <a:solidFill>
                        <a:srgbClr val="D5D0C8"/>
                      </a:solidFill>
                      <a:prstDash val="solid"/>
                      <a:round/>
                      <a:headEnd type="none" w="med" len="med"/>
                      <a:tailEnd type="none" w="med" len="med"/>
                    </a:lnT>
                    <a:lnB w="6350" cap="flat" cmpd="sng" algn="ctr">
                      <a:solidFill>
                        <a:srgbClr val="D5D0C8"/>
                      </a:solidFill>
                      <a:prstDash val="solid"/>
                      <a:round/>
                      <a:headEnd type="none" w="med" len="med"/>
                      <a:tailEnd type="none" w="med" len="med"/>
                    </a:lnB>
                    <a:solidFill>
                      <a:srgbClr val="F3F1EC"/>
                    </a:solidFill>
                  </a:tcPr>
                </a:tc>
                <a:tc>
                  <a:txBody>
                    <a:bodyPr/>
                    <a:lstStyle/>
                    <a:p>
                      <a:pPr algn="ctr" indent="0" marL="0">
                        <a:buNone/>
                      </a:pPr>
                      <a:r>
                        <a:rPr lang="en-US" sz="1000" dirty="0">
                          <a:solidFill>
                            <a:srgbClr val="000000"/>
                          </a:solidFill>
                          <a:latin typeface="Arial" pitchFamily="34" charset="0"/>
                          <a:ea typeface="Arial" pitchFamily="34" charset="-122"/>
                          <a:cs typeface="Arial" pitchFamily="34" charset="-120"/>
                        </a:rPr>
                        <a:t>80 FSPs</a:t>
                      </a:r>
                      <a:endParaRPr lang="en-US" sz="1000" dirty="0">
                        <a:latin typeface="Arial" charset="0"/>
                        <a:ea typeface="Arial" charset="0"/>
                        <a:cs typeface="Arial" charset="0"/>
                      </a:endParaRPr>
                    </a:p>
                  </a:txBody>
                  <a:tcPr marL="91440" marR="91440" marT="45720" marB="45720">
                    <a:lnL w="6350" cap="flat" cmpd="sng" algn="ctr">
                      <a:solidFill>
                        <a:srgbClr val="D5D0C8"/>
                      </a:solidFill>
                      <a:prstDash val="solid"/>
                      <a:round/>
                      <a:headEnd type="none" w="med" len="med"/>
                      <a:tailEnd type="none" w="med" len="med"/>
                    </a:lnL>
                    <a:lnR w="6350" cap="flat" cmpd="sng" algn="ctr">
                      <a:solidFill>
                        <a:srgbClr val="D5D0C8"/>
                      </a:solidFill>
                      <a:prstDash val="solid"/>
                      <a:round/>
                      <a:headEnd type="none" w="med" len="med"/>
                      <a:tailEnd type="none" w="med" len="med"/>
                    </a:lnR>
                    <a:lnT w="6350" cap="flat" cmpd="sng" algn="ctr">
                      <a:solidFill>
                        <a:srgbClr val="D5D0C8"/>
                      </a:solidFill>
                      <a:prstDash val="solid"/>
                      <a:round/>
                      <a:headEnd type="none" w="med" len="med"/>
                      <a:tailEnd type="none" w="med" len="med"/>
                    </a:lnT>
                    <a:lnB w="6350" cap="flat" cmpd="sng" algn="ctr">
                      <a:solidFill>
                        <a:srgbClr val="D5D0C8"/>
                      </a:solidFill>
                      <a:prstDash val="solid"/>
                      <a:round/>
                      <a:headEnd type="none" w="med" len="med"/>
                      <a:tailEnd type="none" w="med" len="med"/>
                    </a:lnB>
                    <a:solidFill>
                      <a:srgbClr val="F3F1EC"/>
                    </a:solidFill>
                  </a:tcPr>
                </a:tc>
                <a:tc>
                  <a:txBody>
                    <a:bodyPr/>
                    <a:lstStyle/>
                    <a:p>
                      <a:pPr indent="0" marL="0">
                        <a:buNone/>
                      </a:pPr>
                      <a:r>
                        <a:rPr lang="en-US" sz="1000" b="1" dirty="0">
                          <a:solidFill>
                            <a:srgbClr val="166534"/>
                          </a:solidFill>
                          <a:latin typeface="Arial" pitchFamily="34" charset="0"/>
                          <a:ea typeface="Arial" pitchFamily="34" charset="-122"/>
                          <a:cs typeface="Arial" pitchFamily="34" charset="-120"/>
                        </a:rPr>
                        <a:t>R180,000</a:t>
                      </a:r>
                      <a:endParaRPr lang="en-US" sz="1000" dirty="0">
                        <a:latin typeface="Arial" charset="0"/>
                        <a:ea typeface="Arial" charset="0"/>
                        <a:cs typeface="Arial" charset="0"/>
                      </a:endParaRPr>
                    </a:p>
                  </a:txBody>
                  <a:tcPr marL="91440" marR="91440" marT="45720" marB="45720">
                    <a:lnL w="6350" cap="flat" cmpd="sng" algn="ctr">
                      <a:solidFill>
                        <a:srgbClr val="D5D0C8"/>
                      </a:solidFill>
                      <a:prstDash val="solid"/>
                      <a:round/>
                      <a:headEnd type="none" w="med" len="med"/>
                      <a:tailEnd type="none" w="med" len="med"/>
                    </a:lnL>
                    <a:lnR w="6350" cap="flat" cmpd="sng" algn="ctr">
                      <a:solidFill>
                        <a:srgbClr val="D5D0C8"/>
                      </a:solidFill>
                      <a:prstDash val="solid"/>
                      <a:round/>
                      <a:headEnd type="none" w="med" len="med"/>
                      <a:tailEnd type="none" w="med" len="med"/>
                    </a:lnR>
                    <a:lnT w="6350" cap="flat" cmpd="sng" algn="ctr">
                      <a:solidFill>
                        <a:srgbClr val="D5D0C8"/>
                      </a:solidFill>
                      <a:prstDash val="solid"/>
                      <a:round/>
                      <a:headEnd type="none" w="med" len="med"/>
                      <a:tailEnd type="none" w="med" len="med"/>
                    </a:lnT>
                    <a:lnB w="6350" cap="flat" cmpd="sng" algn="ctr">
                      <a:solidFill>
                        <a:srgbClr val="D5D0C8"/>
                      </a:solidFill>
                      <a:prstDash val="solid"/>
                      <a:round/>
                      <a:headEnd type="none" w="med" len="med"/>
                      <a:tailEnd type="none" w="med" len="med"/>
                    </a:lnB>
                    <a:solidFill>
                      <a:srgbClr val="F3F1EC"/>
                    </a:solidFill>
                  </a:tcPr>
                </a:tc>
                <a:tc>
                  <a:txBody>
                    <a:bodyPr/>
                    <a:lstStyle/>
                    <a:p>
                      <a:pPr indent="0" marL="0">
                        <a:buNone/>
                      </a:pPr>
                      <a:r>
                        <a:rPr lang="en-US" sz="1000" b="1" dirty="0">
                          <a:solidFill>
                            <a:srgbClr val="166534"/>
                          </a:solidFill>
                          <a:latin typeface="Arial" pitchFamily="34" charset="0"/>
                          <a:ea typeface="Arial" pitchFamily="34" charset="-122"/>
                          <a:cs typeface="Arial" pitchFamily="34" charset="-120"/>
                        </a:rPr>
                        <a:t>R2,160,000</a:t>
                      </a:r>
                      <a:endParaRPr lang="en-US" sz="1000" dirty="0">
                        <a:latin typeface="Arial" charset="0"/>
                        <a:ea typeface="Arial" charset="0"/>
                        <a:cs typeface="Arial" charset="0"/>
                      </a:endParaRPr>
                    </a:p>
                  </a:txBody>
                  <a:tcPr marL="91440" marR="91440" marT="45720" marB="45720">
                    <a:lnL w="6350" cap="flat" cmpd="sng" algn="ctr">
                      <a:solidFill>
                        <a:srgbClr val="D5D0C8"/>
                      </a:solidFill>
                      <a:prstDash val="solid"/>
                      <a:round/>
                      <a:headEnd type="none" w="med" len="med"/>
                      <a:tailEnd type="none" w="med" len="med"/>
                    </a:lnL>
                    <a:lnR w="6350" cap="flat" cmpd="sng" algn="ctr">
                      <a:solidFill>
                        <a:srgbClr val="D5D0C8"/>
                      </a:solidFill>
                      <a:prstDash val="solid"/>
                      <a:round/>
                      <a:headEnd type="none" w="med" len="med"/>
                      <a:tailEnd type="none" w="med" len="med"/>
                    </a:lnR>
                    <a:lnT w="6350" cap="flat" cmpd="sng" algn="ctr">
                      <a:solidFill>
                        <a:srgbClr val="D5D0C8"/>
                      </a:solidFill>
                      <a:prstDash val="solid"/>
                      <a:round/>
                      <a:headEnd type="none" w="med" len="med"/>
                      <a:tailEnd type="none" w="med" len="med"/>
                    </a:lnT>
                    <a:lnB w="6350" cap="flat" cmpd="sng" algn="ctr">
                      <a:solidFill>
                        <a:srgbClr val="D5D0C8"/>
                      </a:solidFill>
                      <a:prstDash val="solid"/>
                      <a:round/>
                      <a:headEnd type="none" w="med" len="med"/>
                      <a:tailEnd type="none" w="med" len="med"/>
                    </a:lnB>
                    <a:solidFill>
                      <a:srgbClr val="F3F1EC"/>
                    </a:solidFill>
                  </a:tcPr>
                </a:tc>
              </a:tr>
              <a:tr h="502920">
                <a:tc>
                  <a:txBody>
                    <a:bodyPr/>
                    <a:lstStyle/>
                    <a:p>
                      <a:pPr indent="0" marL="0">
                        <a:buNone/>
                      </a:pPr>
                      <a:r>
                        <a:rPr lang="en-US" sz="1000" dirty="0">
                          <a:solidFill>
                            <a:srgbClr val="000000"/>
                          </a:solidFill>
                          <a:latin typeface="Arial" pitchFamily="34" charset="0"/>
                          <a:ea typeface="Arial" pitchFamily="34" charset="-122"/>
                          <a:cs typeface="Arial" pitchFamily="34" charset="-120"/>
                        </a:rPr>
                        <a:t>Compliance Summits (4/yr)</a:t>
                      </a:r>
                      <a:endParaRPr lang="en-US" sz="1000" dirty="0">
                        <a:latin typeface="Arial" charset="0"/>
                        <a:ea typeface="Arial" charset="0"/>
                        <a:cs typeface="Arial" charset="0"/>
                      </a:endParaRPr>
                    </a:p>
                  </a:txBody>
                  <a:tcPr marL="91440" marR="91440" marT="45720" marB="45720">
                    <a:lnL w="6350" cap="flat" cmpd="sng" algn="ctr">
                      <a:solidFill>
                        <a:srgbClr val="D5D0C8"/>
                      </a:solidFill>
                      <a:prstDash val="solid"/>
                      <a:round/>
                      <a:headEnd type="none" w="med" len="med"/>
                      <a:tailEnd type="none" w="med" len="med"/>
                    </a:lnL>
                    <a:lnR w="6350" cap="flat" cmpd="sng" algn="ctr">
                      <a:solidFill>
                        <a:srgbClr val="D5D0C8"/>
                      </a:solidFill>
                      <a:prstDash val="solid"/>
                      <a:round/>
                      <a:headEnd type="none" w="med" len="med"/>
                      <a:tailEnd type="none" w="med" len="med"/>
                    </a:lnR>
                    <a:lnT w="6350" cap="flat" cmpd="sng" algn="ctr">
                      <a:solidFill>
                        <a:srgbClr val="D5D0C8"/>
                      </a:solidFill>
                      <a:prstDash val="solid"/>
                      <a:round/>
                      <a:headEnd type="none" w="med" len="med"/>
                      <a:tailEnd type="none" w="med" len="med"/>
                    </a:lnT>
                    <a:lnB w="6350" cap="flat" cmpd="sng" algn="ctr">
                      <a:solidFill>
                        <a:srgbClr val="D5D0C8"/>
                      </a:solidFill>
                      <a:prstDash val="solid"/>
                      <a:round/>
                      <a:headEnd type="none" w="med" len="med"/>
                      <a:tailEnd type="none" w="med" len="med"/>
                    </a:lnB>
                  </a:tcPr>
                </a:tc>
                <a:tc>
                  <a:txBody>
                    <a:bodyPr/>
                    <a:lstStyle/>
                    <a:p>
                      <a:pPr indent="0" marL="0">
                        <a:buNone/>
                      </a:pPr>
                      <a:r>
                        <a:rPr lang="en-US" sz="1000" dirty="0">
                          <a:solidFill>
                            <a:srgbClr val="000000"/>
                          </a:solidFill>
                          <a:latin typeface="Arial" pitchFamily="34" charset="0"/>
                          <a:ea typeface="Arial" pitchFamily="34" charset="-122"/>
                          <a:cs typeface="Arial" pitchFamily="34" charset="-120"/>
                        </a:rPr>
                        <a:t>R2,500/delegate</a:t>
                      </a:r>
                      <a:endParaRPr lang="en-US" sz="1000" dirty="0">
                        <a:latin typeface="Arial" charset="0"/>
                        <a:ea typeface="Arial" charset="0"/>
                        <a:cs typeface="Arial" charset="0"/>
                      </a:endParaRPr>
                    </a:p>
                  </a:txBody>
                  <a:tcPr marL="91440" marR="91440" marT="45720" marB="45720">
                    <a:lnL w="6350" cap="flat" cmpd="sng" algn="ctr">
                      <a:solidFill>
                        <a:srgbClr val="D5D0C8"/>
                      </a:solidFill>
                      <a:prstDash val="solid"/>
                      <a:round/>
                      <a:headEnd type="none" w="med" len="med"/>
                      <a:tailEnd type="none" w="med" len="med"/>
                    </a:lnL>
                    <a:lnR w="6350" cap="flat" cmpd="sng" algn="ctr">
                      <a:solidFill>
                        <a:srgbClr val="D5D0C8"/>
                      </a:solidFill>
                      <a:prstDash val="solid"/>
                      <a:round/>
                      <a:headEnd type="none" w="med" len="med"/>
                      <a:tailEnd type="none" w="med" len="med"/>
                    </a:lnR>
                    <a:lnT w="6350" cap="flat" cmpd="sng" algn="ctr">
                      <a:solidFill>
                        <a:srgbClr val="D5D0C8"/>
                      </a:solidFill>
                      <a:prstDash val="solid"/>
                      <a:round/>
                      <a:headEnd type="none" w="med" len="med"/>
                      <a:tailEnd type="none" w="med" len="med"/>
                    </a:lnT>
                    <a:lnB w="6350" cap="flat" cmpd="sng" algn="ctr">
                      <a:solidFill>
                        <a:srgbClr val="D5D0C8"/>
                      </a:solidFill>
                      <a:prstDash val="solid"/>
                      <a:round/>
                      <a:headEnd type="none" w="med" len="med"/>
                      <a:tailEnd type="none" w="med" len="med"/>
                    </a:lnB>
                  </a:tcPr>
                </a:tc>
                <a:tc>
                  <a:txBody>
                    <a:bodyPr/>
                    <a:lstStyle/>
                    <a:p>
                      <a:pPr algn="ctr" indent="0" marL="0">
                        <a:buNone/>
                      </a:pPr>
                      <a:r>
                        <a:rPr lang="en-US" sz="1000" dirty="0">
                          <a:solidFill>
                            <a:srgbClr val="000000"/>
                          </a:solidFill>
                          <a:latin typeface="Arial" pitchFamily="34" charset="0"/>
                          <a:ea typeface="Arial" pitchFamily="34" charset="-122"/>
                          <a:cs typeface="Arial" pitchFamily="34" charset="-120"/>
                        </a:rPr>
                        <a:t>4 × 200 delegates</a:t>
                      </a:r>
                      <a:endParaRPr lang="en-US" sz="1000" dirty="0">
                        <a:latin typeface="Arial" charset="0"/>
                        <a:ea typeface="Arial" charset="0"/>
                        <a:cs typeface="Arial" charset="0"/>
                      </a:endParaRPr>
                    </a:p>
                  </a:txBody>
                  <a:tcPr marL="91440" marR="91440" marT="45720" marB="45720">
                    <a:lnL w="6350" cap="flat" cmpd="sng" algn="ctr">
                      <a:solidFill>
                        <a:srgbClr val="D5D0C8"/>
                      </a:solidFill>
                      <a:prstDash val="solid"/>
                      <a:round/>
                      <a:headEnd type="none" w="med" len="med"/>
                      <a:tailEnd type="none" w="med" len="med"/>
                    </a:lnL>
                    <a:lnR w="6350" cap="flat" cmpd="sng" algn="ctr">
                      <a:solidFill>
                        <a:srgbClr val="D5D0C8"/>
                      </a:solidFill>
                      <a:prstDash val="solid"/>
                      <a:round/>
                      <a:headEnd type="none" w="med" len="med"/>
                      <a:tailEnd type="none" w="med" len="med"/>
                    </a:lnR>
                    <a:lnT w="6350" cap="flat" cmpd="sng" algn="ctr">
                      <a:solidFill>
                        <a:srgbClr val="D5D0C8"/>
                      </a:solidFill>
                      <a:prstDash val="solid"/>
                      <a:round/>
                      <a:headEnd type="none" w="med" len="med"/>
                      <a:tailEnd type="none" w="med" len="med"/>
                    </a:lnT>
                    <a:lnB w="6350" cap="flat" cmpd="sng" algn="ctr">
                      <a:solidFill>
                        <a:srgbClr val="D5D0C8"/>
                      </a:solidFill>
                      <a:prstDash val="solid"/>
                      <a:round/>
                      <a:headEnd type="none" w="med" len="med"/>
                      <a:tailEnd type="none" w="med" len="med"/>
                    </a:lnB>
                  </a:tcPr>
                </a:tc>
                <a:tc>
                  <a:txBody>
                    <a:bodyPr/>
                    <a:lstStyle/>
                    <a:p>
                      <a:pPr indent="0" marL="0">
                        <a:buNone/>
                      </a:pPr>
                      <a:r>
                        <a:rPr lang="en-US" sz="1000" b="1" dirty="0">
                          <a:solidFill>
                            <a:srgbClr val="166534"/>
                          </a:solidFill>
                          <a:latin typeface="Arial" pitchFamily="34" charset="0"/>
                          <a:ea typeface="Arial" pitchFamily="34" charset="-122"/>
                          <a:cs typeface="Arial" pitchFamily="34" charset="-120"/>
                        </a:rPr>
                        <a:t>R166,667</a:t>
                      </a:r>
                      <a:endParaRPr lang="en-US" sz="1000" dirty="0">
                        <a:latin typeface="Arial" charset="0"/>
                        <a:ea typeface="Arial" charset="0"/>
                        <a:cs typeface="Arial" charset="0"/>
                      </a:endParaRPr>
                    </a:p>
                  </a:txBody>
                  <a:tcPr marL="91440" marR="91440" marT="45720" marB="45720">
                    <a:lnL w="6350" cap="flat" cmpd="sng" algn="ctr">
                      <a:solidFill>
                        <a:srgbClr val="D5D0C8"/>
                      </a:solidFill>
                      <a:prstDash val="solid"/>
                      <a:round/>
                      <a:headEnd type="none" w="med" len="med"/>
                      <a:tailEnd type="none" w="med" len="med"/>
                    </a:lnL>
                    <a:lnR w="6350" cap="flat" cmpd="sng" algn="ctr">
                      <a:solidFill>
                        <a:srgbClr val="D5D0C8"/>
                      </a:solidFill>
                      <a:prstDash val="solid"/>
                      <a:round/>
                      <a:headEnd type="none" w="med" len="med"/>
                      <a:tailEnd type="none" w="med" len="med"/>
                    </a:lnR>
                    <a:lnT w="6350" cap="flat" cmpd="sng" algn="ctr">
                      <a:solidFill>
                        <a:srgbClr val="D5D0C8"/>
                      </a:solidFill>
                      <a:prstDash val="solid"/>
                      <a:round/>
                      <a:headEnd type="none" w="med" len="med"/>
                      <a:tailEnd type="none" w="med" len="med"/>
                    </a:lnT>
                    <a:lnB w="6350" cap="flat" cmpd="sng" algn="ctr">
                      <a:solidFill>
                        <a:srgbClr val="D5D0C8"/>
                      </a:solidFill>
                      <a:prstDash val="solid"/>
                      <a:round/>
                      <a:headEnd type="none" w="med" len="med"/>
                      <a:tailEnd type="none" w="med" len="med"/>
                    </a:lnB>
                  </a:tcPr>
                </a:tc>
                <a:tc>
                  <a:txBody>
                    <a:bodyPr/>
                    <a:lstStyle/>
                    <a:p>
                      <a:pPr indent="0" marL="0">
                        <a:buNone/>
                      </a:pPr>
                      <a:r>
                        <a:rPr lang="en-US" sz="1000" b="1" dirty="0">
                          <a:solidFill>
                            <a:srgbClr val="166534"/>
                          </a:solidFill>
                          <a:latin typeface="Arial" pitchFamily="34" charset="0"/>
                          <a:ea typeface="Arial" pitchFamily="34" charset="-122"/>
                          <a:cs typeface="Arial" pitchFamily="34" charset="-120"/>
                        </a:rPr>
                        <a:t>R2,000,000</a:t>
                      </a:r>
                      <a:endParaRPr lang="en-US" sz="1000" dirty="0">
                        <a:latin typeface="Arial" charset="0"/>
                        <a:ea typeface="Arial" charset="0"/>
                        <a:cs typeface="Arial" charset="0"/>
                      </a:endParaRPr>
                    </a:p>
                  </a:txBody>
                  <a:tcPr marL="91440" marR="91440" marT="45720" marB="45720">
                    <a:lnL w="6350" cap="flat" cmpd="sng" algn="ctr">
                      <a:solidFill>
                        <a:srgbClr val="D5D0C8"/>
                      </a:solidFill>
                      <a:prstDash val="solid"/>
                      <a:round/>
                      <a:headEnd type="none" w="med" len="med"/>
                      <a:tailEnd type="none" w="med" len="med"/>
                    </a:lnL>
                    <a:lnR w="6350" cap="flat" cmpd="sng" algn="ctr">
                      <a:solidFill>
                        <a:srgbClr val="D5D0C8"/>
                      </a:solidFill>
                      <a:prstDash val="solid"/>
                      <a:round/>
                      <a:headEnd type="none" w="med" len="med"/>
                      <a:tailEnd type="none" w="med" len="med"/>
                    </a:lnR>
                    <a:lnT w="6350" cap="flat" cmpd="sng" algn="ctr">
                      <a:solidFill>
                        <a:srgbClr val="D5D0C8"/>
                      </a:solidFill>
                      <a:prstDash val="solid"/>
                      <a:round/>
                      <a:headEnd type="none" w="med" len="med"/>
                      <a:tailEnd type="none" w="med" len="med"/>
                    </a:lnT>
                    <a:lnB w="6350" cap="flat" cmpd="sng" algn="ctr">
                      <a:solidFill>
                        <a:srgbClr val="D5D0C8"/>
                      </a:solidFill>
                      <a:prstDash val="solid"/>
                      <a:round/>
                      <a:headEnd type="none" w="med" len="med"/>
                      <a:tailEnd type="none" w="med" len="med"/>
                    </a:lnB>
                  </a:tcPr>
                </a:tc>
              </a:tr>
              <a:tr h="502920">
                <a:tc>
                  <a:txBody>
                    <a:bodyPr/>
                    <a:lstStyle/>
                    <a:p>
                      <a:pPr indent="0" marL="0">
                        <a:buNone/>
                      </a:pPr>
                      <a:r>
                        <a:rPr lang="en-US" sz="1100" b="1" dirty="0">
                          <a:solidFill>
                            <a:srgbClr val="C9A84C"/>
                          </a:solidFill>
                          <a:latin typeface="Cambria" pitchFamily="34" charset="0"/>
                          <a:ea typeface="Cambria" pitchFamily="34" charset="-122"/>
                          <a:cs typeface="Cambria" pitchFamily="34" charset="-120"/>
                        </a:rPr>
                        <a:t>TOTAL — FULL DEPLOYMENT</a:t>
                      </a:r>
                      <a:endParaRPr lang="en-US" sz="1100" dirty="0">
                        <a:latin typeface="Cambria" charset="0"/>
                        <a:ea typeface="Cambria" charset="0"/>
                        <a:cs typeface="Cambria" charset="0"/>
                      </a:endParaRPr>
                    </a:p>
                  </a:txBody>
                  <a:tcPr marL="91440" marR="91440" marT="45720" marB="45720">
                    <a:lnL w="6350" cap="flat" cmpd="sng" algn="ctr">
                      <a:solidFill>
                        <a:srgbClr val="D5D0C8"/>
                      </a:solidFill>
                      <a:prstDash val="solid"/>
                      <a:round/>
                      <a:headEnd type="none" w="med" len="med"/>
                      <a:tailEnd type="none" w="med" len="med"/>
                    </a:lnL>
                    <a:lnR w="6350" cap="flat" cmpd="sng" algn="ctr">
                      <a:solidFill>
                        <a:srgbClr val="D5D0C8"/>
                      </a:solidFill>
                      <a:prstDash val="solid"/>
                      <a:round/>
                      <a:headEnd type="none" w="med" len="med"/>
                      <a:tailEnd type="none" w="med" len="med"/>
                    </a:lnR>
                    <a:lnT w="6350" cap="flat" cmpd="sng" algn="ctr">
                      <a:solidFill>
                        <a:srgbClr val="D5D0C8"/>
                      </a:solidFill>
                      <a:prstDash val="solid"/>
                      <a:round/>
                      <a:headEnd type="none" w="med" len="med"/>
                      <a:tailEnd type="none" w="med" len="med"/>
                    </a:lnT>
                    <a:lnB w="6350" cap="flat" cmpd="sng" algn="ctr">
                      <a:solidFill>
                        <a:srgbClr val="D5D0C8"/>
                      </a:solidFill>
                      <a:prstDash val="solid"/>
                      <a:round/>
                      <a:headEnd type="none" w="med" len="med"/>
                      <a:tailEnd type="none" w="med" len="med"/>
                    </a:lnB>
                    <a:solidFill>
                      <a:srgbClr val="1F3864"/>
                    </a:solidFill>
                  </a:tcPr>
                </a:tc>
                <a:tc>
                  <a:txBody>
                    <a:bodyPr/>
                    <a:lstStyle/>
                    <a:p>
                      <a:pPr indent="0" marL="0">
                        <a:buNone/>
                      </a:pPr>
                      <a:r>
                        <a:rPr lang="en-US" sz="900" dirty="0">
                          <a:solidFill>
                            <a:srgbClr val="BBBBBB"/>
                          </a:solidFill>
                          <a:latin typeface="Arial" pitchFamily="34" charset="0"/>
                          <a:ea typeface="Arial" pitchFamily="34" charset="-122"/>
                          <a:cs typeface="Arial" pitchFamily="34" charset="-120"/>
                        </a:rPr>
                        <a:t>Blended avg R5,200/mo</a:t>
                      </a:r>
                      <a:endParaRPr lang="en-US" sz="900" dirty="0">
                        <a:latin typeface="Arial" charset="0"/>
                        <a:ea typeface="Arial" charset="0"/>
                        <a:cs typeface="Arial" charset="0"/>
                      </a:endParaRPr>
                    </a:p>
                  </a:txBody>
                  <a:tcPr marL="91440" marR="91440" marT="45720" marB="45720">
                    <a:lnL w="6350" cap="flat" cmpd="sng" algn="ctr">
                      <a:solidFill>
                        <a:srgbClr val="D5D0C8"/>
                      </a:solidFill>
                      <a:prstDash val="solid"/>
                      <a:round/>
                      <a:headEnd type="none" w="med" len="med"/>
                      <a:tailEnd type="none" w="med" len="med"/>
                    </a:lnL>
                    <a:lnR w="6350" cap="flat" cmpd="sng" algn="ctr">
                      <a:solidFill>
                        <a:srgbClr val="D5D0C8"/>
                      </a:solidFill>
                      <a:prstDash val="solid"/>
                      <a:round/>
                      <a:headEnd type="none" w="med" len="med"/>
                      <a:tailEnd type="none" w="med" len="med"/>
                    </a:lnR>
                    <a:lnT w="6350" cap="flat" cmpd="sng" algn="ctr">
                      <a:solidFill>
                        <a:srgbClr val="D5D0C8"/>
                      </a:solidFill>
                      <a:prstDash val="solid"/>
                      <a:round/>
                      <a:headEnd type="none" w="med" len="med"/>
                      <a:tailEnd type="none" w="med" len="med"/>
                    </a:lnT>
                    <a:lnB w="6350" cap="flat" cmpd="sng" algn="ctr">
                      <a:solidFill>
                        <a:srgbClr val="D5D0C8"/>
                      </a:solidFill>
                      <a:prstDash val="solid"/>
                      <a:round/>
                      <a:headEnd type="none" w="med" len="med"/>
                      <a:tailEnd type="none" w="med" len="med"/>
                    </a:lnB>
                    <a:solidFill>
                      <a:srgbClr val="1F3864"/>
                    </a:solidFill>
                  </a:tcPr>
                </a:tc>
                <a:tc>
                  <a:txBody>
                    <a:bodyPr/>
                    <a:lstStyle/>
                    <a:p>
                      <a:pPr algn="ctr" indent="0" marL="0">
                        <a:buNone/>
                      </a:pPr>
                      <a:r>
                        <a:rPr lang="en-US" sz="1000" b="1" dirty="0">
                          <a:solidFill>
                            <a:srgbClr val="FFFFFF"/>
                          </a:solidFill>
                          <a:latin typeface="Arial" pitchFamily="34" charset="0"/>
                          <a:ea typeface="Arial" pitchFamily="34" charset="-122"/>
                          <a:cs typeface="Arial" pitchFamily="34" charset="-120"/>
                        </a:rPr>
                        <a:t>520+ subscribers</a:t>
                      </a:r>
                      <a:endParaRPr lang="en-US" sz="1000" dirty="0">
                        <a:latin typeface="Arial" charset="0"/>
                        <a:ea typeface="Arial" charset="0"/>
                        <a:cs typeface="Arial" charset="0"/>
                      </a:endParaRPr>
                    </a:p>
                  </a:txBody>
                  <a:tcPr marL="91440" marR="91440" marT="45720" marB="45720">
                    <a:lnL w="6350" cap="flat" cmpd="sng" algn="ctr">
                      <a:solidFill>
                        <a:srgbClr val="D5D0C8"/>
                      </a:solidFill>
                      <a:prstDash val="solid"/>
                      <a:round/>
                      <a:headEnd type="none" w="med" len="med"/>
                      <a:tailEnd type="none" w="med" len="med"/>
                    </a:lnL>
                    <a:lnR w="6350" cap="flat" cmpd="sng" algn="ctr">
                      <a:solidFill>
                        <a:srgbClr val="D5D0C8"/>
                      </a:solidFill>
                      <a:prstDash val="solid"/>
                      <a:round/>
                      <a:headEnd type="none" w="med" len="med"/>
                      <a:tailEnd type="none" w="med" len="med"/>
                    </a:lnR>
                    <a:lnT w="6350" cap="flat" cmpd="sng" algn="ctr">
                      <a:solidFill>
                        <a:srgbClr val="D5D0C8"/>
                      </a:solidFill>
                      <a:prstDash val="solid"/>
                      <a:round/>
                      <a:headEnd type="none" w="med" len="med"/>
                      <a:tailEnd type="none" w="med" len="med"/>
                    </a:lnT>
                    <a:lnB w="6350" cap="flat" cmpd="sng" algn="ctr">
                      <a:solidFill>
                        <a:srgbClr val="D5D0C8"/>
                      </a:solidFill>
                      <a:prstDash val="solid"/>
                      <a:round/>
                      <a:headEnd type="none" w="med" len="med"/>
                      <a:tailEnd type="none" w="med" len="med"/>
                    </a:lnB>
                    <a:solidFill>
                      <a:srgbClr val="1F3864"/>
                    </a:solidFill>
                  </a:tcPr>
                </a:tc>
                <a:tc>
                  <a:txBody>
                    <a:bodyPr/>
                    <a:lstStyle/>
                    <a:p>
                      <a:pPr indent="0" marL="0">
                        <a:buNone/>
                      </a:pPr>
                      <a:r>
                        <a:rPr lang="en-US" sz="1100" b="1" dirty="0">
                          <a:solidFill>
                            <a:srgbClr val="C9A84C"/>
                          </a:solidFill>
                          <a:latin typeface="Cambria" pitchFamily="34" charset="0"/>
                          <a:ea typeface="Cambria" pitchFamily="34" charset="-122"/>
                          <a:cs typeface="Cambria" pitchFamily="34" charset="-120"/>
                        </a:rPr>
                        <a:t>R2,121,667/mo</a:t>
                      </a:r>
                      <a:endParaRPr lang="en-US" sz="1100" dirty="0">
                        <a:latin typeface="Cambria" charset="0"/>
                        <a:ea typeface="Cambria" charset="0"/>
                        <a:cs typeface="Cambria" charset="0"/>
                      </a:endParaRPr>
                    </a:p>
                  </a:txBody>
                  <a:tcPr marL="91440" marR="91440" marT="45720" marB="45720">
                    <a:lnL w="6350" cap="flat" cmpd="sng" algn="ctr">
                      <a:solidFill>
                        <a:srgbClr val="D5D0C8"/>
                      </a:solidFill>
                      <a:prstDash val="solid"/>
                      <a:round/>
                      <a:headEnd type="none" w="med" len="med"/>
                      <a:tailEnd type="none" w="med" len="med"/>
                    </a:lnL>
                    <a:lnR w="6350" cap="flat" cmpd="sng" algn="ctr">
                      <a:solidFill>
                        <a:srgbClr val="D5D0C8"/>
                      </a:solidFill>
                      <a:prstDash val="solid"/>
                      <a:round/>
                      <a:headEnd type="none" w="med" len="med"/>
                      <a:tailEnd type="none" w="med" len="med"/>
                    </a:lnR>
                    <a:lnT w="6350" cap="flat" cmpd="sng" algn="ctr">
                      <a:solidFill>
                        <a:srgbClr val="D5D0C8"/>
                      </a:solidFill>
                      <a:prstDash val="solid"/>
                      <a:round/>
                      <a:headEnd type="none" w="med" len="med"/>
                      <a:tailEnd type="none" w="med" len="med"/>
                    </a:lnT>
                    <a:lnB w="6350" cap="flat" cmpd="sng" algn="ctr">
                      <a:solidFill>
                        <a:srgbClr val="D5D0C8"/>
                      </a:solidFill>
                      <a:prstDash val="solid"/>
                      <a:round/>
                      <a:headEnd type="none" w="med" len="med"/>
                      <a:tailEnd type="none" w="med" len="med"/>
                    </a:lnB>
                    <a:solidFill>
                      <a:srgbClr val="1F3864"/>
                    </a:solidFill>
                  </a:tcPr>
                </a:tc>
                <a:tc>
                  <a:txBody>
                    <a:bodyPr/>
                    <a:lstStyle/>
                    <a:p>
                      <a:pPr indent="0" marL="0">
                        <a:buNone/>
                      </a:pPr>
                      <a:r>
                        <a:rPr lang="en-US" sz="1300" b="1" dirty="0">
                          <a:solidFill>
                            <a:srgbClr val="C9A84C"/>
                          </a:solidFill>
                          <a:latin typeface="Cambria" pitchFamily="34" charset="0"/>
                          <a:ea typeface="Cambria" pitchFamily="34" charset="-122"/>
                          <a:cs typeface="Cambria" pitchFamily="34" charset="-120"/>
                        </a:rPr>
                        <a:t>R25,460,000</a:t>
                      </a:r>
                      <a:endParaRPr lang="en-US" sz="1300" dirty="0">
                        <a:latin typeface="Cambria" charset="0"/>
                        <a:ea typeface="Cambria" charset="0"/>
                        <a:cs typeface="Cambria" charset="0"/>
                      </a:endParaRPr>
                    </a:p>
                  </a:txBody>
                  <a:tcPr marL="91440" marR="91440" marT="45720" marB="45720">
                    <a:lnL w="6350" cap="flat" cmpd="sng" algn="ctr">
                      <a:solidFill>
                        <a:srgbClr val="D5D0C8"/>
                      </a:solidFill>
                      <a:prstDash val="solid"/>
                      <a:round/>
                      <a:headEnd type="none" w="med" len="med"/>
                      <a:tailEnd type="none" w="med" len="med"/>
                    </a:lnL>
                    <a:lnR w="6350" cap="flat" cmpd="sng" algn="ctr">
                      <a:solidFill>
                        <a:srgbClr val="D5D0C8"/>
                      </a:solidFill>
                      <a:prstDash val="solid"/>
                      <a:round/>
                      <a:headEnd type="none" w="med" len="med"/>
                      <a:tailEnd type="none" w="med" len="med"/>
                    </a:lnR>
                    <a:lnT w="6350" cap="flat" cmpd="sng" algn="ctr">
                      <a:solidFill>
                        <a:srgbClr val="D5D0C8"/>
                      </a:solidFill>
                      <a:prstDash val="solid"/>
                      <a:round/>
                      <a:headEnd type="none" w="med" len="med"/>
                      <a:tailEnd type="none" w="med" len="med"/>
                    </a:lnT>
                    <a:lnB w="6350" cap="flat" cmpd="sng" algn="ctr">
                      <a:solidFill>
                        <a:srgbClr val="D5D0C8"/>
                      </a:solidFill>
                      <a:prstDash val="solid"/>
                      <a:round/>
                      <a:headEnd type="none" w="med" len="med"/>
                      <a:tailEnd type="none" w="med" len="med"/>
                    </a:lnB>
                    <a:solidFill>
                      <a:srgbClr val="1F3864"/>
                    </a:solidFill>
                  </a:tcPr>
                </a:tc>
              </a:tr>
            </a:tbl>
          </a:graphicData>
        </a:graphic>
      </p:graphicFrame>
      <p:sp>
        <p:nvSpPr>
          <p:cNvPr id="6" name="Text 3"/>
          <p:cNvSpPr/>
          <p:nvPr/>
        </p:nvSpPr>
        <p:spPr>
          <a:xfrm>
            <a:off x="274320" y="4892040"/>
            <a:ext cx="8595360" cy="182880"/>
          </a:xfrm>
          <a:prstGeom prst="rect">
            <a:avLst/>
          </a:prstGeom>
          <a:noFill/>
          <a:ln/>
        </p:spPr>
        <p:txBody>
          <a:bodyPr wrap="square" rtlCol="0" anchor="ctr"/>
          <a:lstStyle/>
          <a:p>
            <a:pPr indent="0" marL="0">
              <a:buNone/>
            </a:pPr>
            <a:r>
              <a:rPr lang="en-US" sz="750" i="1" dirty="0">
                <a:solidFill>
                  <a:srgbClr val="6B7280"/>
                </a:solidFill>
                <a:latin typeface="Arial" pitchFamily="34" charset="0"/>
                <a:ea typeface="Arial" pitchFamily="34" charset="-122"/>
                <a:cs typeface="Arial" pitchFamily="34" charset="-120"/>
              </a:rPr>
              <a:t>*Year 1 projections are conservative. Full deployment assumes 24 months of active market development across all five segments.</a:t>
            </a:r>
            <a:endParaRPr lang="en-US" sz="7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9F8F5"/>
        </a:solidFill>
      </p:bgPr>
    </p:bg>
    <p:spTree>
      <p:nvGrpSpPr>
        <p:cNvPr id="1" name=""/>
        <p:cNvGrpSpPr/>
        <p:nvPr/>
      </p:nvGrpSpPr>
      <p:grpSpPr>
        <a:xfrm>
          <a:off x="0" y="0"/>
          <a:ext cx="0" cy="0"/>
          <a:chOff x="0" y="0"/>
          <a:chExt cx="0" cy="0"/>
        </a:xfrm>
      </p:grpSpPr>
      <p:sp>
        <p:nvSpPr>
          <p:cNvPr id="2" name="Text 0"/>
          <p:cNvSpPr/>
          <p:nvPr/>
        </p:nvSpPr>
        <p:spPr>
          <a:xfrm>
            <a:off x="411480" y="201168"/>
            <a:ext cx="8229600" cy="201168"/>
          </a:xfrm>
          <a:prstGeom prst="rect">
            <a:avLst/>
          </a:prstGeom>
          <a:noFill/>
          <a:ln/>
        </p:spPr>
        <p:txBody>
          <a:bodyPr wrap="square" rtlCol="0" anchor="ctr"/>
          <a:lstStyle/>
          <a:p>
            <a:pPr indent="0" marL="0">
              <a:buNone/>
            </a:pPr>
            <a:r>
              <a:rPr lang="en-US" sz="900" b="1" spc="400" kern="0" dirty="0">
                <a:solidFill>
                  <a:srgbClr val="C9A84C"/>
                </a:solidFill>
                <a:latin typeface="Arial" pitchFamily="34" charset="0"/>
                <a:ea typeface="Arial" pitchFamily="34" charset="-122"/>
                <a:cs typeface="Arial" pitchFamily="34" charset="-120"/>
              </a:rPr>
              <a:t>REVENUE TRAJECTORY</a:t>
            </a:r>
            <a:endParaRPr lang="en-US" sz="900" dirty="0"/>
          </a:p>
        </p:txBody>
      </p:sp>
      <p:sp>
        <p:nvSpPr>
          <p:cNvPr id="3" name="Text 1"/>
          <p:cNvSpPr/>
          <p:nvPr/>
        </p:nvSpPr>
        <p:spPr>
          <a:xfrm>
            <a:off x="411480" y="475488"/>
            <a:ext cx="7772400" cy="640080"/>
          </a:xfrm>
          <a:prstGeom prst="rect">
            <a:avLst/>
          </a:prstGeom>
          <a:noFill/>
          <a:ln/>
        </p:spPr>
        <p:txBody>
          <a:bodyPr wrap="square" rtlCol="0" anchor="ctr"/>
          <a:lstStyle/>
          <a:p>
            <a:pPr indent="0" marL="0">
              <a:buNone/>
            </a:pPr>
            <a:r>
              <a:rPr lang="en-US" sz="2800" b="1" dirty="0">
                <a:solidFill>
                  <a:srgbClr val="1F3864"/>
                </a:solidFill>
                <a:latin typeface="Cambria" pitchFamily="34" charset="0"/>
                <a:ea typeface="Cambria" pitchFamily="34" charset="-122"/>
                <a:cs typeface="Cambria" pitchFamily="34" charset="-120"/>
              </a:rPr>
              <a:t>36-Month MRR Projection — Five Segments</a:t>
            </a:r>
            <a:endParaRPr lang="en-US" sz="2800" dirty="0"/>
          </a:p>
        </p:txBody>
      </p:sp>
      <p:sp>
        <p:nvSpPr>
          <p:cNvPr id="4" name="Shape 2"/>
          <p:cNvSpPr/>
          <p:nvPr/>
        </p:nvSpPr>
        <p:spPr>
          <a:xfrm>
            <a:off x="411480" y="1207008"/>
            <a:ext cx="8321040" cy="0"/>
          </a:xfrm>
          <a:prstGeom prst="line">
            <a:avLst/>
          </a:prstGeom>
          <a:noFill/>
          <a:ln w="19050">
            <a:solidFill>
              <a:srgbClr val="C9A84C"/>
            </a:solidFill>
            <a:prstDash val="solid"/>
          </a:ln>
        </p:spPr>
      </p:sp>
      <p:graphicFrame>
        <p:nvGraphicFramePr>
          <p:cNvPr id="5" name="Chart 0" descr=""/>
          <p:cNvGraphicFramePr/>
          <p:nvPr/>
        </p:nvGraphicFramePr>
        <p:xfrm>
          <a:off x="274320" y="1298448"/>
          <a:ext cx="5943600" cy="3611880"/>
        </p:xfrm>
        <a:graphic xmlns:a="http://schemas.openxmlformats.org/drawingml/2006/main">
          <a:graphicData uri="http://schemas.openxmlformats.org/drawingml/2006/chart">
            <c:chart xmlns:c="http://schemas.openxmlformats.org/drawingml/2006/chart" r:id="rId1"/>
          </a:graphicData>
        </a:graphic>
      </p:graphicFrame>
      <p:sp>
        <p:nvSpPr>
          <p:cNvPr id="6" name="Shape 3"/>
          <p:cNvSpPr/>
          <p:nvPr/>
        </p:nvSpPr>
        <p:spPr>
          <a:xfrm>
            <a:off x="6400800" y="1371600"/>
            <a:ext cx="2514600" cy="658368"/>
          </a:xfrm>
          <a:prstGeom prst="roundRect">
            <a:avLst>
              <a:gd name="adj" fmla="val 11111"/>
            </a:avLst>
          </a:prstGeom>
          <a:solidFill>
            <a:srgbClr val="FFFFFF"/>
          </a:solidFill>
          <a:ln w="6350">
            <a:solidFill>
              <a:srgbClr val="E5E0D5"/>
            </a:solidFill>
            <a:prstDash val="solid"/>
          </a:ln>
          <a:effectLst>
            <a:outerShdw sx="100000" sy="100000" kx="0" ky="0" algn="bl" rotWithShape="0" blurRad="101600" dist="38100" dir="2700000">
              <a:srgbClr val="000000">
                <a:alpha val="13000"/>
              </a:srgbClr>
            </a:outerShdw>
          </a:effectLst>
        </p:spPr>
      </p:sp>
      <p:sp>
        <p:nvSpPr>
          <p:cNvPr id="7" name="Text 4"/>
          <p:cNvSpPr/>
          <p:nvPr/>
        </p:nvSpPr>
        <p:spPr>
          <a:xfrm>
            <a:off x="6510528" y="1417320"/>
            <a:ext cx="2286000" cy="219456"/>
          </a:xfrm>
          <a:prstGeom prst="rect">
            <a:avLst/>
          </a:prstGeom>
          <a:noFill/>
          <a:ln/>
        </p:spPr>
        <p:txBody>
          <a:bodyPr wrap="square" rtlCol="0" anchor="ctr"/>
          <a:lstStyle/>
          <a:p>
            <a:pPr indent="0" marL="0">
              <a:buNone/>
            </a:pPr>
            <a:r>
              <a:rPr lang="en-US" sz="800" b="1" spc="200" kern="0" dirty="0">
                <a:solidFill>
                  <a:srgbClr val="6B7280"/>
                </a:solidFill>
                <a:latin typeface="Arial" pitchFamily="34" charset="0"/>
                <a:ea typeface="Arial" pitchFamily="34" charset="-122"/>
                <a:cs typeface="Arial" pitchFamily="34" charset="-120"/>
              </a:rPr>
              <a:t>Month 3</a:t>
            </a:r>
            <a:endParaRPr lang="en-US" sz="800" dirty="0"/>
          </a:p>
        </p:txBody>
      </p:sp>
      <p:sp>
        <p:nvSpPr>
          <p:cNvPr id="8" name="Text 5"/>
          <p:cNvSpPr/>
          <p:nvPr/>
        </p:nvSpPr>
        <p:spPr>
          <a:xfrm>
            <a:off x="6510528" y="1627632"/>
            <a:ext cx="2286000" cy="274320"/>
          </a:xfrm>
          <a:prstGeom prst="rect">
            <a:avLst/>
          </a:prstGeom>
          <a:noFill/>
          <a:ln/>
        </p:spPr>
        <p:txBody>
          <a:bodyPr wrap="square" rtlCol="0" anchor="ctr"/>
          <a:lstStyle/>
          <a:p>
            <a:pPr indent="0" marL="0">
              <a:buNone/>
            </a:pPr>
            <a:r>
              <a:rPr lang="en-US" sz="1500" b="1" dirty="0">
                <a:solidFill>
                  <a:srgbClr val="1F3864"/>
                </a:solidFill>
                <a:latin typeface="Cambria" pitchFamily="34" charset="0"/>
                <a:ea typeface="Cambria" pitchFamily="34" charset="-122"/>
                <a:cs typeface="Cambria" pitchFamily="34" charset="-120"/>
              </a:rPr>
              <a:t>R217K MRR</a:t>
            </a:r>
            <a:endParaRPr lang="en-US" sz="1500" dirty="0"/>
          </a:p>
        </p:txBody>
      </p:sp>
      <p:sp>
        <p:nvSpPr>
          <p:cNvPr id="9" name="Text 6"/>
          <p:cNvSpPr/>
          <p:nvPr/>
        </p:nvSpPr>
        <p:spPr>
          <a:xfrm>
            <a:off x="6510528" y="1883664"/>
            <a:ext cx="2286000" cy="164592"/>
          </a:xfrm>
          <a:prstGeom prst="rect">
            <a:avLst/>
          </a:prstGeom>
          <a:noFill/>
          <a:ln/>
        </p:spPr>
        <p:txBody>
          <a:bodyPr wrap="square" rtlCol="0" anchor="ctr"/>
          <a:lstStyle/>
          <a:p>
            <a:pPr indent="0" marL="0">
              <a:buNone/>
            </a:pPr>
            <a:r>
              <a:rPr lang="en-US" sz="800" dirty="0">
                <a:solidFill>
                  <a:srgbClr val="6B7280"/>
                </a:solidFill>
                <a:latin typeface="Arial" pitchFamily="34" charset="0"/>
                <a:ea typeface="Arial" pitchFamily="34" charset="-122"/>
                <a:cs typeface="Arial" pitchFamily="34" charset="-120"/>
              </a:rPr>
              <a:t>FSPs only — break-even +</a:t>
            </a:r>
            <a:endParaRPr lang="en-US" sz="800" dirty="0"/>
          </a:p>
        </p:txBody>
      </p:sp>
      <p:sp>
        <p:nvSpPr>
          <p:cNvPr id="10" name="Shape 7"/>
          <p:cNvSpPr/>
          <p:nvPr/>
        </p:nvSpPr>
        <p:spPr>
          <a:xfrm>
            <a:off x="6400800" y="2121408"/>
            <a:ext cx="2514600" cy="658368"/>
          </a:xfrm>
          <a:prstGeom prst="roundRect">
            <a:avLst>
              <a:gd name="adj" fmla="val 11111"/>
            </a:avLst>
          </a:prstGeom>
          <a:solidFill>
            <a:srgbClr val="FFFFFF"/>
          </a:solidFill>
          <a:ln w="6350">
            <a:solidFill>
              <a:srgbClr val="E5E0D5"/>
            </a:solidFill>
            <a:prstDash val="solid"/>
          </a:ln>
          <a:effectLst>
            <a:outerShdw sx="100000" sy="100000" kx="0" ky="0" algn="bl" rotWithShape="0" blurRad="101600" dist="38100" dir="2700000">
              <a:srgbClr val="000000">
                <a:alpha val="13000"/>
              </a:srgbClr>
            </a:outerShdw>
          </a:effectLst>
        </p:spPr>
      </p:sp>
      <p:sp>
        <p:nvSpPr>
          <p:cNvPr id="11" name="Text 8"/>
          <p:cNvSpPr/>
          <p:nvPr/>
        </p:nvSpPr>
        <p:spPr>
          <a:xfrm>
            <a:off x="6510528" y="2167128"/>
            <a:ext cx="2286000" cy="219456"/>
          </a:xfrm>
          <a:prstGeom prst="rect">
            <a:avLst/>
          </a:prstGeom>
          <a:noFill/>
          <a:ln/>
        </p:spPr>
        <p:txBody>
          <a:bodyPr wrap="square" rtlCol="0" anchor="ctr"/>
          <a:lstStyle/>
          <a:p>
            <a:pPr indent="0" marL="0">
              <a:buNone/>
            </a:pPr>
            <a:r>
              <a:rPr lang="en-US" sz="800" b="1" spc="200" kern="0" dirty="0">
                <a:solidFill>
                  <a:srgbClr val="6B7280"/>
                </a:solidFill>
                <a:latin typeface="Arial" pitchFamily="34" charset="0"/>
                <a:ea typeface="Arial" pitchFamily="34" charset="-122"/>
                <a:cs typeface="Arial" pitchFamily="34" charset="-120"/>
              </a:rPr>
              <a:t>Month 6</a:t>
            </a:r>
            <a:endParaRPr lang="en-US" sz="800" dirty="0"/>
          </a:p>
        </p:txBody>
      </p:sp>
      <p:sp>
        <p:nvSpPr>
          <p:cNvPr id="12" name="Text 9"/>
          <p:cNvSpPr/>
          <p:nvPr/>
        </p:nvSpPr>
        <p:spPr>
          <a:xfrm>
            <a:off x="6510528" y="2377440"/>
            <a:ext cx="2286000" cy="274320"/>
          </a:xfrm>
          <a:prstGeom prst="rect">
            <a:avLst/>
          </a:prstGeom>
          <a:noFill/>
          <a:ln/>
        </p:spPr>
        <p:txBody>
          <a:bodyPr wrap="square" rtlCol="0" anchor="ctr"/>
          <a:lstStyle/>
          <a:p>
            <a:pPr indent="0" marL="0">
              <a:buNone/>
            </a:pPr>
            <a:r>
              <a:rPr lang="en-US" sz="1500" b="1" dirty="0">
                <a:solidFill>
                  <a:srgbClr val="1F3864"/>
                </a:solidFill>
                <a:latin typeface="Cambria" pitchFamily="34" charset="0"/>
                <a:ea typeface="Cambria" pitchFamily="34" charset="-122"/>
                <a:cs typeface="Cambria" pitchFamily="34" charset="-120"/>
              </a:rPr>
              <a:t>R602K MRR</a:t>
            </a:r>
            <a:endParaRPr lang="en-US" sz="1500" dirty="0"/>
          </a:p>
        </p:txBody>
      </p:sp>
      <p:sp>
        <p:nvSpPr>
          <p:cNvPr id="13" name="Text 10"/>
          <p:cNvSpPr/>
          <p:nvPr/>
        </p:nvSpPr>
        <p:spPr>
          <a:xfrm>
            <a:off x="6510528" y="2633472"/>
            <a:ext cx="2286000" cy="164592"/>
          </a:xfrm>
          <a:prstGeom prst="rect">
            <a:avLst/>
          </a:prstGeom>
          <a:noFill/>
          <a:ln/>
        </p:spPr>
        <p:txBody>
          <a:bodyPr wrap="square" rtlCol="0" anchor="ctr"/>
          <a:lstStyle/>
          <a:p>
            <a:pPr indent="0" marL="0">
              <a:buNone/>
            </a:pPr>
            <a:r>
              <a:rPr lang="en-US" sz="800" dirty="0">
                <a:solidFill>
                  <a:srgbClr val="6B7280"/>
                </a:solidFill>
                <a:latin typeface="Arial" pitchFamily="34" charset="0"/>
                <a:ea typeface="Arial" pitchFamily="34" charset="-122"/>
                <a:cs typeface="Arial" pitchFamily="34" charset="-120"/>
              </a:rPr>
              <a:t>Pensions onboard</a:t>
            </a:r>
            <a:endParaRPr lang="en-US" sz="800" dirty="0"/>
          </a:p>
        </p:txBody>
      </p:sp>
      <p:sp>
        <p:nvSpPr>
          <p:cNvPr id="14" name="Shape 11"/>
          <p:cNvSpPr/>
          <p:nvPr/>
        </p:nvSpPr>
        <p:spPr>
          <a:xfrm>
            <a:off x="6400800" y="2871216"/>
            <a:ext cx="2514600" cy="658368"/>
          </a:xfrm>
          <a:prstGeom prst="roundRect">
            <a:avLst>
              <a:gd name="adj" fmla="val 11111"/>
            </a:avLst>
          </a:prstGeom>
          <a:solidFill>
            <a:srgbClr val="1F3864"/>
          </a:solidFill>
          <a:ln w="6350">
            <a:solidFill>
              <a:srgbClr val="E5E0D5"/>
            </a:solidFill>
            <a:prstDash val="solid"/>
          </a:ln>
          <a:effectLst>
            <a:outerShdw sx="100000" sy="100000" kx="0" ky="0" algn="bl" rotWithShape="0" blurRad="101600" dist="38100" dir="2700000">
              <a:srgbClr val="000000">
                <a:alpha val="13000"/>
              </a:srgbClr>
            </a:outerShdw>
          </a:effectLst>
        </p:spPr>
      </p:sp>
      <p:sp>
        <p:nvSpPr>
          <p:cNvPr id="15" name="Text 12"/>
          <p:cNvSpPr/>
          <p:nvPr/>
        </p:nvSpPr>
        <p:spPr>
          <a:xfrm>
            <a:off x="6510528" y="2916936"/>
            <a:ext cx="2286000" cy="219456"/>
          </a:xfrm>
          <a:prstGeom prst="rect">
            <a:avLst/>
          </a:prstGeom>
          <a:noFill/>
          <a:ln/>
        </p:spPr>
        <p:txBody>
          <a:bodyPr wrap="square" rtlCol="0" anchor="ctr"/>
          <a:lstStyle/>
          <a:p>
            <a:pPr indent="0" marL="0">
              <a:buNone/>
            </a:pPr>
            <a:r>
              <a:rPr lang="en-US" sz="800" b="1" spc="200" kern="0" dirty="0">
                <a:solidFill>
                  <a:srgbClr val="C9A84C"/>
                </a:solidFill>
                <a:latin typeface="Arial" pitchFamily="34" charset="0"/>
                <a:ea typeface="Arial" pitchFamily="34" charset="-122"/>
                <a:cs typeface="Arial" pitchFamily="34" charset="-120"/>
              </a:rPr>
              <a:t>Month 12</a:t>
            </a:r>
            <a:endParaRPr lang="en-US" sz="800" dirty="0"/>
          </a:p>
        </p:txBody>
      </p:sp>
      <p:sp>
        <p:nvSpPr>
          <p:cNvPr id="16" name="Text 13"/>
          <p:cNvSpPr/>
          <p:nvPr/>
        </p:nvSpPr>
        <p:spPr>
          <a:xfrm>
            <a:off x="6510528" y="3127248"/>
            <a:ext cx="2286000" cy="274320"/>
          </a:xfrm>
          <a:prstGeom prst="rect">
            <a:avLst/>
          </a:prstGeom>
          <a:noFill/>
          <a:ln/>
        </p:spPr>
        <p:txBody>
          <a:bodyPr wrap="square"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R1.99M MRR</a:t>
            </a:r>
            <a:endParaRPr lang="en-US" sz="1500" dirty="0"/>
          </a:p>
        </p:txBody>
      </p:sp>
      <p:sp>
        <p:nvSpPr>
          <p:cNvPr id="17" name="Text 14"/>
          <p:cNvSpPr/>
          <p:nvPr/>
        </p:nvSpPr>
        <p:spPr>
          <a:xfrm>
            <a:off x="6510528" y="3383280"/>
            <a:ext cx="2286000" cy="164592"/>
          </a:xfrm>
          <a:prstGeom prst="rect">
            <a:avLst/>
          </a:prstGeom>
          <a:noFill/>
          <a:ln/>
        </p:spPr>
        <p:txBody>
          <a:bodyPr wrap="square" rtlCol="0" anchor="ctr"/>
          <a:lstStyle/>
          <a:p>
            <a:pPr indent="0" marL="0">
              <a:buNone/>
            </a:pPr>
            <a:r>
              <a:rPr lang="en-US" sz="800" dirty="0">
                <a:solidFill>
                  <a:srgbClr val="E8C96A"/>
                </a:solidFill>
                <a:latin typeface="Arial" pitchFamily="34" charset="0"/>
                <a:ea typeface="Arial" pitchFamily="34" charset="-122"/>
                <a:cs typeface="Arial" pitchFamily="34" charset="-120"/>
              </a:rPr>
              <a:t>USD $1M milestone</a:t>
            </a:r>
            <a:endParaRPr lang="en-US" sz="800" dirty="0"/>
          </a:p>
        </p:txBody>
      </p:sp>
      <p:sp>
        <p:nvSpPr>
          <p:cNvPr id="18" name="Shape 15"/>
          <p:cNvSpPr/>
          <p:nvPr/>
        </p:nvSpPr>
        <p:spPr>
          <a:xfrm>
            <a:off x="6400800" y="3621024"/>
            <a:ext cx="2514600" cy="658368"/>
          </a:xfrm>
          <a:prstGeom prst="roundRect">
            <a:avLst>
              <a:gd name="adj" fmla="val 11111"/>
            </a:avLst>
          </a:prstGeom>
          <a:solidFill>
            <a:srgbClr val="FFFFFF"/>
          </a:solidFill>
          <a:ln w="6350">
            <a:solidFill>
              <a:srgbClr val="E5E0D5"/>
            </a:solidFill>
            <a:prstDash val="solid"/>
          </a:ln>
          <a:effectLst>
            <a:outerShdw sx="100000" sy="100000" kx="0" ky="0" algn="bl" rotWithShape="0" blurRad="101600" dist="38100" dir="2700000">
              <a:srgbClr val="000000">
                <a:alpha val="13000"/>
              </a:srgbClr>
            </a:outerShdw>
          </a:effectLst>
        </p:spPr>
      </p:sp>
      <p:sp>
        <p:nvSpPr>
          <p:cNvPr id="19" name="Text 16"/>
          <p:cNvSpPr/>
          <p:nvPr/>
        </p:nvSpPr>
        <p:spPr>
          <a:xfrm>
            <a:off x="6510528" y="3666744"/>
            <a:ext cx="2286000" cy="219456"/>
          </a:xfrm>
          <a:prstGeom prst="rect">
            <a:avLst/>
          </a:prstGeom>
          <a:noFill/>
          <a:ln/>
        </p:spPr>
        <p:txBody>
          <a:bodyPr wrap="square" rtlCol="0" anchor="ctr"/>
          <a:lstStyle/>
          <a:p>
            <a:pPr indent="0" marL="0">
              <a:buNone/>
            </a:pPr>
            <a:r>
              <a:rPr lang="en-US" sz="800" b="1" spc="200" kern="0" dirty="0">
                <a:solidFill>
                  <a:srgbClr val="6B7280"/>
                </a:solidFill>
                <a:latin typeface="Arial" pitchFamily="34" charset="0"/>
                <a:ea typeface="Arial" pitchFamily="34" charset="-122"/>
                <a:cs typeface="Arial" pitchFamily="34" charset="-120"/>
              </a:rPr>
              <a:t>Month 24</a:t>
            </a:r>
            <a:endParaRPr lang="en-US" sz="800" dirty="0"/>
          </a:p>
        </p:txBody>
      </p:sp>
      <p:sp>
        <p:nvSpPr>
          <p:cNvPr id="20" name="Text 17"/>
          <p:cNvSpPr/>
          <p:nvPr/>
        </p:nvSpPr>
        <p:spPr>
          <a:xfrm>
            <a:off x="6510528" y="3877056"/>
            <a:ext cx="2286000" cy="274320"/>
          </a:xfrm>
          <a:prstGeom prst="rect">
            <a:avLst/>
          </a:prstGeom>
          <a:noFill/>
          <a:ln/>
        </p:spPr>
        <p:txBody>
          <a:bodyPr wrap="square" rtlCol="0" anchor="ctr"/>
          <a:lstStyle/>
          <a:p>
            <a:pPr indent="0" marL="0">
              <a:buNone/>
            </a:pPr>
            <a:r>
              <a:rPr lang="en-US" sz="1500" b="1" dirty="0">
                <a:solidFill>
                  <a:srgbClr val="1F3864"/>
                </a:solidFill>
                <a:latin typeface="Cambria" pitchFamily="34" charset="0"/>
                <a:ea typeface="Cambria" pitchFamily="34" charset="-122"/>
                <a:cs typeface="Cambria" pitchFamily="34" charset="-120"/>
              </a:rPr>
              <a:t>R2.93M MRR</a:t>
            </a:r>
            <a:endParaRPr lang="en-US" sz="1500" dirty="0"/>
          </a:p>
        </p:txBody>
      </p:sp>
      <p:sp>
        <p:nvSpPr>
          <p:cNvPr id="21" name="Text 18"/>
          <p:cNvSpPr/>
          <p:nvPr/>
        </p:nvSpPr>
        <p:spPr>
          <a:xfrm>
            <a:off x="6510528" y="4133088"/>
            <a:ext cx="2286000" cy="164592"/>
          </a:xfrm>
          <a:prstGeom prst="rect">
            <a:avLst/>
          </a:prstGeom>
          <a:noFill/>
          <a:ln/>
        </p:spPr>
        <p:txBody>
          <a:bodyPr wrap="square" rtlCol="0" anchor="ctr"/>
          <a:lstStyle/>
          <a:p>
            <a:pPr indent="0" marL="0">
              <a:buNone/>
            </a:pPr>
            <a:r>
              <a:rPr lang="en-US" sz="800" dirty="0">
                <a:solidFill>
                  <a:srgbClr val="6B7280"/>
                </a:solidFill>
                <a:latin typeface="Arial" pitchFamily="34" charset="0"/>
                <a:ea typeface="Arial" pitchFamily="34" charset="-122"/>
                <a:cs typeface="Arial" pitchFamily="34" charset="-120"/>
              </a:rPr>
              <a:t>National scale</a:t>
            </a:r>
            <a:endParaRPr lang="en-US" sz="800" dirty="0"/>
          </a:p>
        </p:txBody>
      </p:sp>
      <p:sp>
        <p:nvSpPr>
          <p:cNvPr id="22" name="Shape 19"/>
          <p:cNvSpPr/>
          <p:nvPr/>
        </p:nvSpPr>
        <p:spPr>
          <a:xfrm>
            <a:off x="6400800" y="4370832"/>
            <a:ext cx="2514600" cy="658368"/>
          </a:xfrm>
          <a:prstGeom prst="roundRect">
            <a:avLst>
              <a:gd name="adj" fmla="val 11111"/>
            </a:avLst>
          </a:prstGeom>
          <a:solidFill>
            <a:srgbClr val="FFFFFF"/>
          </a:solidFill>
          <a:ln w="6350">
            <a:solidFill>
              <a:srgbClr val="E5E0D5"/>
            </a:solidFill>
            <a:prstDash val="solid"/>
          </a:ln>
          <a:effectLst>
            <a:outerShdw sx="100000" sy="100000" kx="0" ky="0" algn="bl" rotWithShape="0" blurRad="101600" dist="38100" dir="2700000">
              <a:srgbClr val="000000">
                <a:alpha val="13000"/>
              </a:srgbClr>
            </a:outerShdw>
          </a:effectLst>
        </p:spPr>
      </p:sp>
      <p:sp>
        <p:nvSpPr>
          <p:cNvPr id="23" name="Text 20"/>
          <p:cNvSpPr/>
          <p:nvPr/>
        </p:nvSpPr>
        <p:spPr>
          <a:xfrm>
            <a:off x="6510528" y="4416552"/>
            <a:ext cx="2286000" cy="219456"/>
          </a:xfrm>
          <a:prstGeom prst="rect">
            <a:avLst/>
          </a:prstGeom>
          <a:noFill/>
          <a:ln/>
        </p:spPr>
        <p:txBody>
          <a:bodyPr wrap="square" rtlCol="0" anchor="ctr"/>
          <a:lstStyle/>
          <a:p>
            <a:pPr indent="0" marL="0">
              <a:buNone/>
            </a:pPr>
            <a:r>
              <a:rPr lang="en-US" sz="800" b="1" spc="200" kern="0" dirty="0">
                <a:solidFill>
                  <a:srgbClr val="6B7280"/>
                </a:solidFill>
                <a:latin typeface="Arial" pitchFamily="34" charset="0"/>
                <a:ea typeface="Arial" pitchFamily="34" charset="-122"/>
                <a:cs typeface="Arial" pitchFamily="34" charset="-120"/>
              </a:rPr>
              <a:t>Month 36</a:t>
            </a:r>
            <a:endParaRPr lang="en-US" sz="800" dirty="0"/>
          </a:p>
        </p:txBody>
      </p:sp>
      <p:sp>
        <p:nvSpPr>
          <p:cNvPr id="24" name="Text 21"/>
          <p:cNvSpPr/>
          <p:nvPr/>
        </p:nvSpPr>
        <p:spPr>
          <a:xfrm>
            <a:off x="6510528" y="4626864"/>
            <a:ext cx="2286000" cy="274320"/>
          </a:xfrm>
          <a:prstGeom prst="rect">
            <a:avLst/>
          </a:prstGeom>
          <a:noFill/>
          <a:ln/>
        </p:spPr>
        <p:txBody>
          <a:bodyPr wrap="square" rtlCol="0" anchor="ctr"/>
          <a:lstStyle/>
          <a:p>
            <a:pPr indent="0" marL="0">
              <a:buNone/>
            </a:pPr>
            <a:r>
              <a:rPr lang="en-US" sz="1500" b="1" dirty="0">
                <a:solidFill>
                  <a:srgbClr val="1F3864"/>
                </a:solidFill>
                <a:latin typeface="Cambria" pitchFamily="34" charset="0"/>
                <a:ea typeface="Cambria" pitchFamily="34" charset="-122"/>
                <a:cs typeface="Cambria" pitchFamily="34" charset="-120"/>
              </a:rPr>
              <a:t>R3.77M MRR</a:t>
            </a:r>
            <a:endParaRPr lang="en-US" sz="1500" dirty="0"/>
          </a:p>
        </p:txBody>
      </p:sp>
      <p:sp>
        <p:nvSpPr>
          <p:cNvPr id="25" name="Text 22"/>
          <p:cNvSpPr/>
          <p:nvPr/>
        </p:nvSpPr>
        <p:spPr>
          <a:xfrm>
            <a:off x="6510528" y="4882896"/>
            <a:ext cx="2286000" cy="164592"/>
          </a:xfrm>
          <a:prstGeom prst="rect">
            <a:avLst/>
          </a:prstGeom>
          <a:noFill/>
          <a:ln/>
        </p:spPr>
        <p:txBody>
          <a:bodyPr wrap="square" rtlCol="0" anchor="ctr"/>
          <a:lstStyle/>
          <a:p>
            <a:pPr indent="0" marL="0">
              <a:buNone/>
            </a:pPr>
            <a:r>
              <a:rPr lang="en-US" sz="800" dirty="0">
                <a:solidFill>
                  <a:srgbClr val="6B7280"/>
                </a:solidFill>
                <a:latin typeface="Arial" pitchFamily="34" charset="0"/>
                <a:ea typeface="Arial" pitchFamily="34" charset="-122"/>
                <a:cs typeface="Arial" pitchFamily="34" charset="-120"/>
              </a:rPr>
              <a:t>Full deployment</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11480" y="201168"/>
            <a:ext cx="8229600" cy="201168"/>
          </a:xfrm>
          <a:prstGeom prst="rect">
            <a:avLst/>
          </a:prstGeom>
          <a:noFill/>
          <a:ln/>
        </p:spPr>
        <p:txBody>
          <a:bodyPr wrap="square" rtlCol="0" anchor="ctr"/>
          <a:lstStyle/>
          <a:p>
            <a:pPr indent="0" marL="0">
              <a:buNone/>
            </a:pPr>
            <a:r>
              <a:rPr lang="en-US" sz="900" b="1" spc="400" kern="0" dirty="0">
                <a:solidFill>
                  <a:srgbClr val="C9A84C"/>
                </a:solidFill>
                <a:latin typeface="Arial" pitchFamily="34" charset="0"/>
                <a:ea typeface="Arial" pitchFamily="34" charset="-122"/>
                <a:cs typeface="Arial" pitchFamily="34" charset="-120"/>
              </a:rPr>
              <a:t>FINANCIAL STRUCTURE — ENTITY ALLOCATION</a:t>
            </a:r>
            <a:endParaRPr lang="en-US" sz="900" dirty="0"/>
          </a:p>
        </p:txBody>
      </p:sp>
      <p:sp>
        <p:nvSpPr>
          <p:cNvPr id="3" name="Text 1"/>
          <p:cNvSpPr/>
          <p:nvPr/>
        </p:nvSpPr>
        <p:spPr>
          <a:xfrm>
            <a:off x="411480" y="475488"/>
            <a:ext cx="7772400" cy="640080"/>
          </a:xfrm>
          <a:prstGeom prst="rect">
            <a:avLst/>
          </a:prstGeom>
          <a:noFill/>
          <a:ln/>
        </p:spPr>
        <p:txBody>
          <a:bodyPr wrap="square" rtlCol="0" anchor="ctr"/>
          <a:lstStyle/>
          <a:p>
            <a:pPr indent="0" marL="0">
              <a:buNone/>
            </a:pPr>
            <a:r>
              <a:rPr lang="en-US" sz="2800" b="1" dirty="0">
                <a:solidFill>
                  <a:srgbClr val="1F3864"/>
                </a:solidFill>
                <a:latin typeface="Cambria" pitchFamily="34" charset="0"/>
                <a:ea typeface="Cambria" pitchFamily="34" charset="-122"/>
                <a:cs typeface="Cambria" pitchFamily="34" charset="-120"/>
              </a:rPr>
              <a:t>How Revenue Flows Through the Praeto Group</a:t>
            </a:r>
            <a:endParaRPr lang="en-US" sz="2800" dirty="0"/>
          </a:p>
        </p:txBody>
      </p:sp>
      <p:sp>
        <p:nvSpPr>
          <p:cNvPr id="4" name="Shape 2"/>
          <p:cNvSpPr/>
          <p:nvPr/>
        </p:nvSpPr>
        <p:spPr>
          <a:xfrm>
            <a:off x="411480" y="1207008"/>
            <a:ext cx="8321040" cy="0"/>
          </a:xfrm>
          <a:prstGeom prst="line">
            <a:avLst/>
          </a:prstGeom>
          <a:noFill/>
          <a:ln w="19050">
            <a:solidFill>
              <a:srgbClr val="C9A84C"/>
            </a:solidFill>
            <a:prstDash val="solid"/>
          </a:ln>
        </p:spPr>
      </p:sp>
      <p:sp>
        <p:nvSpPr>
          <p:cNvPr id="5" name="Shape 3"/>
          <p:cNvSpPr/>
          <p:nvPr/>
        </p:nvSpPr>
        <p:spPr>
          <a:xfrm>
            <a:off x="3200400" y="1389888"/>
            <a:ext cx="2743200" cy="914400"/>
          </a:xfrm>
          <a:prstGeom prst="roundRect">
            <a:avLst>
              <a:gd name="adj" fmla="val 8000"/>
            </a:avLst>
          </a:prstGeom>
          <a:solidFill>
            <a:srgbClr val="1F3864"/>
          </a:solidFill>
          <a:ln/>
          <a:effectLst>
            <a:outerShdw sx="100000" sy="100000" kx="0" ky="0" algn="bl" rotWithShape="0" blurRad="101600" dist="38100" dir="2700000">
              <a:srgbClr val="000000">
                <a:alpha val="13000"/>
              </a:srgbClr>
            </a:outerShdw>
          </a:effectLst>
        </p:spPr>
      </p:sp>
      <p:sp>
        <p:nvSpPr>
          <p:cNvPr id="6" name="Text 4"/>
          <p:cNvSpPr/>
          <p:nvPr/>
        </p:nvSpPr>
        <p:spPr>
          <a:xfrm>
            <a:off x="3291840" y="1435608"/>
            <a:ext cx="2560320" cy="384048"/>
          </a:xfrm>
          <a:prstGeom prst="rect">
            <a:avLst/>
          </a:prstGeom>
          <a:noFill/>
          <a:ln/>
        </p:spPr>
        <p:txBody>
          <a:bodyPr wrap="square"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Praeto Compliance</a:t>
            </a:r>
            <a:endParaRPr lang="en-US" sz="1100" dirty="0"/>
          </a:p>
          <a:p>
            <a:pPr algn="ctr" indent="0" marL="0">
              <a:buNone/>
            </a:pPr>
            <a:r>
              <a:rPr lang="en-US" sz="1100" b="1" dirty="0">
                <a:solidFill>
                  <a:srgbClr val="FFFFFF"/>
                </a:solidFill>
                <a:latin typeface="Cambria" pitchFamily="34" charset="0"/>
                <a:ea typeface="Cambria" pitchFamily="34" charset="-122"/>
                <a:cs typeface="Cambria" pitchFamily="34" charset="-120"/>
              </a:rPr>
              <a:t>Club (Trading CC)</a:t>
            </a:r>
            <a:endParaRPr lang="en-US" sz="1100" dirty="0"/>
          </a:p>
        </p:txBody>
      </p:sp>
      <p:sp>
        <p:nvSpPr>
          <p:cNvPr id="7" name="Text 5"/>
          <p:cNvSpPr/>
          <p:nvPr/>
        </p:nvSpPr>
        <p:spPr>
          <a:xfrm>
            <a:off x="3273552" y="1828800"/>
            <a:ext cx="2596896" cy="402336"/>
          </a:xfrm>
          <a:prstGeom prst="rect">
            <a:avLst/>
          </a:prstGeom>
          <a:noFill/>
          <a:ln/>
        </p:spPr>
        <p:txBody>
          <a:bodyPr wrap="square" rtlCol="0" anchor="ctr"/>
          <a:lstStyle/>
          <a:p>
            <a:pPr algn="ctr" indent="0" marL="0">
              <a:buNone/>
            </a:pPr>
            <a:r>
              <a:rPr lang="en-US" sz="850" dirty="0">
                <a:solidFill>
                  <a:srgbClr val="C9A84C"/>
                </a:solidFill>
                <a:latin typeface="Arial" pitchFamily="34" charset="0"/>
                <a:ea typeface="Arial" pitchFamily="34" charset="-122"/>
                <a:cs typeface="Arial" pitchFamily="34" charset="-120"/>
              </a:rPr>
              <a:t>Membership subscriptions</a:t>
            </a:r>
            <a:endParaRPr lang="en-US" sz="850" dirty="0"/>
          </a:p>
          <a:p>
            <a:pPr algn="ctr" indent="0" marL="0">
              <a:buNone/>
            </a:pPr>
            <a:r>
              <a:rPr lang="en-US" sz="850" dirty="0">
                <a:solidFill>
                  <a:srgbClr val="C9A84C"/>
                </a:solidFill>
                <a:latin typeface="Arial" pitchFamily="34" charset="0"/>
                <a:ea typeface="Arial" pitchFamily="34" charset="-122"/>
                <a:cs typeface="Arial" pitchFamily="34" charset="-120"/>
              </a:rPr>
              <a:t>Summit revenue</a:t>
            </a:r>
            <a:endParaRPr lang="en-US" sz="850" dirty="0"/>
          </a:p>
        </p:txBody>
      </p:sp>
      <p:sp>
        <p:nvSpPr>
          <p:cNvPr id="8" name="Shape 6"/>
          <p:cNvSpPr/>
          <p:nvPr/>
        </p:nvSpPr>
        <p:spPr>
          <a:xfrm>
            <a:off x="182880" y="3200400"/>
            <a:ext cx="2423160" cy="914400"/>
          </a:xfrm>
          <a:prstGeom prst="roundRect">
            <a:avLst>
              <a:gd name="adj" fmla="val 8000"/>
            </a:avLst>
          </a:prstGeom>
          <a:solidFill>
            <a:srgbClr val="1E4D8C"/>
          </a:solidFill>
          <a:ln/>
          <a:effectLst>
            <a:outerShdw sx="100000" sy="100000" kx="0" ky="0" algn="bl" rotWithShape="0" blurRad="101600" dist="38100" dir="2700000">
              <a:srgbClr val="000000">
                <a:alpha val="13000"/>
              </a:srgbClr>
            </a:outerShdw>
          </a:effectLst>
        </p:spPr>
      </p:sp>
      <p:sp>
        <p:nvSpPr>
          <p:cNvPr id="9" name="Text 7"/>
          <p:cNvSpPr/>
          <p:nvPr/>
        </p:nvSpPr>
        <p:spPr>
          <a:xfrm>
            <a:off x="274320" y="3246120"/>
            <a:ext cx="2240280" cy="384048"/>
          </a:xfrm>
          <a:prstGeom prst="rect">
            <a:avLst/>
          </a:prstGeom>
          <a:noFill/>
          <a:ln/>
        </p:spPr>
        <p:txBody>
          <a:bodyPr wrap="square"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Tiespro Training</a:t>
            </a:r>
            <a:endParaRPr lang="en-US" sz="1100" dirty="0"/>
          </a:p>
          <a:p>
            <a:pPr algn="ctr" indent="0" marL="0">
              <a:buNone/>
            </a:pPr>
            <a:r>
              <a:rPr lang="en-US" sz="1100" b="1" dirty="0">
                <a:solidFill>
                  <a:srgbClr val="FFFFFF"/>
                </a:solidFill>
                <a:latin typeface="Cambria" pitchFamily="34" charset="0"/>
                <a:ea typeface="Cambria" pitchFamily="34" charset="-122"/>
                <a:cs typeface="Cambria" pitchFamily="34" charset="-120"/>
              </a:rPr>
              <a:t>Institute</a:t>
            </a:r>
            <a:endParaRPr lang="en-US" sz="1100" dirty="0"/>
          </a:p>
        </p:txBody>
      </p:sp>
      <p:sp>
        <p:nvSpPr>
          <p:cNvPr id="10" name="Text 8"/>
          <p:cNvSpPr/>
          <p:nvPr/>
        </p:nvSpPr>
        <p:spPr>
          <a:xfrm>
            <a:off x="256032" y="3639312"/>
            <a:ext cx="2276856" cy="402336"/>
          </a:xfrm>
          <a:prstGeom prst="rect">
            <a:avLst/>
          </a:prstGeom>
          <a:noFill/>
          <a:ln/>
        </p:spPr>
        <p:txBody>
          <a:bodyPr wrap="square" rtlCol="0" anchor="ctr"/>
          <a:lstStyle/>
          <a:p>
            <a:pPr algn="ctr" indent="0" marL="0">
              <a:buNone/>
            </a:pPr>
            <a:r>
              <a:rPr lang="en-US" sz="850" dirty="0">
                <a:solidFill>
                  <a:srgbClr val="C9A84C"/>
                </a:solidFill>
                <a:latin typeface="Arial" pitchFamily="34" charset="0"/>
                <a:ea typeface="Arial" pitchFamily="34" charset="-122"/>
                <a:cs typeface="Arial" pitchFamily="34" charset="-120"/>
              </a:rPr>
              <a:t>NQF 4 levies · CPD module</a:t>
            </a:r>
            <a:endParaRPr lang="en-US" sz="850" dirty="0"/>
          </a:p>
          <a:p>
            <a:pPr algn="ctr" indent="0" marL="0">
              <a:buNone/>
            </a:pPr>
            <a:r>
              <a:rPr lang="en-US" sz="850" dirty="0">
                <a:solidFill>
                  <a:srgbClr val="C9A84C"/>
                </a:solidFill>
                <a:latin typeface="Arial" pitchFamily="34" charset="0"/>
                <a:ea typeface="Arial" pitchFamily="34" charset="-122"/>
                <a:cs typeface="Arial" pitchFamily="34" charset="-120"/>
              </a:rPr>
              <a:t>licensing fees · SDF fees</a:t>
            </a:r>
            <a:endParaRPr lang="en-US" sz="850" dirty="0"/>
          </a:p>
        </p:txBody>
      </p:sp>
      <p:sp>
        <p:nvSpPr>
          <p:cNvPr id="11" name="Shape 9"/>
          <p:cNvSpPr/>
          <p:nvPr/>
        </p:nvSpPr>
        <p:spPr>
          <a:xfrm>
            <a:off x="3246120" y="3200400"/>
            <a:ext cx="2423160" cy="914400"/>
          </a:xfrm>
          <a:prstGeom prst="roundRect">
            <a:avLst>
              <a:gd name="adj" fmla="val 8000"/>
            </a:avLst>
          </a:prstGeom>
          <a:solidFill>
            <a:srgbClr val="1A6B5A"/>
          </a:solidFill>
          <a:ln/>
          <a:effectLst>
            <a:outerShdw sx="100000" sy="100000" kx="0" ky="0" algn="bl" rotWithShape="0" blurRad="101600" dist="38100" dir="2700000">
              <a:srgbClr val="000000">
                <a:alpha val="13000"/>
              </a:srgbClr>
            </a:outerShdw>
          </a:effectLst>
        </p:spPr>
      </p:sp>
      <p:sp>
        <p:nvSpPr>
          <p:cNvPr id="12" name="Text 10"/>
          <p:cNvSpPr/>
          <p:nvPr/>
        </p:nvSpPr>
        <p:spPr>
          <a:xfrm>
            <a:off x="3337560" y="3246120"/>
            <a:ext cx="2240280" cy="384048"/>
          </a:xfrm>
          <a:prstGeom prst="rect">
            <a:avLst/>
          </a:prstGeom>
          <a:noFill/>
          <a:ln/>
        </p:spPr>
        <p:txBody>
          <a:bodyPr wrap="square"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Praeto Risk &amp;</a:t>
            </a:r>
            <a:endParaRPr lang="en-US" sz="1100" dirty="0"/>
          </a:p>
          <a:p>
            <a:pPr algn="ctr" indent="0" marL="0">
              <a:buNone/>
            </a:pPr>
            <a:r>
              <a:rPr lang="en-US" sz="1100" b="1" dirty="0">
                <a:solidFill>
                  <a:srgbClr val="FFFFFF"/>
                </a:solidFill>
                <a:latin typeface="Cambria" pitchFamily="34" charset="0"/>
                <a:ea typeface="Cambria" pitchFamily="34" charset="-122"/>
                <a:cs typeface="Cambria" pitchFamily="34" charset="-120"/>
              </a:rPr>
              <a:t>Insurance (FSP 1457)</a:t>
            </a:r>
            <a:endParaRPr lang="en-US" sz="1100" dirty="0"/>
          </a:p>
        </p:txBody>
      </p:sp>
      <p:sp>
        <p:nvSpPr>
          <p:cNvPr id="13" name="Text 11"/>
          <p:cNvSpPr/>
          <p:nvPr/>
        </p:nvSpPr>
        <p:spPr>
          <a:xfrm>
            <a:off x="3319272" y="3639312"/>
            <a:ext cx="2276856" cy="402336"/>
          </a:xfrm>
          <a:prstGeom prst="rect">
            <a:avLst/>
          </a:prstGeom>
          <a:noFill/>
          <a:ln/>
        </p:spPr>
        <p:txBody>
          <a:bodyPr wrap="square" rtlCol="0" anchor="ctr"/>
          <a:lstStyle/>
          <a:p>
            <a:pPr algn="ctr" indent="0" marL="0">
              <a:buNone/>
            </a:pPr>
            <a:r>
              <a:rPr lang="en-US" sz="850" dirty="0">
                <a:solidFill>
                  <a:srgbClr val="C9A84C"/>
                </a:solidFill>
                <a:latin typeface="Arial" pitchFamily="34" charset="0"/>
                <a:ea typeface="Arial" pitchFamily="34" charset="-122"/>
                <a:cs typeface="Arial" pitchFamily="34" charset="-120"/>
              </a:rPr>
              <a:t>Template IP licensing</a:t>
            </a:r>
            <a:endParaRPr lang="en-US" sz="850" dirty="0"/>
          </a:p>
          <a:p>
            <a:pPr algn="ctr" indent="0" marL="0">
              <a:buNone/>
            </a:pPr>
            <a:r>
              <a:rPr lang="en-US" sz="850" dirty="0">
                <a:solidFill>
                  <a:srgbClr val="C9A84C"/>
                </a:solidFill>
                <a:latin typeface="Arial" pitchFamily="34" charset="0"/>
                <a:ea typeface="Arial" pitchFamily="34" charset="-122"/>
                <a:cs typeface="Arial" pitchFamily="34" charset="-120"/>
              </a:rPr>
              <a:t>Regulatory authority</a:t>
            </a:r>
            <a:endParaRPr lang="en-US" sz="850" dirty="0"/>
          </a:p>
        </p:txBody>
      </p:sp>
      <p:sp>
        <p:nvSpPr>
          <p:cNvPr id="14" name="Shape 12"/>
          <p:cNvSpPr/>
          <p:nvPr/>
        </p:nvSpPr>
        <p:spPr>
          <a:xfrm>
            <a:off x="6309360" y="3200400"/>
            <a:ext cx="2423160" cy="914400"/>
          </a:xfrm>
          <a:prstGeom prst="roundRect">
            <a:avLst>
              <a:gd name="adj" fmla="val 8000"/>
            </a:avLst>
          </a:prstGeom>
          <a:solidFill>
            <a:srgbClr val="4A3C7A"/>
          </a:solidFill>
          <a:ln/>
          <a:effectLst>
            <a:outerShdw sx="100000" sy="100000" kx="0" ky="0" algn="bl" rotWithShape="0" blurRad="101600" dist="38100" dir="2700000">
              <a:srgbClr val="000000">
                <a:alpha val="13000"/>
              </a:srgbClr>
            </a:outerShdw>
          </a:effectLst>
        </p:spPr>
      </p:sp>
      <p:sp>
        <p:nvSpPr>
          <p:cNvPr id="15" name="Text 13"/>
          <p:cNvSpPr/>
          <p:nvPr/>
        </p:nvSpPr>
        <p:spPr>
          <a:xfrm>
            <a:off x="6400800" y="3246120"/>
            <a:ext cx="2240280" cy="384048"/>
          </a:xfrm>
          <a:prstGeom prst="rect">
            <a:avLst/>
          </a:prstGeom>
          <a:noFill/>
          <a:ln/>
        </p:spPr>
        <p:txBody>
          <a:bodyPr wrap="square"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Stella at</a:t>
            </a:r>
            <a:endParaRPr lang="en-US" sz="1100" dirty="0"/>
          </a:p>
          <a:p>
            <a:pPr algn="ctr" indent="0" marL="0">
              <a:buNone/>
            </a:pPr>
            <a:r>
              <a:rPr lang="en-US" sz="1100" b="1" dirty="0">
                <a:solidFill>
                  <a:srgbClr val="FFFFFF"/>
                </a:solidFill>
                <a:latin typeface="Cambria" pitchFamily="34" charset="0"/>
                <a:ea typeface="Cambria" pitchFamily="34" charset="-122"/>
                <a:cs typeface="Cambria" pitchFamily="34" charset="-120"/>
              </a:rPr>
              <a:t>Glenwood</a:t>
            </a:r>
            <a:endParaRPr lang="en-US" sz="1100" dirty="0"/>
          </a:p>
        </p:txBody>
      </p:sp>
      <p:sp>
        <p:nvSpPr>
          <p:cNvPr id="16" name="Text 14"/>
          <p:cNvSpPr/>
          <p:nvPr/>
        </p:nvSpPr>
        <p:spPr>
          <a:xfrm>
            <a:off x="6382512" y="3639312"/>
            <a:ext cx="2276856" cy="402336"/>
          </a:xfrm>
          <a:prstGeom prst="rect">
            <a:avLst/>
          </a:prstGeom>
          <a:noFill/>
          <a:ln/>
        </p:spPr>
        <p:txBody>
          <a:bodyPr wrap="square" rtlCol="0" anchor="ctr"/>
          <a:lstStyle/>
          <a:p>
            <a:pPr algn="ctr" indent="0" marL="0">
              <a:buNone/>
            </a:pPr>
            <a:r>
              <a:rPr lang="en-US" sz="850" dirty="0">
                <a:solidFill>
                  <a:srgbClr val="C9A84C"/>
                </a:solidFill>
                <a:latin typeface="Arial" pitchFamily="34" charset="0"/>
                <a:ea typeface="Arial" pitchFamily="34" charset="-122"/>
                <a:cs typeface="Arial" pitchFamily="34" charset="-120"/>
              </a:rPr>
              <a:t>Summit venue revenue</a:t>
            </a:r>
            <a:endParaRPr lang="en-US" sz="850" dirty="0"/>
          </a:p>
          <a:p>
            <a:pPr algn="ctr" indent="0" marL="0">
              <a:buNone/>
            </a:pPr>
            <a:r>
              <a:rPr lang="en-US" sz="850" dirty="0">
                <a:solidFill>
                  <a:srgbClr val="C9A84C"/>
                </a:solidFill>
                <a:latin typeface="Arial" pitchFamily="34" charset="0"/>
                <a:ea typeface="Arial" pitchFamily="34" charset="-122"/>
                <a:cs typeface="Arial" pitchFamily="34" charset="-120"/>
              </a:rPr>
              <a:t>Hospitality margin</a:t>
            </a:r>
            <a:endParaRPr lang="en-US" sz="850" dirty="0"/>
          </a:p>
        </p:txBody>
      </p:sp>
      <p:sp>
        <p:nvSpPr>
          <p:cNvPr id="17" name="Shape 15"/>
          <p:cNvSpPr/>
          <p:nvPr/>
        </p:nvSpPr>
        <p:spPr>
          <a:xfrm>
            <a:off x="3246120" y="4572000"/>
            <a:ext cx="2423160" cy="914400"/>
          </a:xfrm>
          <a:prstGeom prst="roundRect">
            <a:avLst>
              <a:gd name="adj" fmla="val 8000"/>
            </a:avLst>
          </a:prstGeom>
          <a:solidFill>
            <a:srgbClr val="1F3864"/>
          </a:solidFill>
          <a:ln/>
          <a:effectLst>
            <a:outerShdw sx="100000" sy="100000" kx="0" ky="0" algn="bl" rotWithShape="0" blurRad="101600" dist="38100" dir="2700000">
              <a:srgbClr val="000000">
                <a:alpha val="13000"/>
              </a:srgbClr>
            </a:outerShdw>
          </a:effectLst>
        </p:spPr>
      </p:sp>
      <p:sp>
        <p:nvSpPr>
          <p:cNvPr id="18" name="Text 16"/>
          <p:cNvSpPr/>
          <p:nvPr/>
        </p:nvSpPr>
        <p:spPr>
          <a:xfrm>
            <a:off x="3337560" y="4617720"/>
            <a:ext cx="2240280" cy="384048"/>
          </a:xfrm>
          <a:prstGeom prst="rect">
            <a:avLst/>
          </a:prstGeom>
          <a:noFill/>
          <a:ln/>
        </p:spPr>
        <p:txBody>
          <a:bodyPr wrap="square"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Pretorius</a:t>
            </a:r>
            <a:endParaRPr lang="en-US" sz="1100" dirty="0"/>
          </a:p>
          <a:p>
            <a:pPr algn="ctr" indent="0" marL="0">
              <a:buNone/>
            </a:pPr>
            <a:r>
              <a:rPr lang="en-US" sz="1100" b="1" dirty="0">
                <a:solidFill>
                  <a:srgbClr val="FFFFFF"/>
                </a:solidFill>
                <a:latin typeface="Cambria" pitchFamily="34" charset="0"/>
                <a:ea typeface="Cambria" pitchFamily="34" charset="-122"/>
                <a:cs typeface="Cambria" pitchFamily="34" charset="-120"/>
              </a:rPr>
              <a:t>Family Trust</a:t>
            </a:r>
            <a:endParaRPr lang="en-US" sz="1100" dirty="0"/>
          </a:p>
        </p:txBody>
      </p:sp>
      <p:sp>
        <p:nvSpPr>
          <p:cNvPr id="19" name="Text 17"/>
          <p:cNvSpPr/>
          <p:nvPr/>
        </p:nvSpPr>
        <p:spPr>
          <a:xfrm>
            <a:off x="3319272" y="5010912"/>
            <a:ext cx="2276856" cy="402336"/>
          </a:xfrm>
          <a:prstGeom prst="rect">
            <a:avLst/>
          </a:prstGeom>
          <a:noFill/>
          <a:ln/>
        </p:spPr>
        <p:txBody>
          <a:bodyPr wrap="square" rtlCol="0" anchor="ctr"/>
          <a:lstStyle/>
          <a:p>
            <a:pPr algn="ctr" indent="0" marL="0">
              <a:buNone/>
            </a:pPr>
            <a:r>
              <a:rPr lang="en-US" sz="850" dirty="0">
                <a:solidFill>
                  <a:srgbClr val="C9A84C"/>
                </a:solidFill>
                <a:latin typeface="Arial" pitchFamily="34" charset="0"/>
                <a:ea typeface="Arial" pitchFamily="34" charset="-122"/>
                <a:cs typeface="Arial" pitchFamily="34" charset="-120"/>
              </a:rPr>
              <a:t>Group governance</a:t>
            </a:r>
            <a:endParaRPr lang="en-US" sz="850" dirty="0"/>
          </a:p>
          <a:p>
            <a:pPr algn="ctr" indent="0" marL="0">
              <a:buNone/>
            </a:pPr>
            <a:r>
              <a:rPr lang="en-US" sz="850" dirty="0">
                <a:solidFill>
                  <a:srgbClr val="C9A84C"/>
                </a:solidFill>
                <a:latin typeface="Arial" pitchFamily="34" charset="0"/>
                <a:ea typeface="Arial" pitchFamily="34" charset="-122"/>
                <a:cs typeface="Arial" pitchFamily="34" charset="-120"/>
              </a:rPr>
              <a:t>Capital reserve</a:t>
            </a:r>
            <a:endParaRPr lang="en-US" sz="850" dirty="0"/>
          </a:p>
        </p:txBody>
      </p:sp>
      <p:sp>
        <p:nvSpPr>
          <p:cNvPr id="20" name="Shape 18"/>
          <p:cNvSpPr/>
          <p:nvPr/>
        </p:nvSpPr>
        <p:spPr>
          <a:xfrm>
            <a:off x="4572000" y="2304288"/>
            <a:ext cx="-3182112" cy="914400"/>
          </a:xfrm>
          <a:prstGeom prst="line">
            <a:avLst/>
          </a:prstGeom>
          <a:noFill/>
          <a:ln w="19050">
            <a:solidFill>
              <a:srgbClr val="C9A84C"/>
            </a:solidFill>
            <a:prstDash val="dash"/>
          </a:ln>
        </p:spPr>
      </p:sp>
      <p:sp>
        <p:nvSpPr>
          <p:cNvPr id="21" name="Shape 19"/>
          <p:cNvSpPr/>
          <p:nvPr/>
        </p:nvSpPr>
        <p:spPr>
          <a:xfrm>
            <a:off x="4572000" y="2304288"/>
            <a:ext cx="0" cy="914400"/>
          </a:xfrm>
          <a:prstGeom prst="line">
            <a:avLst/>
          </a:prstGeom>
          <a:noFill/>
          <a:ln w="19050">
            <a:solidFill>
              <a:srgbClr val="C9A84C"/>
            </a:solidFill>
            <a:prstDash val="dash"/>
          </a:ln>
        </p:spPr>
      </p:sp>
      <p:sp>
        <p:nvSpPr>
          <p:cNvPr id="22" name="Shape 20"/>
          <p:cNvSpPr/>
          <p:nvPr/>
        </p:nvSpPr>
        <p:spPr>
          <a:xfrm>
            <a:off x="4572000" y="2304288"/>
            <a:ext cx="2944368" cy="914400"/>
          </a:xfrm>
          <a:prstGeom prst="line">
            <a:avLst/>
          </a:prstGeom>
          <a:noFill/>
          <a:ln w="19050">
            <a:solidFill>
              <a:srgbClr val="C9A84C"/>
            </a:solidFill>
            <a:prstDash val="dash"/>
          </a:ln>
        </p:spPr>
      </p:sp>
      <p:sp>
        <p:nvSpPr>
          <p:cNvPr id="23" name="Shape 21"/>
          <p:cNvSpPr/>
          <p:nvPr/>
        </p:nvSpPr>
        <p:spPr>
          <a:xfrm>
            <a:off x="4572000" y="4114800"/>
            <a:ext cx="0" cy="457200"/>
          </a:xfrm>
          <a:prstGeom prst="line">
            <a:avLst/>
          </a:prstGeom>
          <a:noFill/>
          <a:ln w="19050">
            <a:solidFill>
              <a:srgbClr val="C9A84C"/>
            </a:solidFill>
            <a:prstDash val="dash"/>
          </a:ln>
        </p:spPr>
      </p:sp>
      <p:sp>
        <p:nvSpPr>
          <p:cNvPr id="24" name="Text 22"/>
          <p:cNvSpPr/>
          <p:nvPr/>
        </p:nvSpPr>
        <p:spPr>
          <a:xfrm>
            <a:off x="182880" y="2395728"/>
            <a:ext cx="2423160" cy="411480"/>
          </a:xfrm>
          <a:prstGeom prst="rect">
            <a:avLst/>
          </a:prstGeom>
          <a:noFill/>
          <a:ln/>
        </p:spPr>
        <p:txBody>
          <a:bodyPr wrap="square" rtlCol="0" anchor="ctr"/>
          <a:lstStyle/>
          <a:p>
            <a:pPr algn="ctr" indent="0" marL="0">
              <a:buNone/>
            </a:pPr>
            <a:r>
              <a:rPr lang="en-US" sz="900" i="1" dirty="0">
                <a:solidFill>
                  <a:srgbClr val="6B7280"/>
                </a:solidFill>
                <a:latin typeface="Arial" pitchFamily="34" charset="0"/>
                <a:ea typeface="Arial" pitchFamily="34" charset="-122"/>
                <a:cs typeface="Arial" pitchFamily="34" charset="-120"/>
              </a:rPr>
              <a:t>60% retained</a:t>
            </a:r>
            <a:endParaRPr lang="en-US" sz="900" dirty="0"/>
          </a:p>
          <a:p>
            <a:pPr algn="ctr" indent="0" marL="0">
              <a:buNone/>
            </a:pPr>
            <a:r>
              <a:rPr lang="en-US" sz="900" i="1" dirty="0">
                <a:solidFill>
                  <a:srgbClr val="6B7280"/>
                </a:solidFill>
                <a:latin typeface="Arial" pitchFamily="34" charset="0"/>
                <a:ea typeface="Arial" pitchFamily="34" charset="-122"/>
                <a:cs typeface="Arial" pitchFamily="34" charset="-120"/>
              </a:rPr>
              <a:t>in Trading CC</a:t>
            </a:r>
            <a:endParaRPr lang="en-US" sz="900" dirty="0"/>
          </a:p>
        </p:txBody>
      </p:sp>
      <p:sp>
        <p:nvSpPr>
          <p:cNvPr id="25" name="Text 23"/>
          <p:cNvSpPr/>
          <p:nvPr/>
        </p:nvSpPr>
        <p:spPr>
          <a:xfrm>
            <a:off x="182880" y="4160520"/>
            <a:ext cx="2423160" cy="411480"/>
          </a:xfrm>
          <a:prstGeom prst="rect">
            <a:avLst/>
          </a:prstGeom>
          <a:noFill/>
          <a:ln/>
        </p:spPr>
        <p:txBody>
          <a:bodyPr wrap="square" rtlCol="0" anchor="ctr"/>
          <a:lstStyle/>
          <a:p>
            <a:pPr algn="ctr" indent="0" marL="0">
              <a:buNone/>
            </a:pPr>
            <a:r>
              <a:rPr lang="en-US" sz="900" i="1" dirty="0">
                <a:solidFill>
                  <a:srgbClr val="6B7280"/>
                </a:solidFill>
                <a:latin typeface="Arial" pitchFamily="34" charset="0"/>
                <a:ea typeface="Arial" pitchFamily="34" charset="-122"/>
                <a:cs typeface="Arial" pitchFamily="34" charset="-120"/>
              </a:rPr>
              <a:t>20% to Tiespro</a:t>
            </a:r>
            <a:endParaRPr lang="en-US" sz="900" dirty="0"/>
          </a:p>
          <a:p>
            <a:pPr algn="ctr" indent="0" marL="0">
              <a:buNone/>
            </a:pPr>
            <a:r>
              <a:rPr lang="en-US" sz="900" i="1" dirty="0">
                <a:solidFill>
                  <a:srgbClr val="6B7280"/>
                </a:solidFill>
                <a:latin typeface="Arial" pitchFamily="34" charset="0"/>
                <a:ea typeface="Arial" pitchFamily="34" charset="-122"/>
                <a:cs typeface="Arial" pitchFamily="34" charset="-120"/>
              </a:rPr>
              <a:t>(CPD/NQF fees)</a:t>
            </a:r>
            <a:endParaRPr lang="en-US" sz="900" dirty="0"/>
          </a:p>
        </p:txBody>
      </p:sp>
      <p:sp>
        <p:nvSpPr>
          <p:cNvPr id="26" name="Text 24"/>
          <p:cNvSpPr/>
          <p:nvPr/>
        </p:nvSpPr>
        <p:spPr>
          <a:xfrm>
            <a:off x="3246120" y="4160520"/>
            <a:ext cx="2423160" cy="411480"/>
          </a:xfrm>
          <a:prstGeom prst="rect">
            <a:avLst/>
          </a:prstGeom>
          <a:noFill/>
          <a:ln/>
        </p:spPr>
        <p:txBody>
          <a:bodyPr wrap="square" rtlCol="0" anchor="ctr"/>
          <a:lstStyle/>
          <a:p>
            <a:pPr algn="ctr" indent="0" marL="0">
              <a:buNone/>
            </a:pPr>
            <a:r>
              <a:rPr lang="en-US" sz="900" i="1" dirty="0">
                <a:solidFill>
                  <a:srgbClr val="6B7280"/>
                </a:solidFill>
                <a:latin typeface="Arial" pitchFamily="34" charset="0"/>
                <a:ea typeface="Arial" pitchFamily="34" charset="-122"/>
                <a:cs typeface="Arial" pitchFamily="34" charset="-120"/>
              </a:rPr>
              <a:t>15% to FSP 1457</a:t>
            </a:r>
            <a:endParaRPr lang="en-US" sz="900" dirty="0"/>
          </a:p>
          <a:p>
            <a:pPr algn="ctr" indent="0" marL="0">
              <a:buNone/>
            </a:pPr>
            <a:r>
              <a:rPr lang="en-US" sz="900" i="1" dirty="0">
                <a:solidFill>
                  <a:srgbClr val="6B7280"/>
                </a:solidFill>
                <a:latin typeface="Arial" pitchFamily="34" charset="0"/>
                <a:ea typeface="Arial" pitchFamily="34" charset="-122"/>
                <a:cs typeface="Arial" pitchFamily="34" charset="-120"/>
              </a:rPr>
              <a:t>(IP &amp; regulatory)</a:t>
            </a:r>
            <a:endParaRPr lang="en-US" sz="900" dirty="0"/>
          </a:p>
        </p:txBody>
      </p:sp>
      <p:sp>
        <p:nvSpPr>
          <p:cNvPr id="27" name="Text 25"/>
          <p:cNvSpPr/>
          <p:nvPr/>
        </p:nvSpPr>
        <p:spPr>
          <a:xfrm>
            <a:off x="6309360" y="4160520"/>
            <a:ext cx="2423160" cy="411480"/>
          </a:xfrm>
          <a:prstGeom prst="rect">
            <a:avLst/>
          </a:prstGeom>
          <a:noFill/>
          <a:ln/>
        </p:spPr>
        <p:txBody>
          <a:bodyPr wrap="square" rtlCol="0" anchor="ctr"/>
          <a:lstStyle/>
          <a:p>
            <a:pPr algn="ctr" indent="0" marL="0">
              <a:buNone/>
            </a:pPr>
            <a:r>
              <a:rPr lang="en-US" sz="900" i="1" dirty="0">
                <a:solidFill>
                  <a:srgbClr val="6B7280"/>
                </a:solidFill>
                <a:latin typeface="Arial" pitchFamily="34" charset="0"/>
                <a:ea typeface="Arial" pitchFamily="34" charset="-122"/>
                <a:cs typeface="Arial" pitchFamily="34" charset="-120"/>
              </a:rPr>
              <a:t>5% to Trust</a:t>
            </a:r>
            <a:endParaRPr lang="en-US" sz="900" dirty="0"/>
          </a:p>
          <a:p>
            <a:pPr algn="ctr" indent="0" marL="0">
              <a:buNone/>
            </a:pPr>
            <a:r>
              <a:rPr lang="en-US" sz="900" i="1" dirty="0">
                <a:solidFill>
                  <a:srgbClr val="6B7280"/>
                </a:solidFill>
                <a:latin typeface="Arial" pitchFamily="34" charset="0"/>
                <a:ea typeface="Arial" pitchFamily="34" charset="-122"/>
                <a:cs typeface="Arial" pitchFamily="34" charset="-120"/>
              </a:rPr>
              <a:t>(governance reserve)</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9F8F5"/>
        </a:solidFill>
      </p:bgPr>
    </p:bg>
    <p:spTree>
      <p:nvGrpSpPr>
        <p:cNvPr id="1" name=""/>
        <p:cNvGrpSpPr/>
        <p:nvPr/>
      </p:nvGrpSpPr>
      <p:grpSpPr>
        <a:xfrm>
          <a:off x="0" y="0"/>
          <a:ext cx="0" cy="0"/>
          <a:chOff x="0" y="0"/>
          <a:chExt cx="0" cy="0"/>
        </a:xfrm>
      </p:grpSpPr>
      <p:sp>
        <p:nvSpPr>
          <p:cNvPr id="2" name="Text 0"/>
          <p:cNvSpPr/>
          <p:nvPr/>
        </p:nvSpPr>
        <p:spPr>
          <a:xfrm>
            <a:off x="411480" y="201168"/>
            <a:ext cx="8229600" cy="201168"/>
          </a:xfrm>
          <a:prstGeom prst="rect">
            <a:avLst/>
          </a:prstGeom>
          <a:noFill/>
          <a:ln/>
        </p:spPr>
        <p:txBody>
          <a:bodyPr wrap="square" rtlCol="0" anchor="ctr"/>
          <a:lstStyle/>
          <a:p>
            <a:pPr indent="0" marL="0">
              <a:buNone/>
            </a:pPr>
            <a:r>
              <a:rPr lang="en-US" sz="900" b="1" spc="400" kern="0" dirty="0">
                <a:solidFill>
                  <a:srgbClr val="C9A84C"/>
                </a:solidFill>
                <a:latin typeface="Arial" pitchFamily="34" charset="0"/>
                <a:ea typeface="Arial" pitchFamily="34" charset="-122"/>
                <a:cs typeface="Arial" pitchFamily="34" charset="-120"/>
              </a:rPr>
              <a:t>EXECUTION — 90-DAY LAUNCH PLAN</a:t>
            </a:r>
            <a:endParaRPr lang="en-US" sz="900" dirty="0"/>
          </a:p>
        </p:txBody>
      </p:sp>
      <p:sp>
        <p:nvSpPr>
          <p:cNvPr id="3" name="Text 1"/>
          <p:cNvSpPr/>
          <p:nvPr/>
        </p:nvSpPr>
        <p:spPr>
          <a:xfrm>
            <a:off x="411480" y="475488"/>
            <a:ext cx="7772400" cy="640080"/>
          </a:xfrm>
          <a:prstGeom prst="rect">
            <a:avLst/>
          </a:prstGeom>
          <a:noFill/>
          <a:ln/>
        </p:spPr>
        <p:txBody>
          <a:bodyPr wrap="square" rtlCol="0" anchor="ctr"/>
          <a:lstStyle/>
          <a:p>
            <a:pPr indent="0" marL="0">
              <a:buNone/>
            </a:pPr>
            <a:r>
              <a:rPr lang="en-US" sz="2800" b="1" dirty="0">
                <a:solidFill>
                  <a:srgbClr val="1F3864"/>
                </a:solidFill>
                <a:latin typeface="Cambria" pitchFamily="34" charset="0"/>
                <a:ea typeface="Cambria" pitchFamily="34" charset="-122"/>
                <a:cs typeface="Cambria" pitchFamily="34" charset="-120"/>
              </a:rPr>
              <a:t>Three Phases. Specific Actions. Daily Accountability.</a:t>
            </a:r>
            <a:endParaRPr lang="en-US" sz="2800" dirty="0"/>
          </a:p>
        </p:txBody>
      </p:sp>
      <p:sp>
        <p:nvSpPr>
          <p:cNvPr id="4" name="Shape 2"/>
          <p:cNvSpPr/>
          <p:nvPr/>
        </p:nvSpPr>
        <p:spPr>
          <a:xfrm>
            <a:off x="411480" y="1207008"/>
            <a:ext cx="8321040" cy="0"/>
          </a:xfrm>
          <a:prstGeom prst="line">
            <a:avLst/>
          </a:prstGeom>
          <a:noFill/>
          <a:ln w="19050">
            <a:solidFill>
              <a:srgbClr val="C9A84C"/>
            </a:solidFill>
            <a:prstDash val="solid"/>
          </a:ln>
        </p:spPr>
      </p:sp>
      <p:sp>
        <p:nvSpPr>
          <p:cNvPr id="5" name="Shape 3"/>
          <p:cNvSpPr/>
          <p:nvPr/>
        </p:nvSpPr>
        <p:spPr>
          <a:xfrm>
            <a:off x="256032" y="1389888"/>
            <a:ext cx="2743200" cy="3493008"/>
          </a:xfrm>
          <a:prstGeom prst="roundRect">
            <a:avLst>
              <a:gd name="adj" fmla="val 2667"/>
            </a:avLst>
          </a:prstGeom>
          <a:solidFill>
            <a:srgbClr val="1F3864"/>
          </a:solidFill>
          <a:ln/>
          <a:effectLst>
            <a:outerShdw sx="100000" sy="100000" kx="0" ky="0" algn="bl" rotWithShape="0" blurRad="101600" dist="38100" dir="2700000">
              <a:srgbClr val="000000">
                <a:alpha val="13000"/>
              </a:srgbClr>
            </a:outerShdw>
          </a:effectLst>
        </p:spPr>
      </p:sp>
      <p:sp>
        <p:nvSpPr>
          <p:cNvPr id="6" name="Text 4"/>
          <p:cNvSpPr/>
          <p:nvPr/>
        </p:nvSpPr>
        <p:spPr>
          <a:xfrm>
            <a:off x="365760" y="1463040"/>
            <a:ext cx="2523744" cy="237744"/>
          </a:xfrm>
          <a:prstGeom prst="rect">
            <a:avLst/>
          </a:prstGeom>
          <a:noFill/>
          <a:ln/>
        </p:spPr>
        <p:txBody>
          <a:bodyPr wrap="square" rtlCol="0" anchor="ctr"/>
          <a:lstStyle/>
          <a:p>
            <a:pPr algn="ctr" indent="0" marL="0">
              <a:buNone/>
            </a:pPr>
            <a:r>
              <a:rPr lang="en-US" sz="900" b="1" spc="400" kern="0" dirty="0">
                <a:solidFill>
                  <a:srgbClr val="C9A84C"/>
                </a:solidFill>
                <a:latin typeface="Arial" pitchFamily="34" charset="0"/>
                <a:ea typeface="Arial" pitchFamily="34" charset="-122"/>
                <a:cs typeface="Arial" pitchFamily="34" charset="-120"/>
              </a:rPr>
              <a:t>PHASE 1</a:t>
            </a:r>
            <a:endParaRPr lang="en-US" sz="900" dirty="0"/>
          </a:p>
        </p:txBody>
      </p:sp>
      <p:sp>
        <p:nvSpPr>
          <p:cNvPr id="7" name="Text 5"/>
          <p:cNvSpPr/>
          <p:nvPr/>
        </p:nvSpPr>
        <p:spPr>
          <a:xfrm>
            <a:off x="365760" y="1709928"/>
            <a:ext cx="2523744" cy="384048"/>
          </a:xfrm>
          <a:prstGeom prst="rect">
            <a:avLst/>
          </a:prstGeom>
          <a:noFill/>
          <a:ln/>
        </p:spPr>
        <p:txBody>
          <a:bodyPr wrap="square"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Infrastructure</a:t>
            </a:r>
            <a:endParaRPr lang="en-US" sz="2000" dirty="0"/>
          </a:p>
        </p:txBody>
      </p:sp>
      <p:sp>
        <p:nvSpPr>
          <p:cNvPr id="8" name="Text 6"/>
          <p:cNvSpPr/>
          <p:nvPr/>
        </p:nvSpPr>
        <p:spPr>
          <a:xfrm>
            <a:off x="365760" y="2084832"/>
            <a:ext cx="2523744" cy="237744"/>
          </a:xfrm>
          <a:prstGeom prst="rect">
            <a:avLst/>
          </a:prstGeom>
          <a:noFill/>
          <a:ln/>
        </p:spPr>
        <p:txBody>
          <a:bodyPr wrap="square" rtlCol="0" anchor="ctr"/>
          <a:lstStyle/>
          <a:p>
            <a:pPr algn="ctr" indent="0" marL="0">
              <a:buNone/>
            </a:pPr>
            <a:r>
              <a:rPr lang="en-US" sz="900" dirty="0">
                <a:solidFill>
                  <a:srgbClr val="C9A84C"/>
                </a:solidFill>
                <a:latin typeface="Arial" pitchFamily="34" charset="0"/>
                <a:ea typeface="Arial" pitchFamily="34" charset="-122"/>
                <a:cs typeface="Arial" pitchFamily="34" charset="-120"/>
              </a:rPr>
              <a:t>Days 1–30</a:t>
            </a:r>
            <a:endParaRPr lang="en-US" sz="900" dirty="0"/>
          </a:p>
        </p:txBody>
      </p:sp>
      <p:sp>
        <p:nvSpPr>
          <p:cNvPr id="9" name="Shape 7"/>
          <p:cNvSpPr/>
          <p:nvPr/>
        </p:nvSpPr>
        <p:spPr>
          <a:xfrm>
            <a:off x="365760" y="2359152"/>
            <a:ext cx="2523744" cy="0"/>
          </a:xfrm>
          <a:prstGeom prst="line">
            <a:avLst/>
          </a:prstGeom>
          <a:noFill/>
          <a:ln w="10160">
            <a:solidFill>
              <a:srgbClr val="C9A84C"/>
            </a:solidFill>
            <a:prstDash val="solid"/>
          </a:ln>
        </p:spPr>
      </p:sp>
      <p:sp>
        <p:nvSpPr>
          <p:cNvPr id="10" name="Text 8"/>
          <p:cNvSpPr/>
          <p:nvPr/>
        </p:nvSpPr>
        <p:spPr>
          <a:xfrm>
            <a:off x="411480" y="2487168"/>
            <a:ext cx="2468880" cy="420624"/>
          </a:xfrm>
          <a:prstGeom prst="rect">
            <a:avLst/>
          </a:prstGeom>
          <a:noFill/>
          <a:ln/>
        </p:spPr>
        <p:txBody>
          <a:bodyPr wrap="square" rtlCol="0" anchor="ctr"/>
          <a:lstStyle/>
          <a:p>
            <a:pPr indent="0" marL="0">
              <a:buNone/>
            </a:pPr>
            <a:r>
              <a:rPr lang="en-US" sz="1000" dirty="0">
                <a:solidFill>
                  <a:srgbClr val="FFFFFF"/>
                </a:solidFill>
                <a:latin typeface="Arial" pitchFamily="34" charset="0"/>
                <a:ea typeface="Arial" pitchFamily="34" charset="-122"/>
                <a:cs typeface="Arial" pitchFamily="34" charset="-120"/>
              </a:rPr>
              <a:t>✓  Platform live at www.praeto.co.za</a:t>
            </a:r>
            <a:endParaRPr lang="en-US" sz="1000" dirty="0"/>
          </a:p>
        </p:txBody>
      </p:sp>
      <p:sp>
        <p:nvSpPr>
          <p:cNvPr id="11" name="Text 9"/>
          <p:cNvSpPr/>
          <p:nvPr/>
        </p:nvSpPr>
        <p:spPr>
          <a:xfrm>
            <a:off x="411480" y="2962656"/>
            <a:ext cx="2468880" cy="420624"/>
          </a:xfrm>
          <a:prstGeom prst="rect">
            <a:avLst/>
          </a:prstGeom>
          <a:noFill/>
          <a:ln/>
        </p:spPr>
        <p:txBody>
          <a:bodyPr wrap="square" rtlCol="0" anchor="ctr"/>
          <a:lstStyle/>
          <a:p>
            <a:pPr indent="0" marL="0">
              <a:buNone/>
            </a:pPr>
            <a:r>
              <a:rPr lang="en-US" sz="1000" dirty="0">
                <a:solidFill>
                  <a:srgbClr val="FFFFFF"/>
                </a:solidFill>
                <a:latin typeface="Arial" pitchFamily="34" charset="0"/>
                <a:ea typeface="Arial" pitchFamily="34" charset="-122"/>
                <a:cs typeface="Arial" pitchFamily="34" charset="-120"/>
              </a:rPr>
              <a:t>✓  5 beta FSP members onboarded</a:t>
            </a:r>
            <a:endParaRPr lang="en-US" sz="1000" dirty="0"/>
          </a:p>
        </p:txBody>
      </p:sp>
      <p:sp>
        <p:nvSpPr>
          <p:cNvPr id="12" name="Text 10"/>
          <p:cNvSpPr/>
          <p:nvPr/>
        </p:nvSpPr>
        <p:spPr>
          <a:xfrm>
            <a:off x="411480" y="3438144"/>
            <a:ext cx="2468880" cy="420624"/>
          </a:xfrm>
          <a:prstGeom prst="rect">
            <a:avLst/>
          </a:prstGeom>
          <a:noFill/>
          <a:ln/>
        </p:spPr>
        <p:txBody>
          <a:bodyPr wrap="square" rtlCol="0" anchor="ctr"/>
          <a:lstStyle/>
          <a:p>
            <a:pPr indent="0" marL="0">
              <a:buNone/>
            </a:pPr>
            <a:r>
              <a:rPr lang="en-US" sz="1000" dirty="0">
                <a:solidFill>
                  <a:srgbClr val="FFFFFF"/>
                </a:solidFill>
                <a:latin typeface="Arial" pitchFamily="34" charset="0"/>
                <a:ea typeface="Arial" pitchFamily="34" charset="-122"/>
                <a:cs typeface="Arial" pitchFamily="34" charset="-120"/>
              </a:rPr>
              <a:t>✓  1st EMEPF trustee training approach</a:t>
            </a:r>
            <a:endParaRPr lang="en-US" sz="1000" dirty="0"/>
          </a:p>
        </p:txBody>
      </p:sp>
      <p:sp>
        <p:nvSpPr>
          <p:cNvPr id="13" name="Text 11"/>
          <p:cNvSpPr/>
          <p:nvPr/>
        </p:nvSpPr>
        <p:spPr>
          <a:xfrm>
            <a:off x="411480" y="3913632"/>
            <a:ext cx="2468880" cy="420624"/>
          </a:xfrm>
          <a:prstGeom prst="rect">
            <a:avLst/>
          </a:prstGeom>
          <a:noFill/>
          <a:ln/>
        </p:spPr>
        <p:txBody>
          <a:bodyPr wrap="square" rtlCol="0" anchor="ctr"/>
          <a:lstStyle/>
          <a:p>
            <a:pPr indent="0" marL="0">
              <a:buNone/>
            </a:pPr>
            <a:r>
              <a:rPr lang="en-US" sz="1000" dirty="0">
                <a:solidFill>
                  <a:srgbClr val="FFFFFF"/>
                </a:solidFill>
                <a:latin typeface="Arial" pitchFamily="34" charset="0"/>
                <a:ea typeface="Arial" pitchFamily="34" charset="-122"/>
                <a:cs typeface="Arial" pitchFamily="34" charset="-120"/>
              </a:rPr>
              <a:t>✓  Funeral parlour content library built</a:t>
            </a:r>
            <a:endParaRPr lang="en-US" sz="1000" dirty="0"/>
          </a:p>
        </p:txBody>
      </p:sp>
      <p:sp>
        <p:nvSpPr>
          <p:cNvPr id="14" name="Text 12"/>
          <p:cNvSpPr/>
          <p:nvPr/>
        </p:nvSpPr>
        <p:spPr>
          <a:xfrm>
            <a:off x="411480" y="4389120"/>
            <a:ext cx="2468880" cy="420624"/>
          </a:xfrm>
          <a:prstGeom prst="rect">
            <a:avLst/>
          </a:prstGeom>
          <a:noFill/>
          <a:ln/>
        </p:spPr>
        <p:txBody>
          <a:bodyPr wrap="square" rtlCol="0" anchor="ctr"/>
          <a:lstStyle/>
          <a:p>
            <a:pPr indent="0" marL="0">
              <a:buNone/>
            </a:pPr>
            <a:r>
              <a:rPr lang="en-US" sz="1000" dirty="0">
                <a:solidFill>
                  <a:srgbClr val="E8C96A"/>
                </a:solidFill>
                <a:latin typeface="Arial" pitchFamily="34" charset="0"/>
                <a:ea typeface="Arial" pitchFamily="34" charset="-122"/>
                <a:cs typeface="Arial" pitchFamily="34" charset="-120"/>
              </a:rPr>
              <a:t>✓  10 contacts/day — Berkeley personally</a:t>
            </a:r>
            <a:endParaRPr lang="en-US" sz="1000" dirty="0"/>
          </a:p>
        </p:txBody>
      </p:sp>
      <p:sp>
        <p:nvSpPr>
          <p:cNvPr id="15" name="Shape 13"/>
          <p:cNvSpPr/>
          <p:nvPr/>
        </p:nvSpPr>
        <p:spPr>
          <a:xfrm>
            <a:off x="3218688" y="1389888"/>
            <a:ext cx="2743200" cy="3493008"/>
          </a:xfrm>
          <a:prstGeom prst="roundRect">
            <a:avLst>
              <a:gd name="adj" fmla="val 2667"/>
            </a:avLst>
          </a:prstGeom>
          <a:solidFill>
            <a:srgbClr val="1A6B5A"/>
          </a:solidFill>
          <a:ln/>
          <a:effectLst>
            <a:outerShdw sx="100000" sy="100000" kx="0" ky="0" algn="bl" rotWithShape="0" blurRad="101600" dist="38100" dir="2700000">
              <a:srgbClr val="000000">
                <a:alpha val="13000"/>
              </a:srgbClr>
            </a:outerShdw>
          </a:effectLst>
        </p:spPr>
      </p:sp>
      <p:sp>
        <p:nvSpPr>
          <p:cNvPr id="16" name="Text 14"/>
          <p:cNvSpPr/>
          <p:nvPr/>
        </p:nvSpPr>
        <p:spPr>
          <a:xfrm>
            <a:off x="3328416" y="1463040"/>
            <a:ext cx="2523744" cy="237744"/>
          </a:xfrm>
          <a:prstGeom prst="rect">
            <a:avLst/>
          </a:prstGeom>
          <a:noFill/>
          <a:ln/>
        </p:spPr>
        <p:txBody>
          <a:bodyPr wrap="square" rtlCol="0" anchor="ctr"/>
          <a:lstStyle/>
          <a:p>
            <a:pPr algn="ctr" indent="0" marL="0">
              <a:buNone/>
            </a:pPr>
            <a:r>
              <a:rPr lang="en-US" sz="900" b="1" spc="400" kern="0" dirty="0">
                <a:solidFill>
                  <a:srgbClr val="C9A84C"/>
                </a:solidFill>
                <a:latin typeface="Arial" pitchFamily="34" charset="0"/>
                <a:ea typeface="Arial" pitchFamily="34" charset="-122"/>
                <a:cs typeface="Arial" pitchFamily="34" charset="-120"/>
              </a:rPr>
              <a:t>PHASE 2</a:t>
            </a:r>
            <a:endParaRPr lang="en-US" sz="900" dirty="0"/>
          </a:p>
        </p:txBody>
      </p:sp>
      <p:sp>
        <p:nvSpPr>
          <p:cNvPr id="17" name="Text 15"/>
          <p:cNvSpPr/>
          <p:nvPr/>
        </p:nvSpPr>
        <p:spPr>
          <a:xfrm>
            <a:off x="3328416" y="1709928"/>
            <a:ext cx="2523744" cy="384048"/>
          </a:xfrm>
          <a:prstGeom prst="rect">
            <a:avLst/>
          </a:prstGeom>
          <a:noFill/>
          <a:ln/>
        </p:spPr>
        <p:txBody>
          <a:bodyPr wrap="square"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Convert</a:t>
            </a:r>
            <a:endParaRPr lang="en-US" sz="2000" dirty="0"/>
          </a:p>
        </p:txBody>
      </p:sp>
      <p:sp>
        <p:nvSpPr>
          <p:cNvPr id="18" name="Text 16"/>
          <p:cNvSpPr/>
          <p:nvPr/>
        </p:nvSpPr>
        <p:spPr>
          <a:xfrm>
            <a:off x="3328416" y="2084832"/>
            <a:ext cx="2523744" cy="237744"/>
          </a:xfrm>
          <a:prstGeom prst="rect">
            <a:avLst/>
          </a:prstGeom>
          <a:noFill/>
          <a:ln/>
        </p:spPr>
        <p:txBody>
          <a:bodyPr wrap="square" rtlCol="0" anchor="ctr"/>
          <a:lstStyle/>
          <a:p>
            <a:pPr algn="ctr" indent="0" marL="0">
              <a:buNone/>
            </a:pPr>
            <a:r>
              <a:rPr lang="en-US" sz="900" dirty="0">
                <a:solidFill>
                  <a:srgbClr val="C9A84C"/>
                </a:solidFill>
                <a:latin typeface="Arial" pitchFamily="34" charset="0"/>
                <a:ea typeface="Arial" pitchFamily="34" charset="-122"/>
                <a:cs typeface="Arial" pitchFamily="34" charset="-120"/>
              </a:rPr>
              <a:t>Days 31–60</a:t>
            </a:r>
            <a:endParaRPr lang="en-US" sz="900" dirty="0"/>
          </a:p>
        </p:txBody>
      </p:sp>
      <p:sp>
        <p:nvSpPr>
          <p:cNvPr id="19" name="Shape 17"/>
          <p:cNvSpPr/>
          <p:nvPr/>
        </p:nvSpPr>
        <p:spPr>
          <a:xfrm>
            <a:off x="3328416" y="2359152"/>
            <a:ext cx="2523744" cy="0"/>
          </a:xfrm>
          <a:prstGeom prst="line">
            <a:avLst/>
          </a:prstGeom>
          <a:noFill/>
          <a:ln w="10160">
            <a:solidFill>
              <a:srgbClr val="C9A84C"/>
            </a:solidFill>
            <a:prstDash val="solid"/>
          </a:ln>
        </p:spPr>
      </p:sp>
      <p:sp>
        <p:nvSpPr>
          <p:cNvPr id="20" name="Text 18"/>
          <p:cNvSpPr/>
          <p:nvPr/>
        </p:nvSpPr>
        <p:spPr>
          <a:xfrm>
            <a:off x="3374136" y="2487168"/>
            <a:ext cx="2468880" cy="420624"/>
          </a:xfrm>
          <a:prstGeom prst="rect">
            <a:avLst/>
          </a:prstGeom>
          <a:noFill/>
          <a:ln/>
        </p:spPr>
        <p:txBody>
          <a:bodyPr wrap="square" rtlCol="0" anchor="ctr"/>
          <a:lstStyle/>
          <a:p>
            <a:pPr indent="0" marL="0">
              <a:buNone/>
            </a:pPr>
            <a:r>
              <a:rPr lang="en-US" sz="1000" dirty="0">
                <a:solidFill>
                  <a:srgbClr val="FFFFFF"/>
                </a:solidFill>
                <a:latin typeface="Arial" pitchFamily="34" charset="0"/>
                <a:ea typeface="Arial" pitchFamily="34" charset="-122"/>
                <a:cs typeface="Arial" pitchFamily="34" charset="-120"/>
              </a:rPr>
              <a:t>✓  50 paying FSP members</a:t>
            </a:r>
            <a:endParaRPr lang="en-US" sz="1000" dirty="0"/>
          </a:p>
        </p:txBody>
      </p:sp>
      <p:sp>
        <p:nvSpPr>
          <p:cNvPr id="21" name="Text 19"/>
          <p:cNvSpPr/>
          <p:nvPr/>
        </p:nvSpPr>
        <p:spPr>
          <a:xfrm>
            <a:off x="3374136" y="2962656"/>
            <a:ext cx="2468880" cy="420624"/>
          </a:xfrm>
          <a:prstGeom prst="rect">
            <a:avLst/>
          </a:prstGeom>
          <a:noFill/>
          <a:ln/>
        </p:spPr>
        <p:txBody>
          <a:bodyPr wrap="square" rtlCol="0" anchor="ctr"/>
          <a:lstStyle/>
          <a:p>
            <a:pPr indent="0" marL="0">
              <a:buNone/>
            </a:pPr>
            <a:r>
              <a:rPr lang="en-US" sz="1000" dirty="0">
                <a:solidFill>
                  <a:srgbClr val="FFFFFF"/>
                </a:solidFill>
                <a:latin typeface="Arial" pitchFamily="34" charset="0"/>
                <a:ea typeface="Arial" pitchFamily="34" charset="-122"/>
                <a:cs typeface="Arial" pitchFamily="34" charset="-120"/>
              </a:rPr>
              <a:t>✓  First pension fund contracted</a:t>
            </a:r>
            <a:endParaRPr lang="en-US" sz="1000" dirty="0"/>
          </a:p>
        </p:txBody>
      </p:sp>
      <p:sp>
        <p:nvSpPr>
          <p:cNvPr id="22" name="Text 20"/>
          <p:cNvSpPr/>
          <p:nvPr/>
        </p:nvSpPr>
        <p:spPr>
          <a:xfrm>
            <a:off x="3374136" y="3438144"/>
            <a:ext cx="2468880" cy="420624"/>
          </a:xfrm>
          <a:prstGeom prst="rect">
            <a:avLst/>
          </a:prstGeom>
          <a:noFill/>
          <a:ln/>
        </p:spPr>
        <p:txBody>
          <a:bodyPr wrap="square" rtlCol="0" anchor="ctr"/>
          <a:lstStyle/>
          <a:p>
            <a:pPr indent="0" marL="0">
              <a:buNone/>
            </a:pPr>
            <a:r>
              <a:rPr lang="en-US" sz="1000" dirty="0">
                <a:solidFill>
                  <a:srgbClr val="FFFFFF"/>
                </a:solidFill>
                <a:latin typeface="Arial" pitchFamily="34" charset="0"/>
                <a:ea typeface="Arial" pitchFamily="34" charset="-122"/>
                <a:cs typeface="Arial" pitchFamily="34" charset="-120"/>
              </a:rPr>
              <a:t>✓  20 funeral parlour sign-ups</a:t>
            </a:r>
            <a:endParaRPr lang="en-US" sz="1000" dirty="0"/>
          </a:p>
        </p:txBody>
      </p:sp>
      <p:sp>
        <p:nvSpPr>
          <p:cNvPr id="23" name="Text 21"/>
          <p:cNvSpPr/>
          <p:nvPr/>
        </p:nvSpPr>
        <p:spPr>
          <a:xfrm>
            <a:off x="3374136" y="3913632"/>
            <a:ext cx="2468880" cy="420624"/>
          </a:xfrm>
          <a:prstGeom prst="rect">
            <a:avLst/>
          </a:prstGeom>
          <a:noFill/>
          <a:ln/>
        </p:spPr>
        <p:txBody>
          <a:bodyPr wrap="square" rtlCol="0" anchor="ctr"/>
          <a:lstStyle/>
          <a:p>
            <a:pPr indent="0" marL="0">
              <a:buNone/>
            </a:pPr>
            <a:r>
              <a:rPr lang="en-US" sz="1000" dirty="0">
                <a:solidFill>
                  <a:srgbClr val="FFFFFF"/>
                </a:solidFill>
                <a:latin typeface="Arial" pitchFamily="34" charset="0"/>
                <a:ea typeface="Arial" pitchFamily="34" charset="-122"/>
                <a:cs typeface="Arial" pitchFamily="34" charset="-120"/>
              </a:rPr>
              <a:t>✓  R217,500+ MRR achieved</a:t>
            </a:r>
            <a:endParaRPr lang="en-US" sz="1000" dirty="0"/>
          </a:p>
        </p:txBody>
      </p:sp>
      <p:sp>
        <p:nvSpPr>
          <p:cNvPr id="24" name="Text 22"/>
          <p:cNvSpPr/>
          <p:nvPr/>
        </p:nvSpPr>
        <p:spPr>
          <a:xfrm>
            <a:off x="3374136" y="4389120"/>
            <a:ext cx="2468880" cy="420624"/>
          </a:xfrm>
          <a:prstGeom prst="rect">
            <a:avLst/>
          </a:prstGeom>
          <a:noFill/>
          <a:ln/>
        </p:spPr>
        <p:txBody>
          <a:bodyPr wrap="square" rtlCol="0" anchor="ctr"/>
          <a:lstStyle/>
          <a:p>
            <a:pPr indent="0" marL="0">
              <a:buNone/>
            </a:pPr>
            <a:r>
              <a:rPr lang="en-US" sz="1000" dirty="0">
                <a:solidFill>
                  <a:srgbClr val="E8C96A"/>
                </a:solidFill>
                <a:latin typeface="Arial" pitchFamily="34" charset="0"/>
                <a:ea typeface="Arial" pitchFamily="34" charset="-122"/>
                <a:cs typeface="Arial" pitchFamily="34" charset="-120"/>
              </a:rPr>
              <a:t>✓  Inaugural compliance webinar broadcast</a:t>
            </a:r>
            <a:endParaRPr lang="en-US" sz="1000" dirty="0"/>
          </a:p>
        </p:txBody>
      </p:sp>
      <p:sp>
        <p:nvSpPr>
          <p:cNvPr id="25" name="Shape 23"/>
          <p:cNvSpPr/>
          <p:nvPr/>
        </p:nvSpPr>
        <p:spPr>
          <a:xfrm>
            <a:off x="6181344" y="1389888"/>
            <a:ext cx="2743200" cy="3493008"/>
          </a:xfrm>
          <a:prstGeom prst="roundRect">
            <a:avLst>
              <a:gd name="adj" fmla="val 2667"/>
            </a:avLst>
          </a:prstGeom>
          <a:solidFill>
            <a:srgbClr val="4A3C7A"/>
          </a:solidFill>
          <a:ln/>
          <a:effectLst>
            <a:outerShdw sx="100000" sy="100000" kx="0" ky="0" algn="bl" rotWithShape="0" blurRad="101600" dist="38100" dir="2700000">
              <a:srgbClr val="000000">
                <a:alpha val="13000"/>
              </a:srgbClr>
            </a:outerShdw>
          </a:effectLst>
        </p:spPr>
      </p:sp>
      <p:sp>
        <p:nvSpPr>
          <p:cNvPr id="26" name="Text 24"/>
          <p:cNvSpPr/>
          <p:nvPr/>
        </p:nvSpPr>
        <p:spPr>
          <a:xfrm>
            <a:off x="6291072" y="1463040"/>
            <a:ext cx="2523744" cy="237744"/>
          </a:xfrm>
          <a:prstGeom prst="rect">
            <a:avLst/>
          </a:prstGeom>
          <a:noFill/>
          <a:ln/>
        </p:spPr>
        <p:txBody>
          <a:bodyPr wrap="square" rtlCol="0" anchor="ctr"/>
          <a:lstStyle/>
          <a:p>
            <a:pPr algn="ctr" indent="0" marL="0">
              <a:buNone/>
            </a:pPr>
            <a:r>
              <a:rPr lang="en-US" sz="900" b="1" spc="400" kern="0" dirty="0">
                <a:solidFill>
                  <a:srgbClr val="C9A84C"/>
                </a:solidFill>
                <a:latin typeface="Arial" pitchFamily="34" charset="0"/>
                <a:ea typeface="Arial" pitchFamily="34" charset="-122"/>
                <a:cs typeface="Arial" pitchFamily="34" charset="-120"/>
              </a:rPr>
              <a:t>PHASE 3</a:t>
            </a:r>
            <a:endParaRPr lang="en-US" sz="900" dirty="0"/>
          </a:p>
        </p:txBody>
      </p:sp>
      <p:sp>
        <p:nvSpPr>
          <p:cNvPr id="27" name="Text 25"/>
          <p:cNvSpPr/>
          <p:nvPr/>
        </p:nvSpPr>
        <p:spPr>
          <a:xfrm>
            <a:off x="6291072" y="1709928"/>
            <a:ext cx="2523744" cy="384048"/>
          </a:xfrm>
          <a:prstGeom prst="rect">
            <a:avLst/>
          </a:prstGeom>
          <a:noFill/>
          <a:ln/>
        </p:spPr>
        <p:txBody>
          <a:bodyPr wrap="square"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Scale</a:t>
            </a:r>
            <a:endParaRPr lang="en-US" sz="2000" dirty="0"/>
          </a:p>
        </p:txBody>
      </p:sp>
      <p:sp>
        <p:nvSpPr>
          <p:cNvPr id="28" name="Text 26"/>
          <p:cNvSpPr/>
          <p:nvPr/>
        </p:nvSpPr>
        <p:spPr>
          <a:xfrm>
            <a:off x="6291072" y="2084832"/>
            <a:ext cx="2523744" cy="237744"/>
          </a:xfrm>
          <a:prstGeom prst="rect">
            <a:avLst/>
          </a:prstGeom>
          <a:noFill/>
          <a:ln/>
        </p:spPr>
        <p:txBody>
          <a:bodyPr wrap="square" rtlCol="0" anchor="ctr"/>
          <a:lstStyle/>
          <a:p>
            <a:pPr algn="ctr" indent="0" marL="0">
              <a:buNone/>
            </a:pPr>
            <a:r>
              <a:rPr lang="en-US" sz="900" dirty="0">
                <a:solidFill>
                  <a:srgbClr val="C9A84C"/>
                </a:solidFill>
                <a:latin typeface="Arial" pitchFamily="34" charset="0"/>
                <a:ea typeface="Arial" pitchFamily="34" charset="-122"/>
                <a:cs typeface="Arial" pitchFamily="34" charset="-120"/>
              </a:rPr>
              <a:t>Days 61–90</a:t>
            </a:r>
            <a:endParaRPr lang="en-US" sz="900" dirty="0"/>
          </a:p>
        </p:txBody>
      </p:sp>
      <p:sp>
        <p:nvSpPr>
          <p:cNvPr id="29" name="Shape 27"/>
          <p:cNvSpPr/>
          <p:nvPr/>
        </p:nvSpPr>
        <p:spPr>
          <a:xfrm>
            <a:off x="6291072" y="2359152"/>
            <a:ext cx="2523744" cy="0"/>
          </a:xfrm>
          <a:prstGeom prst="line">
            <a:avLst/>
          </a:prstGeom>
          <a:noFill/>
          <a:ln w="10160">
            <a:solidFill>
              <a:srgbClr val="C9A84C"/>
            </a:solidFill>
            <a:prstDash val="solid"/>
          </a:ln>
        </p:spPr>
      </p:sp>
      <p:sp>
        <p:nvSpPr>
          <p:cNvPr id="30" name="Text 28"/>
          <p:cNvSpPr/>
          <p:nvPr/>
        </p:nvSpPr>
        <p:spPr>
          <a:xfrm>
            <a:off x="6336792" y="2487168"/>
            <a:ext cx="2468880" cy="420624"/>
          </a:xfrm>
          <a:prstGeom prst="rect">
            <a:avLst/>
          </a:prstGeom>
          <a:noFill/>
          <a:ln/>
        </p:spPr>
        <p:txBody>
          <a:bodyPr wrap="square" rtlCol="0" anchor="ctr"/>
          <a:lstStyle/>
          <a:p>
            <a:pPr indent="0" marL="0">
              <a:buNone/>
            </a:pPr>
            <a:r>
              <a:rPr lang="en-US" sz="1000" dirty="0">
                <a:solidFill>
                  <a:srgbClr val="FFFFFF"/>
                </a:solidFill>
                <a:latin typeface="Arial" pitchFamily="34" charset="0"/>
                <a:ea typeface="Arial" pitchFamily="34" charset="-122"/>
                <a:cs typeface="Arial" pitchFamily="34" charset="-120"/>
              </a:rPr>
              <a:t>✓  150+ total subscribers</a:t>
            </a:r>
            <a:endParaRPr lang="en-US" sz="1000" dirty="0"/>
          </a:p>
        </p:txBody>
      </p:sp>
      <p:sp>
        <p:nvSpPr>
          <p:cNvPr id="31" name="Text 29"/>
          <p:cNvSpPr/>
          <p:nvPr/>
        </p:nvSpPr>
        <p:spPr>
          <a:xfrm>
            <a:off x="6336792" y="2962656"/>
            <a:ext cx="2468880" cy="420624"/>
          </a:xfrm>
          <a:prstGeom prst="rect">
            <a:avLst/>
          </a:prstGeom>
          <a:noFill/>
          <a:ln/>
        </p:spPr>
        <p:txBody>
          <a:bodyPr wrap="square" rtlCol="0" anchor="ctr"/>
          <a:lstStyle/>
          <a:p>
            <a:pPr indent="0" marL="0">
              <a:buNone/>
            </a:pPr>
            <a:r>
              <a:rPr lang="en-US" sz="1000" dirty="0">
                <a:solidFill>
                  <a:srgbClr val="FFFFFF"/>
                </a:solidFill>
                <a:latin typeface="Arial" pitchFamily="34" charset="0"/>
                <a:ea typeface="Arial" pitchFamily="34" charset="-122"/>
                <a:cs typeface="Arial" pitchFamily="34" charset="-120"/>
              </a:rPr>
              <a:t>✓  VA hired and onboarded</a:t>
            </a:r>
            <a:endParaRPr lang="en-US" sz="1000" dirty="0"/>
          </a:p>
        </p:txBody>
      </p:sp>
      <p:sp>
        <p:nvSpPr>
          <p:cNvPr id="32" name="Text 30"/>
          <p:cNvSpPr/>
          <p:nvPr/>
        </p:nvSpPr>
        <p:spPr>
          <a:xfrm>
            <a:off x="6336792" y="3438144"/>
            <a:ext cx="2468880" cy="420624"/>
          </a:xfrm>
          <a:prstGeom prst="rect">
            <a:avLst/>
          </a:prstGeom>
          <a:noFill/>
          <a:ln/>
        </p:spPr>
        <p:txBody>
          <a:bodyPr wrap="square" rtlCol="0" anchor="ctr"/>
          <a:lstStyle/>
          <a:p>
            <a:pPr indent="0" marL="0">
              <a:buNone/>
            </a:pPr>
            <a:r>
              <a:rPr lang="en-US" sz="1000" dirty="0">
                <a:solidFill>
                  <a:srgbClr val="FFFFFF"/>
                </a:solidFill>
                <a:latin typeface="Arial" pitchFamily="34" charset="0"/>
                <a:ea typeface="Arial" pitchFamily="34" charset="-122"/>
                <a:cs typeface="Arial" pitchFamily="34" charset="-120"/>
              </a:rPr>
              <a:t>✓  National LinkedIn ads running</a:t>
            </a:r>
            <a:endParaRPr lang="en-US" sz="1000" dirty="0"/>
          </a:p>
        </p:txBody>
      </p:sp>
      <p:sp>
        <p:nvSpPr>
          <p:cNvPr id="33" name="Text 31"/>
          <p:cNvSpPr/>
          <p:nvPr/>
        </p:nvSpPr>
        <p:spPr>
          <a:xfrm>
            <a:off x="6336792" y="3913632"/>
            <a:ext cx="2468880" cy="420624"/>
          </a:xfrm>
          <a:prstGeom prst="rect">
            <a:avLst/>
          </a:prstGeom>
          <a:noFill/>
          <a:ln/>
        </p:spPr>
        <p:txBody>
          <a:bodyPr wrap="square" rtlCol="0" anchor="ctr"/>
          <a:lstStyle/>
          <a:p>
            <a:pPr indent="0" marL="0">
              <a:buNone/>
            </a:pPr>
            <a:r>
              <a:rPr lang="en-US" sz="1000" dirty="0">
                <a:solidFill>
                  <a:srgbClr val="FFFFFF"/>
                </a:solidFill>
                <a:latin typeface="Arial" pitchFamily="34" charset="0"/>
                <a:ea typeface="Arial" pitchFamily="34" charset="-122"/>
                <a:cs typeface="Arial" pitchFamily="34" charset="-120"/>
              </a:rPr>
              <a:t>✓  Summit (18 Sep) fully registered</a:t>
            </a:r>
            <a:endParaRPr lang="en-US" sz="1000" dirty="0"/>
          </a:p>
        </p:txBody>
      </p:sp>
      <p:sp>
        <p:nvSpPr>
          <p:cNvPr id="34" name="Text 32"/>
          <p:cNvSpPr/>
          <p:nvPr/>
        </p:nvSpPr>
        <p:spPr>
          <a:xfrm>
            <a:off x="6336792" y="4389120"/>
            <a:ext cx="2468880" cy="420624"/>
          </a:xfrm>
          <a:prstGeom prst="rect">
            <a:avLst/>
          </a:prstGeom>
          <a:noFill/>
          <a:ln/>
        </p:spPr>
        <p:txBody>
          <a:bodyPr wrap="square" rtlCol="0" anchor="ctr"/>
          <a:lstStyle/>
          <a:p>
            <a:pPr indent="0" marL="0">
              <a:buNone/>
            </a:pPr>
            <a:r>
              <a:rPr lang="en-US" sz="1000" dirty="0">
                <a:solidFill>
                  <a:srgbClr val="E8C96A"/>
                </a:solidFill>
                <a:latin typeface="Arial" pitchFamily="34" charset="0"/>
                <a:ea typeface="Arial" pitchFamily="34" charset="-122"/>
                <a:cs typeface="Arial" pitchFamily="34" charset="-120"/>
              </a:rPr>
              <a:t>✓  R600,000+ MRR trajectory locked</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11480" y="201168"/>
            <a:ext cx="8229600" cy="201168"/>
          </a:xfrm>
          <a:prstGeom prst="rect">
            <a:avLst/>
          </a:prstGeom>
          <a:noFill/>
          <a:ln/>
        </p:spPr>
        <p:txBody>
          <a:bodyPr wrap="square" rtlCol="0" anchor="ctr"/>
          <a:lstStyle/>
          <a:p>
            <a:pPr indent="0" marL="0">
              <a:buNone/>
            </a:pPr>
            <a:r>
              <a:rPr lang="en-US" sz="900" b="1" spc="400" kern="0" dirty="0">
                <a:solidFill>
                  <a:srgbClr val="C9A84C"/>
                </a:solidFill>
                <a:latin typeface="Arial" pitchFamily="34" charset="0"/>
                <a:ea typeface="Arial" pitchFamily="34" charset="-122"/>
                <a:cs typeface="Arial" pitchFamily="34" charset="-120"/>
              </a:rPr>
              <a:t>RISK &amp; GOVERNANCE</a:t>
            </a:r>
            <a:endParaRPr lang="en-US" sz="900" dirty="0"/>
          </a:p>
        </p:txBody>
      </p:sp>
      <p:sp>
        <p:nvSpPr>
          <p:cNvPr id="3" name="Text 1"/>
          <p:cNvSpPr/>
          <p:nvPr/>
        </p:nvSpPr>
        <p:spPr>
          <a:xfrm>
            <a:off x="411480" y="475488"/>
            <a:ext cx="7772400" cy="640080"/>
          </a:xfrm>
          <a:prstGeom prst="rect">
            <a:avLst/>
          </a:prstGeom>
          <a:noFill/>
          <a:ln/>
        </p:spPr>
        <p:txBody>
          <a:bodyPr wrap="square" rtlCol="0" anchor="ctr"/>
          <a:lstStyle/>
          <a:p>
            <a:pPr indent="0" marL="0">
              <a:buNone/>
            </a:pPr>
            <a:r>
              <a:rPr lang="en-US" sz="2800" b="1" dirty="0">
                <a:solidFill>
                  <a:srgbClr val="1F3864"/>
                </a:solidFill>
                <a:latin typeface="Cambria" pitchFamily="34" charset="0"/>
                <a:ea typeface="Cambria" pitchFamily="34" charset="-122"/>
                <a:cs typeface="Cambria" pitchFamily="34" charset="-120"/>
              </a:rPr>
              <a:t>Risk Register — Five Material Risks &amp; Mitigations</a:t>
            </a:r>
            <a:endParaRPr lang="en-US" sz="2800" dirty="0"/>
          </a:p>
        </p:txBody>
      </p:sp>
      <p:sp>
        <p:nvSpPr>
          <p:cNvPr id="4" name="Shape 2"/>
          <p:cNvSpPr/>
          <p:nvPr/>
        </p:nvSpPr>
        <p:spPr>
          <a:xfrm>
            <a:off x="411480" y="1207008"/>
            <a:ext cx="8321040" cy="0"/>
          </a:xfrm>
          <a:prstGeom prst="line">
            <a:avLst/>
          </a:prstGeom>
          <a:noFill/>
          <a:ln w="19050">
            <a:solidFill>
              <a:srgbClr val="C9A84C"/>
            </a:solidFill>
            <a:prstDash val="solid"/>
          </a:ln>
        </p:spPr>
      </p:sp>
      <p:sp>
        <p:nvSpPr>
          <p:cNvPr id="5" name="Shape 3"/>
          <p:cNvSpPr/>
          <p:nvPr/>
        </p:nvSpPr>
        <p:spPr>
          <a:xfrm>
            <a:off x="256032" y="1389888"/>
            <a:ext cx="8641080" cy="621792"/>
          </a:xfrm>
          <a:prstGeom prst="roundRect">
            <a:avLst>
              <a:gd name="adj" fmla="val 7353"/>
            </a:avLst>
          </a:prstGeom>
          <a:solidFill>
            <a:srgbClr val="FFFFFF"/>
          </a:solidFill>
          <a:ln/>
          <a:effectLst>
            <a:outerShdw sx="100000" sy="100000" kx="0" ky="0" algn="bl" rotWithShape="0" blurRad="101600" dist="38100" dir="2700000">
              <a:srgbClr val="000000">
                <a:alpha val="13000"/>
              </a:srgbClr>
            </a:outerShdw>
          </a:effectLst>
        </p:spPr>
      </p:sp>
      <p:sp>
        <p:nvSpPr>
          <p:cNvPr id="6" name="Shape 4"/>
          <p:cNvSpPr/>
          <p:nvPr/>
        </p:nvSpPr>
        <p:spPr>
          <a:xfrm>
            <a:off x="256032" y="1389888"/>
            <a:ext cx="2194560" cy="621792"/>
          </a:xfrm>
          <a:prstGeom prst="roundRect">
            <a:avLst>
              <a:gd name="adj" fmla="val 7353"/>
            </a:avLst>
          </a:prstGeom>
          <a:solidFill>
            <a:srgbClr val="1F3864"/>
          </a:solidFill>
          <a:ln/>
        </p:spPr>
      </p:sp>
      <p:sp>
        <p:nvSpPr>
          <p:cNvPr id="7" name="Text 5"/>
          <p:cNvSpPr/>
          <p:nvPr/>
        </p:nvSpPr>
        <p:spPr>
          <a:xfrm>
            <a:off x="347472" y="1435608"/>
            <a:ext cx="2011680" cy="530352"/>
          </a:xfrm>
          <a:prstGeom prst="rect">
            <a:avLst/>
          </a:prstGeom>
          <a:noFill/>
          <a:ln/>
        </p:spPr>
        <p:txBody>
          <a:bodyPr wrap="square" rtlCol="0" anchor="ctr"/>
          <a:lstStyle/>
          <a:p>
            <a:pPr indent="0" marL="0">
              <a:buNone/>
            </a:pPr>
            <a:r>
              <a:rPr lang="en-US" sz="1050" b="1" dirty="0">
                <a:solidFill>
                  <a:srgbClr val="FFFFFF"/>
                </a:solidFill>
                <a:latin typeface="Arial" pitchFamily="34" charset="0"/>
                <a:ea typeface="Arial" pitchFamily="34" charset="-122"/>
                <a:cs typeface="Arial" pitchFamily="34" charset="-120"/>
              </a:rPr>
              <a:t>Key Person Dependency</a:t>
            </a:r>
            <a:endParaRPr lang="en-US" sz="1050" dirty="0"/>
          </a:p>
        </p:txBody>
      </p:sp>
      <p:sp>
        <p:nvSpPr>
          <p:cNvPr id="8" name="Shape 6"/>
          <p:cNvSpPr/>
          <p:nvPr/>
        </p:nvSpPr>
        <p:spPr>
          <a:xfrm>
            <a:off x="2542032" y="1481328"/>
            <a:ext cx="1051560" cy="347472"/>
          </a:xfrm>
          <a:prstGeom prst="roundRect">
            <a:avLst>
              <a:gd name="adj" fmla="val 10526"/>
            </a:avLst>
          </a:prstGeom>
          <a:solidFill>
            <a:srgbClr val="FEF3C7"/>
          </a:solidFill>
          <a:ln/>
        </p:spPr>
      </p:sp>
      <p:sp>
        <p:nvSpPr>
          <p:cNvPr id="9" name="Text 7"/>
          <p:cNvSpPr/>
          <p:nvPr/>
        </p:nvSpPr>
        <p:spPr>
          <a:xfrm>
            <a:off x="2542032" y="1481328"/>
            <a:ext cx="1051560" cy="347472"/>
          </a:xfrm>
          <a:prstGeom prst="rect">
            <a:avLst/>
          </a:prstGeom>
          <a:noFill/>
          <a:ln/>
        </p:spPr>
        <p:txBody>
          <a:bodyPr wrap="square" rtlCol="0" anchor="ctr"/>
          <a:lstStyle/>
          <a:p>
            <a:pPr algn="ctr" indent="0" marL="0">
              <a:buNone/>
            </a:pPr>
            <a:r>
              <a:rPr lang="en-US" sz="850" b="1" dirty="0">
                <a:solidFill>
                  <a:srgbClr val="92400E"/>
                </a:solidFill>
                <a:latin typeface="Arial" pitchFamily="34" charset="0"/>
                <a:ea typeface="Arial" pitchFamily="34" charset="-122"/>
                <a:cs typeface="Arial" pitchFamily="34" charset="-120"/>
              </a:rPr>
              <a:t>MEDIUM</a:t>
            </a:r>
            <a:endParaRPr lang="en-US" sz="850" dirty="0"/>
          </a:p>
        </p:txBody>
      </p:sp>
      <p:sp>
        <p:nvSpPr>
          <p:cNvPr id="10" name="Text 8"/>
          <p:cNvSpPr/>
          <p:nvPr/>
        </p:nvSpPr>
        <p:spPr>
          <a:xfrm>
            <a:off x="3703320" y="1426464"/>
            <a:ext cx="5074920" cy="512064"/>
          </a:xfrm>
          <a:prstGeom prst="rect">
            <a:avLst/>
          </a:prstGeom>
          <a:noFill/>
          <a:ln/>
        </p:spPr>
        <p:txBody>
          <a:bodyPr wrap="square" rtlCol="0" anchor="ctr"/>
          <a:lstStyle/>
          <a:p>
            <a:pPr indent="0" marL="0">
              <a:buNone/>
            </a:pPr>
            <a:r>
              <a:rPr lang="en-US" sz="950" dirty="0">
                <a:solidFill>
                  <a:srgbClr val="111827"/>
                </a:solidFill>
                <a:latin typeface="Arial" pitchFamily="34" charset="0"/>
                <a:ea typeface="Arial" pitchFamily="34" charset="-122"/>
                <a:cs typeface="Arial" pitchFamily="34" charset="-120"/>
              </a:rPr>
              <a:t>Content library and AI Advisor operate independently of Berkeley. VA hire Month 2. Keshnee Pretorius as backup KI candidate.</a:t>
            </a:r>
            <a:endParaRPr lang="en-US" sz="950" dirty="0"/>
          </a:p>
        </p:txBody>
      </p:sp>
      <p:sp>
        <p:nvSpPr>
          <p:cNvPr id="11" name="Shape 9"/>
          <p:cNvSpPr/>
          <p:nvPr/>
        </p:nvSpPr>
        <p:spPr>
          <a:xfrm>
            <a:off x="256032" y="2103120"/>
            <a:ext cx="8641080" cy="621792"/>
          </a:xfrm>
          <a:prstGeom prst="roundRect">
            <a:avLst>
              <a:gd name="adj" fmla="val 7353"/>
            </a:avLst>
          </a:prstGeom>
          <a:solidFill>
            <a:srgbClr val="FFFFFF"/>
          </a:solidFill>
          <a:ln/>
          <a:effectLst>
            <a:outerShdw sx="100000" sy="100000" kx="0" ky="0" algn="bl" rotWithShape="0" blurRad="101600" dist="38100" dir="2700000">
              <a:srgbClr val="000000">
                <a:alpha val="13000"/>
              </a:srgbClr>
            </a:outerShdw>
          </a:effectLst>
        </p:spPr>
      </p:sp>
      <p:sp>
        <p:nvSpPr>
          <p:cNvPr id="12" name="Shape 10"/>
          <p:cNvSpPr/>
          <p:nvPr/>
        </p:nvSpPr>
        <p:spPr>
          <a:xfrm>
            <a:off x="256032" y="2103120"/>
            <a:ext cx="2194560" cy="621792"/>
          </a:xfrm>
          <a:prstGeom prst="roundRect">
            <a:avLst>
              <a:gd name="adj" fmla="val 7353"/>
            </a:avLst>
          </a:prstGeom>
          <a:solidFill>
            <a:srgbClr val="1F3864"/>
          </a:solidFill>
          <a:ln/>
        </p:spPr>
      </p:sp>
      <p:sp>
        <p:nvSpPr>
          <p:cNvPr id="13" name="Text 11"/>
          <p:cNvSpPr/>
          <p:nvPr/>
        </p:nvSpPr>
        <p:spPr>
          <a:xfrm>
            <a:off x="347472" y="2148840"/>
            <a:ext cx="2011680" cy="530352"/>
          </a:xfrm>
          <a:prstGeom prst="rect">
            <a:avLst/>
          </a:prstGeom>
          <a:noFill/>
          <a:ln/>
        </p:spPr>
        <p:txBody>
          <a:bodyPr wrap="square" rtlCol="0" anchor="ctr"/>
          <a:lstStyle/>
          <a:p>
            <a:pPr indent="0" marL="0">
              <a:buNone/>
            </a:pPr>
            <a:r>
              <a:rPr lang="en-US" sz="1050" b="1" dirty="0">
                <a:solidFill>
                  <a:srgbClr val="FFFFFF"/>
                </a:solidFill>
                <a:latin typeface="Arial" pitchFamily="34" charset="0"/>
                <a:ea typeface="Arial" pitchFamily="34" charset="-122"/>
                <a:cs typeface="Arial" pitchFamily="34" charset="-120"/>
              </a:rPr>
              <a:t>FSCA Reduces Enforcement</a:t>
            </a:r>
            <a:endParaRPr lang="en-US" sz="1050" dirty="0"/>
          </a:p>
        </p:txBody>
      </p:sp>
      <p:sp>
        <p:nvSpPr>
          <p:cNvPr id="14" name="Shape 12"/>
          <p:cNvSpPr/>
          <p:nvPr/>
        </p:nvSpPr>
        <p:spPr>
          <a:xfrm>
            <a:off x="2542032" y="2194560"/>
            <a:ext cx="1051560" cy="347472"/>
          </a:xfrm>
          <a:prstGeom prst="roundRect">
            <a:avLst>
              <a:gd name="adj" fmla="val 10526"/>
            </a:avLst>
          </a:prstGeom>
          <a:solidFill>
            <a:srgbClr val="DCFCE7"/>
          </a:solidFill>
          <a:ln/>
        </p:spPr>
      </p:sp>
      <p:sp>
        <p:nvSpPr>
          <p:cNvPr id="15" name="Text 13"/>
          <p:cNvSpPr/>
          <p:nvPr/>
        </p:nvSpPr>
        <p:spPr>
          <a:xfrm>
            <a:off x="2542032" y="2194560"/>
            <a:ext cx="1051560" cy="347472"/>
          </a:xfrm>
          <a:prstGeom prst="rect">
            <a:avLst/>
          </a:prstGeom>
          <a:noFill/>
          <a:ln/>
        </p:spPr>
        <p:txBody>
          <a:bodyPr wrap="square" rtlCol="0" anchor="ctr"/>
          <a:lstStyle/>
          <a:p>
            <a:pPr algn="ctr" indent="0" marL="0">
              <a:buNone/>
            </a:pPr>
            <a:r>
              <a:rPr lang="en-US" sz="850" b="1" dirty="0">
                <a:solidFill>
                  <a:srgbClr val="166534"/>
                </a:solidFill>
                <a:latin typeface="Arial" pitchFamily="34" charset="0"/>
                <a:ea typeface="Arial" pitchFamily="34" charset="-122"/>
                <a:cs typeface="Arial" pitchFamily="34" charset="-120"/>
              </a:rPr>
              <a:t>LOW</a:t>
            </a:r>
            <a:endParaRPr lang="en-US" sz="850" dirty="0"/>
          </a:p>
        </p:txBody>
      </p:sp>
      <p:sp>
        <p:nvSpPr>
          <p:cNvPr id="16" name="Text 14"/>
          <p:cNvSpPr/>
          <p:nvPr/>
        </p:nvSpPr>
        <p:spPr>
          <a:xfrm>
            <a:off x="3703320" y="2139696"/>
            <a:ext cx="5074920" cy="512064"/>
          </a:xfrm>
          <a:prstGeom prst="rect">
            <a:avLst/>
          </a:prstGeom>
          <a:noFill/>
          <a:ln/>
        </p:spPr>
        <p:txBody>
          <a:bodyPr wrap="square" rtlCol="0" anchor="ctr"/>
          <a:lstStyle/>
          <a:p>
            <a:pPr indent="0" marL="0">
              <a:buNone/>
            </a:pPr>
            <a:r>
              <a:rPr lang="en-US" sz="950" dirty="0">
                <a:solidFill>
                  <a:srgbClr val="111827"/>
                </a:solidFill>
                <a:latin typeface="Arial" pitchFamily="34" charset="0"/>
                <a:ea typeface="Arial" pitchFamily="34" charset="-122"/>
                <a:cs typeface="Arial" pitchFamily="34" charset="-120"/>
              </a:rPr>
              <a:t>Compliance obligations (CPD, ROA templates) are mandatory regardless of sanction frequency. Value proposition does not depend solely on fear.</a:t>
            </a:r>
            <a:endParaRPr lang="en-US" sz="950" dirty="0"/>
          </a:p>
        </p:txBody>
      </p:sp>
      <p:sp>
        <p:nvSpPr>
          <p:cNvPr id="17" name="Shape 15"/>
          <p:cNvSpPr/>
          <p:nvPr/>
        </p:nvSpPr>
        <p:spPr>
          <a:xfrm>
            <a:off x="256032" y="2816352"/>
            <a:ext cx="8641080" cy="621792"/>
          </a:xfrm>
          <a:prstGeom prst="roundRect">
            <a:avLst>
              <a:gd name="adj" fmla="val 7353"/>
            </a:avLst>
          </a:prstGeom>
          <a:solidFill>
            <a:srgbClr val="FFFFFF"/>
          </a:solidFill>
          <a:ln/>
          <a:effectLst>
            <a:outerShdw sx="100000" sy="100000" kx="0" ky="0" algn="bl" rotWithShape="0" blurRad="101600" dist="38100" dir="2700000">
              <a:srgbClr val="000000">
                <a:alpha val="13000"/>
              </a:srgbClr>
            </a:outerShdw>
          </a:effectLst>
        </p:spPr>
      </p:sp>
      <p:sp>
        <p:nvSpPr>
          <p:cNvPr id="18" name="Shape 16"/>
          <p:cNvSpPr/>
          <p:nvPr/>
        </p:nvSpPr>
        <p:spPr>
          <a:xfrm>
            <a:off x="256032" y="2816352"/>
            <a:ext cx="2194560" cy="621792"/>
          </a:xfrm>
          <a:prstGeom prst="roundRect">
            <a:avLst>
              <a:gd name="adj" fmla="val 7353"/>
            </a:avLst>
          </a:prstGeom>
          <a:solidFill>
            <a:srgbClr val="1F3864"/>
          </a:solidFill>
          <a:ln/>
        </p:spPr>
      </p:sp>
      <p:sp>
        <p:nvSpPr>
          <p:cNvPr id="19" name="Text 17"/>
          <p:cNvSpPr/>
          <p:nvPr/>
        </p:nvSpPr>
        <p:spPr>
          <a:xfrm>
            <a:off x="347472" y="2862072"/>
            <a:ext cx="2011680" cy="530352"/>
          </a:xfrm>
          <a:prstGeom prst="rect">
            <a:avLst/>
          </a:prstGeom>
          <a:noFill/>
          <a:ln/>
        </p:spPr>
        <p:txBody>
          <a:bodyPr wrap="square" rtlCol="0" anchor="ctr"/>
          <a:lstStyle/>
          <a:p>
            <a:pPr indent="0" marL="0">
              <a:buNone/>
            </a:pPr>
            <a:r>
              <a:rPr lang="en-US" sz="1050" b="1" dirty="0">
                <a:solidFill>
                  <a:srgbClr val="FFFFFF"/>
                </a:solidFill>
                <a:latin typeface="Arial" pitchFamily="34" charset="0"/>
                <a:ea typeface="Arial" pitchFamily="34" charset="-122"/>
                <a:cs typeface="Arial" pitchFamily="34" charset="-120"/>
              </a:rPr>
              <a:t>Competitor Entry</a:t>
            </a:r>
            <a:endParaRPr lang="en-US" sz="1050" dirty="0"/>
          </a:p>
        </p:txBody>
      </p:sp>
      <p:sp>
        <p:nvSpPr>
          <p:cNvPr id="20" name="Shape 18"/>
          <p:cNvSpPr/>
          <p:nvPr/>
        </p:nvSpPr>
        <p:spPr>
          <a:xfrm>
            <a:off x="2542032" y="2907792"/>
            <a:ext cx="1051560" cy="347472"/>
          </a:xfrm>
          <a:prstGeom prst="roundRect">
            <a:avLst>
              <a:gd name="adj" fmla="val 10526"/>
            </a:avLst>
          </a:prstGeom>
          <a:solidFill>
            <a:srgbClr val="FEF3C7"/>
          </a:solidFill>
          <a:ln/>
        </p:spPr>
      </p:sp>
      <p:sp>
        <p:nvSpPr>
          <p:cNvPr id="21" name="Text 19"/>
          <p:cNvSpPr/>
          <p:nvPr/>
        </p:nvSpPr>
        <p:spPr>
          <a:xfrm>
            <a:off x="2542032" y="2907792"/>
            <a:ext cx="1051560" cy="347472"/>
          </a:xfrm>
          <a:prstGeom prst="rect">
            <a:avLst/>
          </a:prstGeom>
          <a:noFill/>
          <a:ln/>
        </p:spPr>
        <p:txBody>
          <a:bodyPr wrap="square" rtlCol="0" anchor="ctr"/>
          <a:lstStyle/>
          <a:p>
            <a:pPr algn="ctr" indent="0" marL="0">
              <a:buNone/>
            </a:pPr>
            <a:r>
              <a:rPr lang="en-US" sz="850" b="1" dirty="0">
                <a:solidFill>
                  <a:srgbClr val="92400E"/>
                </a:solidFill>
                <a:latin typeface="Arial" pitchFamily="34" charset="0"/>
                <a:ea typeface="Arial" pitchFamily="34" charset="-122"/>
                <a:cs typeface="Arial" pitchFamily="34" charset="-120"/>
              </a:rPr>
              <a:t>MEDIUM</a:t>
            </a:r>
            <a:endParaRPr lang="en-US" sz="850" dirty="0"/>
          </a:p>
        </p:txBody>
      </p:sp>
      <p:sp>
        <p:nvSpPr>
          <p:cNvPr id="22" name="Text 20"/>
          <p:cNvSpPr/>
          <p:nvPr/>
        </p:nvSpPr>
        <p:spPr>
          <a:xfrm>
            <a:off x="3703320" y="2852928"/>
            <a:ext cx="5074920" cy="512064"/>
          </a:xfrm>
          <a:prstGeom prst="rect">
            <a:avLst/>
          </a:prstGeom>
          <a:noFill/>
          <a:ln/>
        </p:spPr>
        <p:txBody>
          <a:bodyPr wrap="square" rtlCol="0" anchor="ctr"/>
          <a:lstStyle/>
          <a:p>
            <a:pPr indent="0" marL="0">
              <a:buNone/>
            </a:pPr>
            <a:r>
              <a:rPr lang="en-US" sz="950" dirty="0">
                <a:solidFill>
                  <a:srgbClr val="111827"/>
                </a:solidFill>
                <a:latin typeface="Arial" pitchFamily="34" charset="0"/>
                <a:ea typeface="Arial" pitchFamily="34" charset="-122"/>
                <a:cs typeface="Arial" pitchFamily="34" charset="-120"/>
              </a:rPr>
              <a:t>First-mover advantage in KZN. Community presence (WAAG, eThekwini City FC). 38-year credential stack is a decade-long barrier to entry.</a:t>
            </a:r>
            <a:endParaRPr lang="en-US" sz="950" dirty="0"/>
          </a:p>
        </p:txBody>
      </p:sp>
      <p:sp>
        <p:nvSpPr>
          <p:cNvPr id="23" name="Shape 21"/>
          <p:cNvSpPr/>
          <p:nvPr/>
        </p:nvSpPr>
        <p:spPr>
          <a:xfrm>
            <a:off x="256032" y="3529584"/>
            <a:ext cx="8641080" cy="621792"/>
          </a:xfrm>
          <a:prstGeom prst="roundRect">
            <a:avLst>
              <a:gd name="adj" fmla="val 7353"/>
            </a:avLst>
          </a:prstGeom>
          <a:solidFill>
            <a:srgbClr val="FFFFFF"/>
          </a:solidFill>
          <a:ln/>
          <a:effectLst>
            <a:outerShdw sx="100000" sy="100000" kx="0" ky="0" algn="bl" rotWithShape="0" blurRad="101600" dist="38100" dir="2700000">
              <a:srgbClr val="000000">
                <a:alpha val="13000"/>
              </a:srgbClr>
            </a:outerShdw>
          </a:effectLst>
        </p:spPr>
      </p:sp>
      <p:sp>
        <p:nvSpPr>
          <p:cNvPr id="24" name="Shape 22"/>
          <p:cNvSpPr/>
          <p:nvPr/>
        </p:nvSpPr>
        <p:spPr>
          <a:xfrm>
            <a:off x="256032" y="3529584"/>
            <a:ext cx="2194560" cy="621792"/>
          </a:xfrm>
          <a:prstGeom prst="roundRect">
            <a:avLst>
              <a:gd name="adj" fmla="val 7353"/>
            </a:avLst>
          </a:prstGeom>
          <a:solidFill>
            <a:srgbClr val="1F3864"/>
          </a:solidFill>
          <a:ln/>
        </p:spPr>
      </p:sp>
      <p:sp>
        <p:nvSpPr>
          <p:cNvPr id="25" name="Text 23"/>
          <p:cNvSpPr/>
          <p:nvPr/>
        </p:nvSpPr>
        <p:spPr>
          <a:xfrm>
            <a:off x="347472" y="3575304"/>
            <a:ext cx="2011680" cy="530352"/>
          </a:xfrm>
          <a:prstGeom prst="rect">
            <a:avLst/>
          </a:prstGeom>
          <a:noFill/>
          <a:ln/>
        </p:spPr>
        <p:txBody>
          <a:bodyPr wrap="square" rtlCol="0" anchor="ctr"/>
          <a:lstStyle/>
          <a:p>
            <a:pPr indent="0" marL="0">
              <a:buNone/>
            </a:pPr>
            <a:r>
              <a:rPr lang="en-US" sz="1050" b="1" dirty="0">
                <a:solidFill>
                  <a:srgbClr val="FFFFFF"/>
                </a:solidFill>
                <a:latin typeface="Arial" pitchFamily="34" charset="0"/>
                <a:ea typeface="Arial" pitchFamily="34" charset="-122"/>
                <a:cs typeface="Arial" pitchFamily="34" charset="-120"/>
              </a:rPr>
              <a:t>Pension Fund Procurement</a:t>
            </a:r>
            <a:endParaRPr lang="en-US" sz="1050" dirty="0"/>
          </a:p>
        </p:txBody>
      </p:sp>
      <p:sp>
        <p:nvSpPr>
          <p:cNvPr id="26" name="Shape 24"/>
          <p:cNvSpPr/>
          <p:nvPr/>
        </p:nvSpPr>
        <p:spPr>
          <a:xfrm>
            <a:off x="2542032" y="3621024"/>
            <a:ext cx="1051560" cy="347472"/>
          </a:xfrm>
          <a:prstGeom prst="roundRect">
            <a:avLst>
              <a:gd name="adj" fmla="val 10526"/>
            </a:avLst>
          </a:prstGeom>
          <a:solidFill>
            <a:srgbClr val="FEF3C7"/>
          </a:solidFill>
          <a:ln/>
        </p:spPr>
      </p:sp>
      <p:sp>
        <p:nvSpPr>
          <p:cNvPr id="27" name="Text 25"/>
          <p:cNvSpPr/>
          <p:nvPr/>
        </p:nvSpPr>
        <p:spPr>
          <a:xfrm>
            <a:off x="2542032" y="3621024"/>
            <a:ext cx="1051560" cy="347472"/>
          </a:xfrm>
          <a:prstGeom prst="rect">
            <a:avLst/>
          </a:prstGeom>
          <a:noFill/>
          <a:ln/>
        </p:spPr>
        <p:txBody>
          <a:bodyPr wrap="square" rtlCol="0" anchor="ctr"/>
          <a:lstStyle/>
          <a:p>
            <a:pPr algn="ctr" indent="0" marL="0">
              <a:buNone/>
            </a:pPr>
            <a:r>
              <a:rPr lang="en-US" sz="850" b="1" dirty="0">
                <a:solidFill>
                  <a:srgbClr val="92400E"/>
                </a:solidFill>
                <a:latin typeface="Arial" pitchFamily="34" charset="0"/>
                <a:ea typeface="Arial" pitchFamily="34" charset="-122"/>
                <a:cs typeface="Arial" pitchFamily="34" charset="-120"/>
              </a:rPr>
              <a:t>MEDIUM</a:t>
            </a:r>
            <a:endParaRPr lang="en-US" sz="850" dirty="0"/>
          </a:p>
        </p:txBody>
      </p:sp>
      <p:sp>
        <p:nvSpPr>
          <p:cNvPr id="28" name="Text 26"/>
          <p:cNvSpPr/>
          <p:nvPr/>
        </p:nvSpPr>
        <p:spPr>
          <a:xfrm>
            <a:off x="3703320" y="3566160"/>
            <a:ext cx="5074920" cy="512064"/>
          </a:xfrm>
          <a:prstGeom prst="rect">
            <a:avLst/>
          </a:prstGeom>
          <a:noFill/>
          <a:ln/>
        </p:spPr>
        <p:txBody>
          <a:bodyPr wrap="square" rtlCol="0" anchor="ctr"/>
          <a:lstStyle/>
          <a:p>
            <a:pPr indent="0" marL="0">
              <a:buNone/>
            </a:pPr>
            <a:r>
              <a:rPr lang="en-US" sz="950" dirty="0">
                <a:solidFill>
                  <a:srgbClr val="111827"/>
                </a:solidFill>
                <a:latin typeface="Arial" pitchFamily="34" charset="0"/>
                <a:ea typeface="Arial" pitchFamily="34" charset="-122"/>
                <a:cs typeface="Arial" pitchFamily="34" charset="-120"/>
              </a:rPr>
              <a:t>Section 17 procurement process for retirement funds may require tender. Existing EMEPF relationship bypasses cold procurement. Position as training provider, not fund manager.</a:t>
            </a:r>
            <a:endParaRPr lang="en-US" sz="950" dirty="0"/>
          </a:p>
        </p:txBody>
      </p:sp>
      <p:sp>
        <p:nvSpPr>
          <p:cNvPr id="29" name="Shape 27"/>
          <p:cNvSpPr/>
          <p:nvPr/>
        </p:nvSpPr>
        <p:spPr>
          <a:xfrm>
            <a:off x="256032" y="4242816"/>
            <a:ext cx="8641080" cy="621792"/>
          </a:xfrm>
          <a:prstGeom prst="roundRect">
            <a:avLst>
              <a:gd name="adj" fmla="val 7353"/>
            </a:avLst>
          </a:prstGeom>
          <a:solidFill>
            <a:srgbClr val="FFFFFF"/>
          </a:solidFill>
          <a:ln/>
          <a:effectLst>
            <a:outerShdw sx="100000" sy="100000" kx="0" ky="0" algn="bl" rotWithShape="0" blurRad="101600" dist="38100" dir="2700000">
              <a:srgbClr val="000000">
                <a:alpha val="13000"/>
              </a:srgbClr>
            </a:outerShdw>
          </a:effectLst>
        </p:spPr>
      </p:sp>
      <p:sp>
        <p:nvSpPr>
          <p:cNvPr id="30" name="Shape 28"/>
          <p:cNvSpPr/>
          <p:nvPr/>
        </p:nvSpPr>
        <p:spPr>
          <a:xfrm>
            <a:off x="256032" y="4242816"/>
            <a:ext cx="2194560" cy="621792"/>
          </a:xfrm>
          <a:prstGeom prst="roundRect">
            <a:avLst>
              <a:gd name="adj" fmla="val 7353"/>
            </a:avLst>
          </a:prstGeom>
          <a:solidFill>
            <a:srgbClr val="1F3864"/>
          </a:solidFill>
          <a:ln/>
        </p:spPr>
      </p:sp>
      <p:sp>
        <p:nvSpPr>
          <p:cNvPr id="31" name="Text 29"/>
          <p:cNvSpPr/>
          <p:nvPr/>
        </p:nvSpPr>
        <p:spPr>
          <a:xfrm>
            <a:off x="347472" y="4288536"/>
            <a:ext cx="2011680" cy="530352"/>
          </a:xfrm>
          <a:prstGeom prst="rect">
            <a:avLst/>
          </a:prstGeom>
          <a:noFill/>
          <a:ln/>
        </p:spPr>
        <p:txBody>
          <a:bodyPr wrap="square" rtlCol="0" anchor="ctr"/>
          <a:lstStyle/>
          <a:p>
            <a:pPr indent="0" marL="0">
              <a:buNone/>
            </a:pPr>
            <a:r>
              <a:rPr lang="en-US" sz="1050" b="1" dirty="0">
                <a:solidFill>
                  <a:srgbClr val="FFFFFF"/>
                </a:solidFill>
                <a:latin typeface="Arial" pitchFamily="34" charset="0"/>
                <a:ea typeface="Arial" pitchFamily="34" charset="-122"/>
                <a:cs typeface="Arial" pitchFamily="34" charset="-120"/>
              </a:rPr>
              <a:t>Technology Platform Failure</a:t>
            </a:r>
            <a:endParaRPr lang="en-US" sz="1050" dirty="0"/>
          </a:p>
        </p:txBody>
      </p:sp>
      <p:sp>
        <p:nvSpPr>
          <p:cNvPr id="32" name="Shape 30"/>
          <p:cNvSpPr/>
          <p:nvPr/>
        </p:nvSpPr>
        <p:spPr>
          <a:xfrm>
            <a:off x="2542032" y="4334256"/>
            <a:ext cx="1051560" cy="347472"/>
          </a:xfrm>
          <a:prstGeom prst="roundRect">
            <a:avLst>
              <a:gd name="adj" fmla="val 10526"/>
            </a:avLst>
          </a:prstGeom>
          <a:solidFill>
            <a:srgbClr val="DCFCE7"/>
          </a:solidFill>
          <a:ln/>
        </p:spPr>
      </p:sp>
      <p:sp>
        <p:nvSpPr>
          <p:cNvPr id="33" name="Text 31"/>
          <p:cNvSpPr/>
          <p:nvPr/>
        </p:nvSpPr>
        <p:spPr>
          <a:xfrm>
            <a:off x="2542032" y="4334256"/>
            <a:ext cx="1051560" cy="347472"/>
          </a:xfrm>
          <a:prstGeom prst="rect">
            <a:avLst/>
          </a:prstGeom>
          <a:noFill/>
          <a:ln/>
        </p:spPr>
        <p:txBody>
          <a:bodyPr wrap="square" rtlCol="0" anchor="ctr"/>
          <a:lstStyle/>
          <a:p>
            <a:pPr algn="ctr" indent="0" marL="0">
              <a:buNone/>
            </a:pPr>
            <a:r>
              <a:rPr lang="en-US" sz="850" b="1" dirty="0">
                <a:solidFill>
                  <a:srgbClr val="166534"/>
                </a:solidFill>
                <a:latin typeface="Arial" pitchFamily="34" charset="0"/>
                <a:ea typeface="Arial" pitchFamily="34" charset="-122"/>
                <a:cs typeface="Arial" pitchFamily="34" charset="-120"/>
              </a:rPr>
              <a:t>LOW</a:t>
            </a:r>
            <a:endParaRPr lang="en-US" sz="850" dirty="0"/>
          </a:p>
        </p:txBody>
      </p:sp>
      <p:sp>
        <p:nvSpPr>
          <p:cNvPr id="34" name="Text 32"/>
          <p:cNvSpPr/>
          <p:nvPr/>
        </p:nvSpPr>
        <p:spPr>
          <a:xfrm>
            <a:off x="3703320" y="4279392"/>
            <a:ext cx="5074920" cy="512064"/>
          </a:xfrm>
          <a:prstGeom prst="rect">
            <a:avLst/>
          </a:prstGeom>
          <a:noFill/>
          <a:ln/>
        </p:spPr>
        <p:txBody>
          <a:bodyPr wrap="square" rtlCol="0" anchor="ctr"/>
          <a:lstStyle/>
          <a:p>
            <a:pPr indent="0" marL="0">
              <a:buNone/>
            </a:pPr>
            <a:r>
              <a:rPr lang="en-US" sz="950" dirty="0">
                <a:solidFill>
                  <a:srgbClr val="111827"/>
                </a:solidFill>
                <a:latin typeface="Arial" pitchFamily="34" charset="0"/>
                <a:ea typeface="Arial" pitchFamily="34" charset="-122"/>
                <a:cs typeface="Arial" pitchFamily="34" charset="-120"/>
              </a:rPr>
              <a:t>Daily automated backups on cPanel. Simple stack with minimal dependencies. Full rebuild from source possible within 48 hours.</a:t>
            </a:r>
            <a:endParaRPr lang="en-US" sz="9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F3864"/>
        </a:solidFill>
      </p:bgPr>
    </p:bg>
    <p:spTree>
      <p:nvGrpSpPr>
        <p:cNvPr id="1" name=""/>
        <p:cNvGrpSpPr/>
        <p:nvPr/>
      </p:nvGrpSpPr>
      <p:grpSpPr>
        <a:xfrm>
          <a:off x="0" y="0"/>
          <a:ext cx="0" cy="0"/>
          <a:chOff x="0" y="0"/>
          <a:chExt cx="0" cy="0"/>
        </a:xfrm>
      </p:grpSpPr>
      <p:sp>
        <p:nvSpPr>
          <p:cNvPr id="2" name="Text 0"/>
          <p:cNvSpPr/>
          <p:nvPr/>
        </p:nvSpPr>
        <p:spPr>
          <a:xfrm>
            <a:off x="411480" y="411480"/>
            <a:ext cx="8321040" cy="292608"/>
          </a:xfrm>
          <a:prstGeom prst="rect">
            <a:avLst/>
          </a:prstGeom>
          <a:noFill/>
          <a:ln/>
        </p:spPr>
        <p:txBody>
          <a:bodyPr wrap="square" rtlCol="0" anchor="ctr"/>
          <a:lstStyle/>
          <a:p>
            <a:pPr indent="0" marL="0">
              <a:buNone/>
            </a:pPr>
            <a:r>
              <a:rPr lang="en-US" sz="1000" b="1" spc="500" kern="0" dirty="0">
                <a:solidFill>
                  <a:srgbClr val="C9A84C"/>
                </a:solidFill>
                <a:latin typeface="Arial" pitchFamily="34" charset="0"/>
                <a:ea typeface="Arial" pitchFamily="34" charset="-122"/>
                <a:cs typeface="Arial" pitchFamily="34" charset="-120"/>
              </a:rPr>
              <a:t>PROPOSED BOARD RESOLUTIONS</a:t>
            </a:r>
            <a:endParaRPr lang="en-US" sz="1000" dirty="0"/>
          </a:p>
        </p:txBody>
      </p:sp>
      <p:sp>
        <p:nvSpPr>
          <p:cNvPr id="3" name="Text 1"/>
          <p:cNvSpPr/>
          <p:nvPr/>
        </p:nvSpPr>
        <p:spPr>
          <a:xfrm>
            <a:off x="411480" y="749808"/>
            <a:ext cx="8321040" cy="594360"/>
          </a:xfrm>
          <a:prstGeom prst="rect">
            <a:avLst/>
          </a:prstGeom>
          <a:noFill/>
          <a:ln/>
        </p:spPr>
        <p:txBody>
          <a:bodyPr wrap="square"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Praeto Compliance Club — Formal Launch Authorisation</a:t>
            </a:r>
            <a:endParaRPr lang="en-US" sz="2800" dirty="0"/>
          </a:p>
        </p:txBody>
      </p:sp>
      <p:sp>
        <p:nvSpPr>
          <p:cNvPr id="4" name="Shape 2"/>
          <p:cNvSpPr/>
          <p:nvPr/>
        </p:nvSpPr>
        <p:spPr>
          <a:xfrm>
            <a:off x="411480" y="1417320"/>
            <a:ext cx="8321040" cy="0"/>
          </a:xfrm>
          <a:prstGeom prst="line">
            <a:avLst/>
          </a:prstGeom>
          <a:noFill/>
          <a:ln w="19050">
            <a:solidFill>
              <a:srgbClr val="C9A84C"/>
            </a:solidFill>
            <a:prstDash val="solid"/>
          </a:ln>
        </p:spPr>
      </p:sp>
      <p:sp>
        <p:nvSpPr>
          <p:cNvPr id="5" name="Shape 3"/>
          <p:cNvSpPr/>
          <p:nvPr/>
        </p:nvSpPr>
        <p:spPr>
          <a:xfrm>
            <a:off x="320040" y="1572768"/>
            <a:ext cx="8503920" cy="749808"/>
          </a:xfrm>
          <a:prstGeom prst="roundRect">
            <a:avLst>
              <a:gd name="adj" fmla="val 7317"/>
            </a:avLst>
          </a:prstGeom>
          <a:solidFill>
            <a:srgbClr val="FFFFFF">
              <a:alpha val="8000"/>
            </a:srgbClr>
          </a:solidFill>
          <a:ln/>
        </p:spPr>
      </p:sp>
      <p:sp>
        <p:nvSpPr>
          <p:cNvPr id="6" name="Shape 4"/>
          <p:cNvSpPr/>
          <p:nvPr/>
        </p:nvSpPr>
        <p:spPr>
          <a:xfrm>
            <a:off x="320040" y="1572768"/>
            <a:ext cx="475488" cy="749808"/>
          </a:xfrm>
          <a:prstGeom prst="roundRect">
            <a:avLst>
              <a:gd name="adj" fmla="val 11538"/>
            </a:avLst>
          </a:prstGeom>
          <a:solidFill>
            <a:srgbClr val="C9A84C"/>
          </a:solidFill>
          <a:ln/>
        </p:spPr>
      </p:sp>
      <p:sp>
        <p:nvSpPr>
          <p:cNvPr id="7" name="Text 5"/>
          <p:cNvSpPr/>
          <p:nvPr/>
        </p:nvSpPr>
        <p:spPr>
          <a:xfrm>
            <a:off x="320040" y="1572768"/>
            <a:ext cx="475488" cy="749808"/>
          </a:xfrm>
          <a:prstGeom prst="rect">
            <a:avLst/>
          </a:prstGeom>
          <a:noFill/>
          <a:ln/>
        </p:spPr>
        <p:txBody>
          <a:bodyPr wrap="square" rtlCol="0" anchor="ctr"/>
          <a:lstStyle/>
          <a:p>
            <a:pPr algn="ctr" indent="0" marL="0">
              <a:buNone/>
            </a:pPr>
            <a:r>
              <a:rPr lang="en-US" sz="1800" b="1" dirty="0">
                <a:solidFill>
                  <a:srgbClr val="1F3864"/>
                </a:solidFill>
                <a:latin typeface="Cambria" pitchFamily="34" charset="0"/>
                <a:ea typeface="Cambria" pitchFamily="34" charset="-122"/>
                <a:cs typeface="Cambria" pitchFamily="34" charset="-120"/>
              </a:rPr>
              <a:t>1</a:t>
            </a:r>
            <a:endParaRPr lang="en-US" sz="1800" dirty="0"/>
          </a:p>
        </p:txBody>
      </p:sp>
      <p:sp>
        <p:nvSpPr>
          <p:cNvPr id="8" name="Text 6"/>
          <p:cNvSpPr/>
          <p:nvPr/>
        </p:nvSpPr>
        <p:spPr>
          <a:xfrm>
            <a:off x="914400" y="1618488"/>
            <a:ext cx="7772400" cy="219456"/>
          </a:xfrm>
          <a:prstGeom prst="rect">
            <a:avLst/>
          </a:prstGeom>
          <a:noFill/>
          <a:ln/>
        </p:spPr>
        <p:txBody>
          <a:bodyPr wrap="square" rtlCol="0" anchor="ctr"/>
          <a:lstStyle/>
          <a:p>
            <a:pPr indent="0" marL="0">
              <a:buNone/>
            </a:pPr>
            <a:r>
              <a:rPr lang="en-US" sz="800" b="1" spc="200" kern="0" dirty="0">
                <a:solidFill>
                  <a:srgbClr val="C9A84C"/>
                </a:solidFill>
                <a:latin typeface="Arial" pitchFamily="34" charset="0"/>
                <a:ea typeface="Arial" pitchFamily="34" charset="-122"/>
                <a:cs typeface="Arial" pitchFamily="34" charset="-120"/>
              </a:rPr>
              <a:t>RESOLUTION 1: PLATFORM LAUNCH</a:t>
            </a:r>
            <a:endParaRPr lang="en-US" sz="800" dirty="0"/>
          </a:p>
        </p:txBody>
      </p:sp>
      <p:sp>
        <p:nvSpPr>
          <p:cNvPr id="9" name="Text 7"/>
          <p:cNvSpPr/>
          <p:nvPr/>
        </p:nvSpPr>
        <p:spPr>
          <a:xfrm>
            <a:off x="914400" y="1828800"/>
            <a:ext cx="7772400" cy="438912"/>
          </a:xfrm>
          <a:prstGeom prst="rect">
            <a:avLst/>
          </a:prstGeom>
          <a:noFill/>
          <a:ln/>
        </p:spPr>
        <p:txBody>
          <a:bodyPr wrap="square" rtlCol="0" anchor="ctr"/>
          <a:lstStyle/>
          <a:p>
            <a:pPr indent="0" marL="0">
              <a:buNone/>
            </a:pPr>
            <a:r>
              <a:rPr lang="en-US" sz="1000" dirty="0">
                <a:solidFill>
                  <a:srgbClr val="FFFFFF"/>
                </a:solidFill>
                <a:latin typeface="Arial" pitchFamily="34" charset="0"/>
                <a:ea typeface="Arial" pitchFamily="34" charset="-122"/>
                <a:cs typeface="Arial" pitchFamily="34" charset="-120"/>
              </a:rPr>
              <a:t>RESOLVED that the Praeto Compliance Club technology platform be formally launched at www.praeto.co.za as a commercial product line of Praeto Trading CC (CIPC 2003/049530/23), operating under FSP Licence 1457.</a:t>
            </a:r>
            <a:endParaRPr lang="en-US" sz="1000" dirty="0"/>
          </a:p>
        </p:txBody>
      </p:sp>
      <p:sp>
        <p:nvSpPr>
          <p:cNvPr id="10" name="Shape 8"/>
          <p:cNvSpPr/>
          <p:nvPr/>
        </p:nvSpPr>
        <p:spPr>
          <a:xfrm>
            <a:off x="320040" y="2423160"/>
            <a:ext cx="8503920" cy="749808"/>
          </a:xfrm>
          <a:prstGeom prst="roundRect">
            <a:avLst>
              <a:gd name="adj" fmla="val 7317"/>
            </a:avLst>
          </a:prstGeom>
          <a:solidFill>
            <a:srgbClr val="FFFFFF">
              <a:alpha val="8000"/>
            </a:srgbClr>
          </a:solidFill>
          <a:ln/>
        </p:spPr>
      </p:sp>
      <p:sp>
        <p:nvSpPr>
          <p:cNvPr id="11" name="Shape 9"/>
          <p:cNvSpPr/>
          <p:nvPr/>
        </p:nvSpPr>
        <p:spPr>
          <a:xfrm>
            <a:off x="320040" y="2423160"/>
            <a:ext cx="475488" cy="749808"/>
          </a:xfrm>
          <a:prstGeom prst="roundRect">
            <a:avLst>
              <a:gd name="adj" fmla="val 11538"/>
            </a:avLst>
          </a:prstGeom>
          <a:solidFill>
            <a:srgbClr val="C9A84C"/>
          </a:solidFill>
          <a:ln/>
        </p:spPr>
      </p:sp>
      <p:sp>
        <p:nvSpPr>
          <p:cNvPr id="12" name="Text 10"/>
          <p:cNvSpPr/>
          <p:nvPr/>
        </p:nvSpPr>
        <p:spPr>
          <a:xfrm>
            <a:off x="320040" y="2423160"/>
            <a:ext cx="475488" cy="749808"/>
          </a:xfrm>
          <a:prstGeom prst="rect">
            <a:avLst/>
          </a:prstGeom>
          <a:noFill/>
          <a:ln/>
        </p:spPr>
        <p:txBody>
          <a:bodyPr wrap="square" rtlCol="0" anchor="ctr"/>
          <a:lstStyle/>
          <a:p>
            <a:pPr algn="ctr" indent="0" marL="0">
              <a:buNone/>
            </a:pPr>
            <a:r>
              <a:rPr lang="en-US" sz="1800" b="1" dirty="0">
                <a:solidFill>
                  <a:srgbClr val="1F3864"/>
                </a:solidFill>
                <a:latin typeface="Cambria" pitchFamily="34" charset="0"/>
                <a:ea typeface="Cambria" pitchFamily="34" charset="-122"/>
                <a:cs typeface="Cambria" pitchFamily="34" charset="-120"/>
              </a:rPr>
              <a:t>2</a:t>
            </a:r>
            <a:endParaRPr lang="en-US" sz="1800" dirty="0"/>
          </a:p>
        </p:txBody>
      </p:sp>
      <p:sp>
        <p:nvSpPr>
          <p:cNvPr id="13" name="Text 11"/>
          <p:cNvSpPr/>
          <p:nvPr/>
        </p:nvSpPr>
        <p:spPr>
          <a:xfrm>
            <a:off x="914400" y="2468880"/>
            <a:ext cx="7772400" cy="219456"/>
          </a:xfrm>
          <a:prstGeom prst="rect">
            <a:avLst/>
          </a:prstGeom>
          <a:noFill/>
          <a:ln/>
        </p:spPr>
        <p:txBody>
          <a:bodyPr wrap="square" rtlCol="0" anchor="ctr"/>
          <a:lstStyle/>
          <a:p>
            <a:pPr indent="0" marL="0">
              <a:buNone/>
            </a:pPr>
            <a:r>
              <a:rPr lang="en-US" sz="800" b="1" spc="200" kern="0" dirty="0">
                <a:solidFill>
                  <a:srgbClr val="C9A84C"/>
                </a:solidFill>
                <a:latin typeface="Arial" pitchFamily="34" charset="0"/>
                <a:ea typeface="Arial" pitchFamily="34" charset="-122"/>
                <a:cs typeface="Arial" pitchFamily="34" charset="-120"/>
              </a:rPr>
              <a:t>RESOLUTION 2: MEMBER ACQUISITION</a:t>
            </a:r>
            <a:endParaRPr lang="en-US" sz="800" dirty="0"/>
          </a:p>
        </p:txBody>
      </p:sp>
      <p:sp>
        <p:nvSpPr>
          <p:cNvPr id="14" name="Text 12"/>
          <p:cNvSpPr/>
          <p:nvPr/>
        </p:nvSpPr>
        <p:spPr>
          <a:xfrm>
            <a:off x="914400" y="2679192"/>
            <a:ext cx="7772400" cy="438912"/>
          </a:xfrm>
          <a:prstGeom prst="rect">
            <a:avLst/>
          </a:prstGeom>
          <a:noFill/>
          <a:ln/>
        </p:spPr>
        <p:txBody>
          <a:bodyPr wrap="square" rtlCol="0" anchor="ctr"/>
          <a:lstStyle/>
          <a:p>
            <a:pPr indent="0" marL="0">
              <a:buNone/>
            </a:pPr>
            <a:r>
              <a:rPr lang="en-US" sz="1000" dirty="0">
                <a:solidFill>
                  <a:srgbClr val="FFFFFF"/>
                </a:solidFill>
                <a:latin typeface="Arial" pitchFamily="34" charset="0"/>
                <a:ea typeface="Arial" pitchFamily="34" charset="-122"/>
                <a:cs typeface="Arial" pitchFamily="34" charset="-120"/>
              </a:rPr>
              <a:t>RESOLVED that Berkeley Eldred Pretorius, as CEO, be authorised to commence commercial member acquisition across all five market segments (Category I FSPs, Pension Fund Trustees, Funeral Parlours, Assistance FSPs, and Short-Term Brokers).</a:t>
            </a:r>
            <a:endParaRPr lang="en-US" sz="1000" dirty="0"/>
          </a:p>
        </p:txBody>
      </p:sp>
      <p:sp>
        <p:nvSpPr>
          <p:cNvPr id="15" name="Shape 13"/>
          <p:cNvSpPr/>
          <p:nvPr/>
        </p:nvSpPr>
        <p:spPr>
          <a:xfrm>
            <a:off x="320040" y="3273552"/>
            <a:ext cx="8503920" cy="749808"/>
          </a:xfrm>
          <a:prstGeom prst="roundRect">
            <a:avLst>
              <a:gd name="adj" fmla="val 7317"/>
            </a:avLst>
          </a:prstGeom>
          <a:solidFill>
            <a:srgbClr val="FFFFFF">
              <a:alpha val="8000"/>
            </a:srgbClr>
          </a:solidFill>
          <a:ln/>
        </p:spPr>
      </p:sp>
      <p:sp>
        <p:nvSpPr>
          <p:cNvPr id="16" name="Shape 14"/>
          <p:cNvSpPr/>
          <p:nvPr/>
        </p:nvSpPr>
        <p:spPr>
          <a:xfrm>
            <a:off x="320040" y="3273552"/>
            <a:ext cx="475488" cy="749808"/>
          </a:xfrm>
          <a:prstGeom prst="roundRect">
            <a:avLst>
              <a:gd name="adj" fmla="val 11538"/>
            </a:avLst>
          </a:prstGeom>
          <a:solidFill>
            <a:srgbClr val="C9A84C"/>
          </a:solidFill>
          <a:ln/>
        </p:spPr>
      </p:sp>
      <p:sp>
        <p:nvSpPr>
          <p:cNvPr id="17" name="Text 15"/>
          <p:cNvSpPr/>
          <p:nvPr/>
        </p:nvSpPr>
        <p:spPr>
          <a:xfrm>
            <a:off x="320040" y="3273552"/>
            <a:ext cx="475488" cy="749808"/>
          </a:xfrm>
          <a:prstGeom prst="rect">
            <a:avLst/>
          </a:prstGeom>
          <a:noFill/>
          <a:ln/>
        </p:spPr>
        <p:txBody>
          <a:bodyPr wrap="square" rtlCol="0" anchor="ctr"/>
          <a:lstStyle/>
          <a:p>
            <a:pPr algn="ctr" indent="0" marL="0">
              <a:buNone/>
            </a:pPr>
            <a:r>
              <a:rPr lang="en-US" sz="1800" b="1" dirty="0">
                <a:solidFill>
                  <a:srgbClr val="1F3864"/>
                </a:solidFill>
                <a:latin typeface="Cambria" pitchFamily="34" charset="0"/>
                <a:ea typeface="Cambria" pitchFamily="34" charset="-122"/>
                <a:cs typeface="Cambria" pitchFamily="34" charset="-120"/>
              </a:rPr>
              <a:t>3</a:t>
            </a:r>
            <a:endParaRPr lang="en-US" sz="1800" dirty="0"/>
          </a:p>
        </p:txBody>
      </p:sp>
      <p:sp>
        <p:nvSpPr>
          <p:cNvPr id="18" name="Text 16"/>
          <p:cNvSpPr/>
          <p:nvPr/>
        </p:nvSpPr>
        <p:spPr>
          <a:xfrm>
            <a:off x="914400" y="3319272"/>
            <a:ext cx="7772400" cy="219456"/>
          </a:xfrm>
          <a:prstGeom prst="rect">
            <a:avLst/>
          </a:prstGeom>
          <a:noFill/>
          <a:ln/>
        </p:spPr>
        <p:txBody>
          <a:bodyPr wrap="square" rtlCol="0" anchor="ctr"/>
          <a:lstStyle/>
          <a:p>
            <a:pPr indent="0" marL="0">
              <a:buNone/>
            </a:pPr>
            <a:r>
              <a:rPr lang="en-US" sz="800" b="1" spc="200" kern="0" dirty="0">
                <a:solidFill>
                  <a:srgbClr val="C9A84C"/>
                </a:solidFill>
                <a:latin typeface="Arial" pitchFamily="34" charset="0"/>
                <a:ea typeface="Arial" pitchFamily="34" charset="-122"/>
                <a:cs typeface="Arial" pitchFamily="34" charset="-120"/>
              </a:rPr>
              <a:t>RESOLUTION 3: REINVESTMENT AUTHORITY</a:t>
            </a:r>
            <a:endParaRPr lang="en-US" sz="800" dirty="0"/>
          </a:p>
        </p:txBody>
      </p:sp>
      <p:sp>
        <p:nvSpPr>
          <p:cNvPr id="19" name="Text 17"/>
          <p:cNvSpPr/>
          <p:nvPr/>
        </p:nvSpPr>
        <p:spPr>
          <a:xfrm>
            <a:off x="914400" y="3529584"/>
            <a:ext cx="7772400" cy="438912"/>
          </a:xfrm>
          <a:prstGeom prst="rect">
            <a:avLst/>
          </a:prstGeom>
          <a:noFill/>
          <a:ln/>
        </p:spPr>
        <p:txBody>
          <a:bodyPr wrap="square" rtlCol="0" anchor="ctr"/>
          <a:lstStyle/>
          <a:p>
            <a:pPr indent="0" marL="0">
              <a:buNone/>
            </a:pPr>
            <a:r>
              <a:rPr lang="en-US" sz="1000" dirty="0">
                <a:solidFill>
                  <a:srgbClr val="FFFFFF"/>
                </a:solidFill>
                <a:latin typeface="Arial" pitchFamily="34" charset="0"/>
                <a:ea typeface="Arial" pitchFamily="34" charset="-122"/>
                <a:cs typeface="Arial" pitchFamily="34" charset="-120"/>
              </a:rPr>
              <a:t>RESOLVED that operating surplus generated by the Praeto Compliance Club be retained within Praeto Trading CC for platform development, staff hiring, and marketing reinvestment, subject to quarterly board reporting.</a:t>
            </a:r>
            <a:endParaRPr lang="en-US" sz="1000" dirty="0"/>
          </a:p>
        </p:txBody>
      </p:sp>
      <p:sp>
        <p:nvSpPr>
          <p:cNvPr id="20" name="Shape 18"/>
          <p:cNvSpPr/>
          <p:nvPr/>
        </p:nvSpPr>
        <p:spPr>
          <a:xfrm>
            <a:off x="320040" y="4123944"/>
            <a:ext cx="8503920" cy="749808"/>
          </a:xfrm>
          <a:prstGeom prst="roundRect">
            <a:avLst>
              <a:gd name="adj" fmla="val 7317"/>
            </a:avLst>
          </a:prstGeom>
          <a:solidFill>
            <a:srgbClr val="FFFFFF">
              <a:alpha val="8000"/>
            </a:srgbClr>
          </a:solidFill>
          <a:ln/>
        </p:spPr>
      </p:sp>
      <p:sp>
        <p:nvSpPr>
          <p:cNvPr id="21" name="Shape 19"/>
          <p:cNvSpPr/>
          <p:nvPr/>
        </p:nvSpPr>
        <p:spPr>
          <a:xfrm>
            <a:off x="320040" y="4123944"/>
            <a:ext cx="475488" cy="749808"/>
          </a:xfrm>
          <a:prstGeom prst="roundRect">
            <a:avLst>
              <a:gd name="adj" fmla="val 11538"/>
            </a:avLst>
          </a:prstGeom>
          <a:solidFill>
            <a:srgbClr val="C9A84C"/>
          </a:solidFill>
          <a:ln/>
        </p:spPr>
      </p:sp>
      <p:sp>
        <p:nvSpPr>
          <p:cNvPr id="22" name="Text 20"/>
          <p:cNvSpPr/>
          <p:nvPr/>
        </p:nvSpPr>
        <p:spPr>
          <a:xfrm>
            <a:off x="320040" y="4123944"/>
            <a:ext cx="475488" cy="749808"/>
          </a:xfrm>
          <a:prstGeom prst="rect">
            <a:avLst/>
          </a:prstGeom>
          <a:noFill/>
          <a:ln/>
        </p:spPr>
        <p:txBody>
          <a:bodyPr wrap="square" rtlCol="0" anchor="ctr"/>
          <a:lstStyle/>
          <a:p>
            <a:pPr algn="ctr" indent="0" marL="0">
              <a:buNone/>
            </a:pPr>
            <a:r>
              <a:rPr lang="en-US" sz="1800" b="1" dirty="0">
                <a:solidFill>
                  <a:srgbClr val="1F3864"/>
                </a:solidFill>
                <a:latin typeface="Cambria" pitchFamily="34" charset="0"/>
                <a:ea typeface="Cambria" pitchFamily="34" charset="-122"/>
                <a:cs typeface="Cambria" pitchFamily="34" charset="-120"/>
              </a:rPr>
              <a:t>4</a:t>
            </a:r>
            <a:endParaRPr lang="en-US" sz="1800" dirty="0"/>
          </a:p>
        </p:txBody>
      </p:sp>
      <p:sp>
        <p:nvSpPr>
          <p:cNvPr id="23" name="Text 21"/>
          <p:cNvSpPr/>
          <p:nvPr/>
        </p:nvSpPr>
        <p:spPr>
          <a:xfrm>
            <a:off x="914400" y="4169664"/>
            <a:ext cx="7772400" cy="219456"/>
          </a:xfrm>
          <a:prstGeom prst="rect">
            <a:avLst/>
          </a:prstGeom>
          <a:noFill/>
          <a:ln/>
        </p:spPr>
        <p:txBody>
          <a:bodyPr wrap="square" rtlCol="0" anchor="ctr"/>
          <a:lstStyle/>
          <a:p>
            <a:pPr indent="0" marL="0">
              <a:buNone/>
            </a:pPr>
            <a:r>
              <a:rPr lang="en-US" sz="800" b="1" spc="200" kern="0" dirty="0">
                <a:solidFill>
                  <a:srgbClr val="C9A84C"/>
                </a:solidFill>
                <a:latin typeface="Arial" pitchFamily="34" charset="0"/>
                <a:ea typeface="Arial" pitchFamily="34" charset="-122"/>
                <a:cs typeface="Arial" pitchFamily="34" charset="-120"/>
              </a:rPr>
              <a:t>RESOLUTION 4: TRUSTEE ACADEMY</a:t>
            </a:r>
            <a:endParaRPr lang="en-US" sz="800" dirty="0"/>
          </a:p>
        </p:txBody>
      </p:sp>
      <p:sp>
        <p:nvSpPr>
          <p:cNvPr id="24" name="Text 22"/>
          <p:cNvSpPr/>
          <p:nvPr/>
        </p:nvSpPr>
        <p:spPr>
          <a:xfrm>
            <a:off x="914400" y="4379976"/>
            <a:ext cx="7772400" cy="438912"/>
          </a:xfrm>
          <a:prstGeom prst="rect">
            <a:avLst/>
          </a:prstGeom>
          <a:noFill/>
          <a:ln/>
        </p:spPr>
        <p:txBody>
          <a:bodyPr wrap="square" rtlCol="0" anchor="ctr"/>
          <a:lstStyle/>
          <a:p>
            <a:pPr indent="0" marL="0">
              <a:buNone/>
            </a:pPr>
            <a:r>
              <a:rPr lang="en-US" sz="1000" dirty="0">
                <a:solidFill>
                  <a:srgbClr val="FFFFFF"/>
                </a:solidFill>
                <a:latin typeface="Arial" pitchFamily="34" charset="0"/>
                <a:ea typeface="Arial" pitchFamily="34" charset="-122"/>
                <a:cs typeface="Arial" pitchFamily="34" charset="-120"/>
              </a:rPr>
              <a:t>RESOLVED that Berkeley Pretorius engage the eThekwini Municipal Employees Pension Fund and not less than three additional KZN pension funds with a formal Praeto Trustee Academy proposal within 30 days of this resolution.</a:t>
            </a:r>
            <a:endParaRPr lang="en-US" sz="1000" dirty="0"/>
          </a:p>
        </p:txBody>
      </p:sp>
      <p:sp>
        <p:nvSpPr>
          <p:cNvPr id="25" name="Text 23"/>
          <p:cNvSpPr/>
          <p:nvPr/>
        </p:nvSpPr>
        <p:spPr>
          <a:xfrm>
            <a:off x="411480" y="4892040"/>
            <a:ext cx="8321040" cy="201168"/>
          </a:xfrm>
          <a:prstGeom prst="rect">
            <a:avLst/>
          </a:prstGeom>
          <a:noFill/>
          <a:ln/>
        </p:spPr>
        <p:txBody>
          <a:bodyPr wrap="square" rtlCol="0" anchor="ctr"/>
          <a:lstStyle/>
          <a:p>
            <a:pPr algn="ctr" indent="0" marL="0">
              <a:buNone/>
            </a:pPr>
            <a:r>
              <a:rPr lang="en-US" sz="850" dirty="0">
                <a:solidFill>
                  <a:srgbClr val="777777"/>
                </a:solidFill>
                <a:latin typeface="Arial" pitchFamily="34" charset="0"/>
                <a:ea typeface="Arial" pitchFamily="34" charset="-122"/>
                <a:cs typeface="Arial" pitchFamily="34" charset="-120"/>
              </a:rPr>
              <a:t>Berkeley Eldred Pretorius  ·  Founder &amp; CEO, Praeto Group Holdings  ·  FSP 1457  ·  June 2026</a:t>
            </a:r>
            <a:endParaRPr lang="en-US" sz="8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Praeto Compliance Club — Board Presentation 2026</dc:title>
  <dc:subject>PptxGenJS Presentation</dc:subject>
  <dc:creator>Berkeley Pretorius — Praeto Group Holdings</dc:creator>
  <cp:lastModifiedBy>Berkeley Pretorius — Praeto Group Holdings</cp:lastModifiedBy>
  <cp:revision>1</cp:revision>
  <dcterms:created xsi:type="dcterms:W3CDTF">2026-06-20T10:02:40Z</dcterms:created>
  <dcterms:modified xsi:type="dcterms:W3CDTF">2026-06-20T10:02:40Z</dcterms:modified>
</cp:coreProperties>
</file>